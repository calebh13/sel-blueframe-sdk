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9" r:id="rId21"/>
    <p:sldId id="270" r:id="rId2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Open the video. Say the project name, the course, and that this is the Sprint 4 walkthrough. Mention that we will go round robin, so each section is presented by a different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Give the one line version of the project. Blueframe, Signal Hub, Python SDK that wraps the existing client. Introduce each person and their role. Then say the Sprint 4 goal was to find out whether wrapping Go is worth it and to settle the plans before building.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Walk through the four objectives from the project plan. Explain that Sprint 4 was scoped as planning and investigation, and that the reason is Joe's concern about double maintenance. End with how this ties into the long-term goal.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Each member presents their own row, then Lucas covers the banner</a:t>
            </a:r>
          </a:p>
          <a:p/>
          <a:p>
            <a:r>
              <a:t>Go round the table, one row each, about 30 seconds per person. Then say the prototype covers every operation in the scope Joe agreed to, which is well over 80 percent of the SDK's planned features. What is left is hardening, packaging, docs, and moving to the C# client.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Start with the Go side, since that is where most of the work was. The facade is the only code that touches SEL's client, and it turns the generic, callback based Go API into plain calls Python can use. The C interface and the bridge are two ways of exposing that same facade. The fake Signal Hub lets everything be tested outside SEL. Then cover the Python side briefly.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If recording live, start the fake hub with ./build/testhub and run examples/quickstart.py with the three ports it prints. Otherwise walk through the captured output. Then show the test summary. Point out that only the bridge keeps Python alive when the Go code fails, and close with Joe's feedback on the test run and the move to 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Show the board filtered to Sprint 4 and 5. Point out the Done column and that the only open item is the C# evaluation, which moved to Sprint 5. Then briefly say what each person contributed.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Open the MoM folder on GitHub. Go through the two meetings. The first set the goals and constraints for the semester. The second was where the team presented the Go findings and agreed on the direction for Sprint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Scroll through the Sprint 4 report on GitHub section by section. Then show the docs/Sprint4 folder and the README. Mention that the prototype code is not in the public repo on purpose because the client is SEL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Disclose that Claude was used for prototyping tools, learning the codebase, phrasing, and the slides. Stress that every deliverable was reviewed by the team and the team is accountable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Go through achievements, then the challenges and how each was handled. Finish by connecting back to Sprint 3, where the same comparison was done on simpler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Outline the Sprint 5 plan, starting with the C# evaluation. Then cover what went well and what to improve. End with the specific things done because of Joe's feedback.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Recap the three takeaways. Thank Joe, SEL, and the course staff, and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Follow the ctypes section of Demo_Script.md. Start the fake hub, run demo_ctypes.py with the three ports it prints, and pipe the output through grep -v '^{"type"' to hide Go debug logs.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Follow the bridge section of Demo_Script.md. The kill step is the point of the demo: show that the ctypes version would have taken Python down with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503920" y="-109728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3566160"/>
            <a:ext cx="3108960" cy="310896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61320" y="1097280"/>
            <a:ext cx="822960" cy="8229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8686800" cy="1097280"/>
          </a:xfrm>
          <a:prstGeom prst="rect">
            <a:avLst/>
          </a:prstGeom>
          <a:noFill/>
        </p:spPr>
        <p:txBody>
          <a:bodyPr wrap="square" anchor="t" lIns="0" rIns="0" tIns="0" bIns="0">
            <a:spAutoFit/>
          </a:bodyPr>
          <a:lstStyle/>
          <a:p>
            <a:pPr algn="l">
              <a:spcAft>
                <a:spcPts val="600"/>
              </a:spcAft>
            </a:pPr>
            <a:r>
              <a:rPr sz="4800" b="1" i="0">
                <a:solidFill>
                  <a:srgbClr val="FFFFFF"/>
                </a:solidFill>
                <a:latin typeface="Cambria"/>
              </a:rPr>
              <a:t>SEL Blueframe Python SDK</a:t>
            </a:r>
          </a:p>
        </p:txBody>
      </p:sp>
      <p:sp>
        <p:nvSpPr>
          <p:cNvPr id="6" name="TextBox 5"/>
          <p:cNvSpPr txBox="1"/>
          <p:nvPr/>
        </p:nvSpPr>
        <p:spPr>
          <a:xfrm>
            <a:off x="731520" y="2788920"/>
            <a:ext cx="8686800" cy="548640"/>
          </a:xfrm>
          <a:prstGeom prst="rect">
            <a:avLst/>
          </a:prstGeom>
          <a:noFill/>
        </p:spPr>
        <p:txBody>
          <a:bodyPr wrap="square" anchor="t" lIns="0" rIns="0" tIns="0" bIns="0">
            <a:spAutoFit/>
          </a:bodyPr>
          <a:lstStyle/>
          <a:p>
            <a:pPr algn="l">
              <a:spcAft>
                <a:spcPts val="600"/>
              </a:spcAft>
            </a:pPr>
            <a:r>
              <a:rPr sz="2400" b="1" i="0">
                <a:solidFill>
                  <a:srgbClr val="F2A541"/>
                </a:solidFill>
                <a:latin typeface="Calibri"/>
              </a:rPr>
              <a:t>Sprint 4  |  Go Wrapper for Python SDK</a:t>
            </a:r>
          </a:p>
        </p:txBody>
      </p:sp>
      <p:sp>
        <p:nvSpPr>
          <p:cNvPr id="7" name="TextBox 6"/>
          <p:cNvSpPr txBox="1"/>
          <p:nvPr/>
        </p:nvSpPr>
        <p:spPr>
          <a:xfrm>
            <a:off x="731520" y="3749039"/>
            <a:ext cx="8686800" cy="1097280"/>
          </a:xfrm>
          <a:prstGeom prst="rect">
            <a:avLst/>
          </a:prstGeom>
          <a:noFill/>
        </p:spPr>
        <p:txBody>
          <a:bodyPr wrap="square" anchor="t" lIns="0" rIns="0" tIns="0" bIns="0">
            <a:spAutoFit/>
          </a:bodyPr>
          <a:lstStyle/>
          <a:p>
            <a:pPr algn="l">
              <a:spcAft>
                <a:spcPts val="600"/>
              </a:spcAft>
            </a:pPr>
            <a:r>
              <a:rPr sz="2000" b="0" i="0">
                <a:solidFill>
                  <a:srgbClr val="FFFFFF"/>
                </a:solidFill>
                <a:latin typeface="Calibri"/>
              </a:rPr>
              <a:t>Caleb Hansen, Genevieve Kochel, Darron Li, Lucas Phillips</a:t>
            </a:r>
          </a:p>
          <a:p>
            <a:pPr algn="l">
              <a:spcAft>
                <a:spcPts val="600"/>
              </a:spcAft>
            </a:pPr>
            <a:r>
              <a:rPr sz="1500" b="0" i="0">
                <a:solidFill>
                  <a:srgbClr val="C9D3DE"/>
                </a:solidFill>
                <a:latin typeface="Calibri"/>
              </a:rPr>
              <a:t>CptS 423  |  Team 03-SEL-BFSDK  |  Client Joe Stanley, SEL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1</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Introduction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Project, team roles, and what Sprint 4 set out to do</a:t>
            </a:r>
          </a:p>
        </p:txBody>
      </p:sp>
      <p:sp>
        <p:nvSpPr>
          <p:cNvPr id="5" name="TextBox 4"/>
          <p:cNvSpPr txBox="1"/>
          <p:nvPr/>
        </p:nvSpPr>
        <p:spPr>
          <a:xfrm>
            <a:off x="548640" y="1645920"/>
            <a:ext cx="5577840" cy="4480560"/>
          </a:xfrm>
          <a:prstGeom prst="rect">
            <a:avLst/>
          </a:prstGeom>
          <a:noFill/>
        </p:spPr>
        <p:txBody>
          <a:bodyPr wrap="square" anchor="t" lIns="0" rIns="0" tIns="0" bIns="0">
            <a:spAutoFit/>
          </a:bodyPr>
          <a:lstStyle/>
          <a:p>
            <a:pPr algn="l">
              <a:spcAft>
                <a:spcPts val="800"/>
              </a:spcAft>
            </a:pPr>
            <a:r>
              <a:rPr sz="1800" b="1" i="0">
                <a:solidFill>
                  <a:srgbClr val="1B2A41"/>
                </a:solidFill>
                <a:latin typeface="Cambria"/>
              </a:rPr>
              <a:t>The project</a:t>
            </a:r>
          </a:p>
          <a:p>
            <a:pPr algn="l" marL="201168" indent="-182880">
              <a:spcAft>
                <a:spcPts val="800"/>
              </a:spcAft>
              <a:buFont typeface="Arial"/>
              <a:buChar char="•"/>
            </a:pPr>
            <a:r>
              <a:rPr sz="1600" b="0" i="0">
                <a:solidFill>
                  <a:srgbClr val="1F2933"/>
                </a:solidFill>
                <a:latin typeface="Calibri"/>
              </a:rPr>
              <a:t>Blueframe apps move real-time grid data through Signal Hub. SEL has clients for it in Go and C#, but most automation engineers work in Python.</a:t>
            </a:r>
          </a:p>
          <a:p>
            <a:pPr algn="l" marL="201168" indent="-182880">
              <a:spcAft>
                <a:spcPts val="800"/>
              </a:spcAft>
              <a:buFont typeface="Arial"/>
              <a:buChar char="•"/>
            </a:pPr>
            <a:r>
              <a:rPr sz="1600" b="0" i="0">
                <a:solidFill>
                  <a:srgbClr val="1F2933"/>
                </a:solidFill>
                <a:latin typeface="Calibri"/>
              </a:rPr>
              <a:t>We are building a Python SDK that wraps an existing client instead of porting it, so SEL does not end up maintaining a third copy.</a:t>
            </a:r>
          </a:p>
          <a:p>
            <a:pPr algn="l">
              <a:spcAft>
                <a:spcPts val="800"/>
              </a:spcAft>
            </a:pPr>
            <a:r>
              <a:rPr sz="1800" b="1" i="0">
                <a:solidFill>
                  <a:srgbClr val="1B2A41"/>
                </a:solidFill>
                <a:latin typeface="Cambria"/>
              </a:rPr>
              <a:t>Sprint 4 goal</a:t>
            </a:r>
          </a:p>
          <a:p>
            <a:pPr algn="l" marL="201168" indent="-182880">
              <a:spcAft>
                <a:spcPts val="800"/>
              </a:spcAft>
              <a:buFont typeface="Arial"/>
              <a:buChar char="•"/>
            </a:pPr>
            <a:r>
              <a:rPr sz="1600" b="0" i="0">
                <a:solidFill>
                  <a:srgbClr val="1F2933"/>
                </a:solidFill>
                <a:latin typeface="Calibri"/>
              </a:rPr>
              <a:t>Answer the client's main question. Is wrapping the Go client worth it, and how should it be done?</a:t>
            </a:r>
          </a:p>
          <a:p>
            <a:pPr algn="l" marL="201168" indent="-182880">
              <a:spcAft>
                <a:spcPts val="800"/>
              </a:spcAft>
              <a:buFont typeface="Arial"/>
              <a:buChar char="•"/>
            </a:pPr>
            <a:r>
              <a:rPr sz="1600" b="0" i="0">
                <a:solidFill>
                  <a:srgbClr val="1F2933"/>
                </a:solidFill>
                <a:latin typeface="Calibri"/>
              </a:rPr>
              <a:t>Settle the architecture, compatibility, testing, and documentation plans before Sprint 5 builds the bindings.</a:t>
            </a:r>
          </a:p>
        </p:txBody>
      </p:sp>
      <p:sp>
        <p:nvSpPr>
          <p:cNvPr id="6" name="Rounded Rectangle 5"/>
          <p:cNvSpPr/>
          <p:nvPr/>
        </p:nvSpPr>
        <p:spPr>
          <a:xfrm>
            <a:off x="649224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67512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LP</a:t>
            </a:r>
          </a:p>
        </p:txBody>
      </p:sp>
      <p:sp>
        <p:nvSpPr>
          <p:cNvPr id="8" name="TextBox 7"/>
          <p:cNvSpPr txBox="1"/>
          <p:nvPr/>
        </p:nvSpPr>
        <p:spPr>
          <a:xfrm>
            <a:off x="667512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Lucas Phillips</a:t>
            </a:r>
          </a:p>
          <a:p>
            <a:pPr algn="l">
              <a:spcAft>
                <a:spcPts val="600"/>
              </a:spcAft>
            </a:pPr>
            <a:r>
              <a:rPr sz="1300" b="0" i="0">
                <a:solidFill>
                  <a:srgbClr val="1F2933"/>
                </a:solidFill>
                <a:latin typeface="Calibri"/>
              </a:rPr>
              <a:t>Architecture and the Python bridge prototype</a:t>
            </a:r>
          </a:p>
        </p:txBody>
      </p:sp>
      <p:sp>
        <p:nvSpPr>
          <p:cNvPr id="9" name="Rounded Rectangle 8"/>
          <p:cNvSpPr/>
          <p:nvPr/>
        </p:nvSpPr>
        <p:spPr>
          <a:xfrm>
            <a:off x="918972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7260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CH</a:t>
            </a:r>
          </a:p>
        </p:txBody>
      </p:sp>
      <p:sp>
        <p:nvSpPr>
          <p:cNvPr id="11" name="TextBox 10"/>
          <p:cNvSpPr txBox="1"/>
          <p:nvPr/>
        </p:nvSpPr>
        <p:spPr>
          <a:xfrm>
            <a:off x="937260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Caleb Hansen</a:t>
            </a:r>
          </a:p>
          <a:p>
            <a:pPr algn="l">
              <a:spcAft>
                <a:spcPts val="600"/>
              </a:spcAft>
            </a:pPr>
            <a:r>
              <a:rPr sz="1300" b="0" i="0">
                <a:solidFill>
                  <a:srgbClr val="1F2933"/>
                </a:solidFill>
                <a:latin typeface="Calibri"/>
              </a:rPr>
              <a:t>CGo research, repo setup, compatibility and performance</a:t>
            </a:r>
          </a:p>
        </p:txBody>
      </p:sp>
      <p:sp>
        <p:nvSpPr>
          <p:cNvPr id="12" name="Rounded Rectangle 11"/>
          <p:cNvSpPr/>
          <p:nvPr/>
        </p:nvSpPr>
        <p:spPr>
          <a:xfrm>
            <a:off x="649224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GK</a:t>
            </a:r>
          </a:p>
        </p:txBody>
      </p:sp>
      <p:sp>
        <p:nvSpPr>
          <p:cNvPr id="14" name="TextBox 13"/>
          <p:cNvSpPr txBox="1"/>
          <p:nvPr/>
        </p:nvSpPr>
        <p:spPr>
          <a:xfrm>
            <a:off x="667512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Genevieve Kochel</a:t>
            </a:r>
          </a:p>
          <a:p>
            <a:pPr algn="l">
              <a:spcAft>
                <a:spcPts val="600"/>
              </a:spcAft>
            </a:pPr>
            <a:r>
              <a:rPr sz="1300" b="0" i="0">
                <a:solidFill>
                  <a:srgbClr val="1F2933"/>
                </a:solidFill>
                <a:latin typeface="Calibri"/>
              </a:rPr>
              <a:t>Source access, C# research, client meetings, testing plan</a:t>
            </a:r>
          </a:p>
        </p:txBody>
      </p:sp>
      <p:sp>
        <p:nvSpPr>
          <p:cNvPr id="15" name="Rounded Rectangle 14"/>
          <p:cNvSpPr/>
          <p:nvPr/>
        </p:nvSpPr>
        <p:spPr>
          <a:xfrm>
            <a:off x="918972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37260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DL</a:t>
            </a:r>
          </a:p>
        </p:txBody>
      </p:sp>
      <p:sp>
        <p:nvSpPr>
          <p:cNvPr id="17" name="TextBox 16"/>
          <p:cNvSpPr txBox="1"/>
          <p:nvPr/>
        </p:nvSpPr>
        <p:spPr>
          <a:xfrm>
            <a:off x="937260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Darron Li</a:t>
            </a:r>
          </a:p>
          <a:p>
            <a:pPr algn="l">
              <a:spcAft>
                <a:spcPts val="600"/>
              </a:spcAft>
            </a:pPr>
            <a:r>
              <a:rPr sz="1300" b="0" i="0">
                <a:solidFill>
                  <a:srgbClr val="1F2933"/>
                </a:solidFill>
                <a:latin typeface="Calibri"/>
              </a:rPr>
              <a:t>Documentation and extensibility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2</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4 Objectives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From the Sprint 4 to 6 project plan agreed with Joe Stanley on September 14</a:t>
            </a:r>
          </a:p>
        </p:txBody>
      </p:sp>
      <p:sp>
        <p:nvSpPr>
          <p:cNvPr id="5" name="Rounded Rectangle 4"/>
          <p:cNvSpPr/>
          <p:nvPr/>
        </p:nvSpPr>
        <p:spPr>
          <a:xfrm>
            <a:off x="548640"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1</a:t>
            </a:r>
          </a:p>
        </p:txBody>
      </p:sp>
      <p:sp>
        <p:nvSpPr>
          <p:cNvPr id="7" name="TextBox 6"/>
          <p:cNvSpPr txBox="1"/>
          <p:nvPr/>
        </p:nvSpPr>
        <p:spPr>
          <a:xfrm>
            <a:off x="731520"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Architecture plan</a:t>
            </a:r>
          </a:p>
          <a:p>
            <a:pPr algn="l">
              <a:spcAft>
                <a:spcPts val="600"/>
              </a:spcAft>
            </a:pPr>
            <a:r>
              <a:rPr sz="1300" b="0" i="0">
                <a:solidFill>
                  <a:srgbClr val="1F2933"/>
                </a:solidFill>
                <a:latin typeface="Calibri"/>
              </a:rPr>
              <a:t>Proposed Python API, binding approach, errors, data types, what stays hidden</a:t>
            </a:r>
          </a:p>
        </p:txBody>
      </p:sp>
      <p:sp>
        <p:nvSpPr>
          <p:cNvPr id="8" name="Rounded Rectangle 7"/>
          <p:cNvSpPr/>
          <p:nvPr/>
        </p:nvSpPr>
        <p:spPr>
          <a:xfrm>
            <a:off x="3364992"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47872"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2</a:t>
            </a:r>
          </a:p>
        </p:txBody>
      </p:sp>
      <p:sp>
        <p:nvSpPr>
          <p:cNvPr id="10" name="TextBox 9"/>
          <p:cNvSpPr txBox="1"/>
          <p:nvPr/>
        </p:nvSpPr>
        <p:spPr>
          <a:xfrm>
            <a:off x="3547872"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Compatibility, maintenance, performance</a:t>
            </a:r>
          </a:p>
          <a:p>
            <a:pPr algn="l">
              <a:spcAft>
                <a:spcPts val="600"/>
              </a:spcAft>
            </a:pPr>
            <a:r>
              <a:rPr sz="1300" b="0" i="0">
                <a:solidFill>
                  <a:srgbClr val="1F2933"/>
                </a:solidFill>
                <a:latin typeface="Calibri"/>
              </a:rPr>
              <a:t>Python 3.12, OS targets, multithreading, speed, and no double maintenance</a:t>
            </a:r>
          </a:p>
        </p:txBody>
      </p:sp>
      <p:sp>
        <p:nvSpPr>
          <p:cNvPr id="11" name="Rounded Rectangle 10"/>
          <p:cNvSpPr/>
          <p:nvPr/>
        </p:nvSpPr>
        <p:spPr>
          <a:xfrm>
            <a:off x="6181344"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4224"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3</a:t>
            </a:r>
          </a:p>
        </p:txBody>
      </p:sp>
      <p:sp>
        <p:nvSpPr>
          <p:cNvPr id="13" name="TextBox 12"/>
          <p:cNvSpPr txBox="1"/>
          <p:nvPr/>
        </p:nvSpPr>
        <p:spPr>
          <a:xfrm>
            <a:off x="6364224"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Testing and dev process</a:t>
            </a:r>
          </a:p>
          <a:p>
            <a:pPr algn="l">
              <a:spcAft>
                <a:spcPts val="600"/>
              </a:spcAft>
            </a:pPr>
            <a:r>
              <a:rPr sz="1300" b="0" i="0">
                <a:solidFill>
                  <a:srgbClr val="1F2933"/>
                </a:solidFill>
                <a:latin typeface="Calibri"/>
              </a:rPr>
              <a:t>Unit, integration, interop, concurrency, and cross-platform tests plus workflow</a:t>
            </a:r>
          </a:p>
        </p:txBody>
      </p:sp>
      <p:sp>
        <p:nvSpPr>
          <p:cNvPr id="14" name="Rounded Rectangle 13"/>
          <p:cNvSpPr/>
          <p:nvPr/>
        </p:nvSpPr>
        <p:spPr>
          <a:xfrm>
            <a:off x="8997696"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80576"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4</a:t>
            </a:r>
          </a:p>
        </p:txBody>
      </p:sp>
      <p:sp>
        <p:nvSpPr>
          <p:cNvPr id="16" name="TextBox 15"/>
          <p:cNvSpPr txBox="1"/>
          <p:nvPr/>
        </p:nvSpPr>
        <p:spPr>
          <a:xfrm>
            <a:off x="9180576"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Documentation and extensibility</a:t>
            </a:r>
          </a:p>
          <a:p>
            <a:pPr algn="l">
              <a:spcAft>
                <a:spcPts val="600"/>
              </a:spcAft>
            </a:pPr>
            <a:r>
              <a:rPr sz="1300" b="0" i="0">
                <a:solidFill>
                  <a:srgbClr val="1F2933"/>
                </a:solidFill>
                <a:latin typeface="Calibri"/>
              </a:rPr>
              <a:t>Doc structure and conventions, and how someone adds a function later</a:t>
            </a:r>
          </a:p>
        </p:txBody>
      </p:sp>
      <p:sp>
        <p:nvSpPr>
          <p:cNvPr id="17" name="Rounded Rectangle 16"/>
          <p:cNvSpPr/>
          <p:nvPr/>
        </p:nvSpPr>
        <p:spPr>
          <a:xfrm>
            <a:off x="548640" y="4343400"/>
            <a:ext cx="553212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80560"/>
            <a:ext cx="5166359"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these first</a:t>
            </a:r>
          </a:p>
          <a:p>
            <a:pPr algn="l" marL="201168" indent="-182880">
              <a:spcAft>
                <a:spcPts val="400"/>
              </a:spcAft>
              <a:buFont typeface="Arial"/>
              <a:buChar char="•"/>
            </a:pPr>
            <a:r>
              <a:rPr sz="1400" b="0" i="0">
                <a:solidFill>
                  <a:srgbClr val="1F2933"/>
                </a:solidFill>
                <a:latin typeface="Calibri"/>
              </a:rPr>
              <a:t>Joe's top concern is avoiding double maintenance, so the approach had to be proven before any code was written for real.</a:t>
            </a:r>
          </a:p>
          <a:p>
            <a:pPr algn="l" marL="201168" indent="-182880">
              <a:spcAft>
                <a:spcPts val="400"/>
              </a:spcAft>
              <a:buFont typeface="Arial"/>
              <a:buChar char="•"/>
            </a:pPr>
            <a:r>
              <a:rPr sz="1400" b="0" i="0">
                <a:solidFill>
                  <a:srgbClr val="1F2933"/>
                </a:solidFill>
                <a:latin typeface="Calibri"/>
              </a:rPr>
              <a:t>Sprint 5 builds the bindings, so the design needed to be settled now.</a:t>
            </a:r>
          </a:p>
        </p:txBody>
      </p:sp>
      <p:sp>
        <p:nvSpPr>
          <p:cNvPr id="19" name="Rounded Rectangle 18"/>
          <p:cNvSpPr/>
          <p:nvPr/>
        </p:nvSpPr>
        <p:spPr>
          <a:xfrm>
            <a:off x="6263640" y="4343400"/>
            <a:ext cx="539496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480560"/>
            <a:ext cx="5029200"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Connection to the long-term vision</a:t>
            </a:r>
          </a:p>
          <a:p>
            <a:pPr algn="l" marL="201168" indent="-182880">
              <a:spcAft>
                <a:spcPts val="400"/>
              </a:spcAft>
              <a:buFont typeface="Arial"/>
              <a:buChar char="•"/>
            </a:pPr>
            <a:r>
              <a:rPr sz="1400" b="0" i="0">
                <a:solidFill>
                  <a:srgbClr val="1F2933"/>
                </a:solidFill>
                <a:latin typeface="Calibri"/>
              </a:rPr>
              <a:t>Engineers script Signal Hub from Python with numpy in and out.</a:t>
            </a:r>
          </a:p>
          <a:p>
            <a:pPr algn="l" marL="201168" indent="-182880">
              <a:spcAft>
                <a:spcPts val="400"/>
              </a:spcAft>
              <a:buFont typeface="Arial"/>
              <a:buChar char="•"/>
            </a:pPr>
            <a:r>
              <a:rPr sz="1400" b="0" i="0">
                <a:solidFill>
                  <a:srgbClr val="1F2933"/>
                </a:solidFill>
                <a:latin typeface="Calibri"/>
              </a:rPr>
              <a:t>SEL keeps one real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Implementation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Core SDK features built and tested in Go and Python</a:t>
            </a:r>
          </a:p>
        </p:txBody>
      </p:sp>
      <p:sp>
        <p:nvSpPr>
          <p:cNvPr id="5" name="Rounded Rectangle 4"/>
          <p:cNvSpPr/>
          <p:nvPr/>
        </p:nvSpPr>
        <p:spPr>
          <a:xfrm>
            <a:off x="548640" y="1600200"/>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13232" y="1737360"/>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1</a:t>
            </a:r>
          </a:p>
        </p:txBody>
      </p:sp>
      <p:sp>
        <p:nvSpPr>
          <p:cNvPr id="7" name="TextBox 6"/>
          <p:cNvSpPr txBox="1"/>
          <p:nvPr/>
        </p:nvSpPr>
        <p:spPr>
          <a:xfrm>
            <a:off x="1417320" y="1655064"/>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Lucas Phillips</a:t>
            </a:r>
          </a:p>
          <a:p>
            <a:pPr algn="l">
              <a:spcAft>
                <a:spcPts val="600"/>
              </a:spcAft>
            </a:pPr>
            <a:r>
              <a:rPr sz="1200" b="0" i="0">
                <a:solidFill>
                  <a:srgbClr val="5B6B7A"/>
                </a:solidFill>
                <a:latin typeface="Calibri"/>
              </a:rPr>
              <a:t>Python SDK prototype</a:t>
            </a:r>
          </a:p>
        </p:txBody>
      </p:sp>
      <p:sp>
        <p:nvSpPr>
          <p:cNvPr id="8" name="TextBox 7"/>
          <p:cNvSpPr txBox="1"/>
          <p:nvPr/>
        </p:nvSpPr>
        <p:spPr>
          <a:xfrm>
            <a:off x="4663440" y="1655064"/>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Go facade, C interface, gRPC bridge, fake Signal Hub, Python API over three transports</a:t>
            </a:r>
          </a:p>
        </p:txBody>
      </p:sp>
      <p:sp>
        <p:nvSpPr>
          <p:cNvPr id="9" name="TextBox 8"/>
          <p:cNvSpPr txBox="1"/>
          <p:nvPr/>
        </p:nvSpPr>
        <p:spPr>
          <a:xfrm>
            <a:off x="10149840" y="1655064"/>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#25  #26</a:t>
            </a:r>
          </a:p>
        </p:txBody>
      </p:sp>
      <p:sp>
        <p:nvSpPr>
          <p:cNvPr id="10" name="Rounded Rectangle 9"/>
          <p:cNvSpPr/>
          <p:nvPr/>
        </p:nvSpPr>
        <p:spPr>
          <a:xfrm>
            <a:off x="548640" y="2496312"/>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3232" y="2633472"/>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2</a:t>
            </a:r>
          </a:p>
        </p:txBody>
      </p:sp>
      <p:sp>
        <p:nvSpPr>
          <p:cNvPr id="12" name="TextBox 11"/>
          <p:cNvSpPr txBox="1"/>
          <p:nvPr/>
        </p:nvSpPr>
        <p:spPr>
          <a:xfrm>
            <a:off x="1417320" y="2551176"/>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Caleb Hansen</a:t>
            </a:r>
          </a:p>
          <a:p>
            <a:pPr algn="l">
              <a:spcAft>
                <a:spcPts val="600"/>
              </a:spcAft>
            </a:pPr>
            <a:r>
              <a:rPr sz="1200" b="0" i="0">
                <a:solidFill>
                  <a:srgbClr val="5B6B7A"/>
                </a:solidFill>
                <a:latin typeface="Calibri"/>
              </a:rPr>
              <a:t>CGo investigation and repo setup</a:t>
            </a:r>
          </a:p>
        </p:txBody>
      </p:sp>
      <p:sp>
        <p:nvSpPr>
          <p:cNvPr id="13" name="TextBox 12"/>
          <p:cNvSpPr txBox="1"/>
          <p:nvPr/>
        </p:nvSpPr>
        <p:spPr>
          <a:xfrm>
            <a:off x="4663440" y="2551176"/>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Private repo, Claude onboarding skills, CGo pitfalls write-up</a:t>
            </a:r>
          </a:p>
        </p:txBody>
      </p:sp>
      <p:sp>
        <p:nvSpPr>
          <p:cNvPr id="14" name="TextBox 13"/>
          <p:cNvSpPr txBox="1"/>
          <p:nvPr/>
        </p:nvSpPr>
        <p:spPr>
          <a:xfrm>
            <a:off x="10149840" y="2551176"/>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#27  #28  #29</a:t>
            </a:r>
          </a:p>
        </p:txBody>
      </p:sp>
      <p:sp>
        <p:nvSpPr>
          <p:cNvPr id="15" name="Rounded Rectangle 14"/>
          <p:cNvSpPr/>
          <p:nvPr/>
        </p:nvSpPr>
        <p:spPr>
          <a:xfrm>
            <a:off x="548640" y="3392424"/>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29584"/>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3</a:t>
            </a:r>
          </a:p>
        </p:txBody>
      </p:sp>
      <p:sp>
        <p:nvSpPr>
          <p:cNvPr id="17" name="TextBox 16"/>
          <p:cNvSpPr txBox="1"/>
          <p:nvPr/>
        </p:nvSpPr>
        <p:spPr>
          <a:xfrm>
            <a:off x="1417320" y="3447288"/>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Genevieve Kochel</a:t>
            </a:r>
          </a:p>
          <a:p>
            <a:pPr algn="l">
              <a:spcAft>
                <a:spcPts val="600"/>
              </a:spcAft>
            </a:pPr>
            <a:r>
              <a:rPr sz="1200" b="0" i="0">
                <a:solidFill>
                  <a:srgbClr val="5B6B7A"/>
                </a:solidFill>
                <a:latin typeface="Calibri"/>
              </a:rPr>
              <a:t>Source access and the C# option</a:t>
            </a:r>
          </a:p>
        </p:txBody>
      </p:sp>
      <p:sp>
        <p:nvSpPr>
          <p:cNvPr id="18" name="TextBox 17"/>
          <p:cNvSpPr txBox="1"/>
          <p:nvPr/>
        </p:nvSpPr>
        <p:spPr>
          <a:xfrm>
            <a:off x="4663440" y="3447288"/>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C# and C++ access, Go client pulled out of the server code, Python.NET research</a:t>
            </a:r>
          </a:p>
        </p:txBody>
      </p:sp>
      <p:sp>
        <p:nvSpPr>
          <p:cNvPr id="19" name="TextBox 18"/>
          <p:cNvSpPr txBox="1"/>
          <p:nvPr/>
        </p:nvSpPr>
        <p:spPr>
          <a:xfrm>
            <a:off x="10149840" y="3447288"/>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#30  #31  #32</a:t>
            </a:r>
          </a:p>
        </p:txBody>
      </p:sp>
      <p:sp>
        <p:nvSpPr>
          <p:cNvPr id="20" name="Rounded Rectangle 19"/>
          <p:cNvSpPr/>
          <p:nvPr/>
        </p:nvSpPr>
        <p:spPr>
          <a:xfrm>
            <a:off x="548640" y="4288536"/>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425696"/>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4</a:t>
            </a:r>
          </a:p>
        </p:txBody>
      </p:sp>
      <p:sp>
        <p:nvSpPr>
          <p:cNvPr id="22" name="TextBox 21"/>
          <p:cNvSpPr txBox="1"/>
          <p:nvPr/>
        </p:nvSpPr>
        <p:spPr>
          <a:xfrm>
            <a:off x="1417320" y="4343399"/>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Darron Li</a:t>
            </a:r>
          </a:p>
          <a:p>
            <a:pPr algn="l">
              <a:spcAft>
                <a:spcPts val="600"/>
              </a:spcAft>
            </a:pPr>
            <a:r>
              <a:rPr sz="1200" b="0" i="0">
                <a:solidFill>
                  <a:srgbClr val="5B6B7A"/>
                </a:solidFill>
                <a:latin typeface="Calibri"/>
              </a:rPr>
              <a:t>Documentation and extensibility plan</a:t>
            </a:r>
          </a:p>
        </p:txBody>
      </p:sp>
      <p:sp>
        <p:nvSpPr>
          <p:cNvPr id="23" name="TextBox 22"/>
          <p:cNvSpPr txBox="1"/>
          <p:nvPr/>
        </p:nvSpPr>
        <p:spPr>
          <a:xfrm>
            <a:off x="4663440" y="4343399"/>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Doc structure, tooling, conventions, extension steps</a:t>
            </a:r>
          </a:p>
        </p:txBody>
      </p:sp>
      <p:sp>
        <p:nvSpPr>
          <p:cNvPr id="24" name="TextBox 23"/>
          <p:cNvSpPr txBox="1"/>
          <p:nvPr/>
        </p:nvSpPr>
        <p:spPr>
          <a:xfrm>
            <a:off x="10149840" y="4343399"/>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#33</a:t>
            </a:r>
          </a:p>
        </p:txBody>
      </p:sp>
      <p:sp>
        <p:nvSpPr>
          <p:cNvPr id="25" name="Rounded Rectangle 24"/>
          <p:cNvSpPr/>
          <p:nvPr/>
        </p:nvSpPr>
        <p:spPr>
          <a:xfrm>
            <a:off x="548640" y="5257800"/>
            <a:ext cx="11109960" cy="100584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321808"/>
            <a:ext cx="2011680" cy="877824"/>
          </a:xfrm>
          <a:prstGeom prst="rect">
            <a:avLst/>
          </a:prstGeom>
          <a:noFill/>
        </p:spPr>
        <p:txBody>
          <a:bodyPr wrap="square" anchor="ctr" lIns="0" rIns="0" tIns="0" bIns="0">
            <a:spAutoFit/>
          </a:bodyPr>
          <a:lstStyle/>
          <a:p>
            <a:pPr algn="l">
              <a:spcAft>
                <a:spcPts val="600"/>
              </a:spcAft>
            </a:pPr>
            <a:r>
              <a:rPr sz="4000" b="1" i="0">
                <a:solidFill>
                  <a:srgbClr val="F2A541"/>
                </a:solidFill>
                <a:latin typeface="Cambria"/>
              </a:rPr>
              <a:t>80%+</a:t>
            </a:r>
          </a:p>
        </p:txBody>
      </p:sp>
      <p:sp>
        <p:nvSpPr>
          <p:cNvPr id="27" name="TextBox 26"/>
          <p:cNvSpPr txBox="1"/>
          <p:nvPr/>
        </p:nvSpPr>
        <p:spPr>
          <a:xfrm>
            <a:off x="2743200" y="5321808"/>
            <a:ext cx="8732520" cy="877824"/>
          </a:xfrm>
          <a:prstGeom prst="rect">
            <a:avLst/>
          </a:prstGeom>
          <a:noFill/>
        </p:spPr>
        <p:txBody>
          <a:bodyPr wrap="square" anchor="ctr" lIns="0" rIns="0" tIns="0" bIns="0">
            <a:spAutoFit/>
          </a:bodyPr>
          <a:lstStyle/>
          <a:p>
            <a:pPr algn="l">
              <a:spcAft>
                <a:spcPts val="200"/>
              </a:spcAft>
            </a:pPr>
            <a:r>
              <a:rPr sz="1600" b="1" i="0">
                <a:solidFill>
                  <a:srgbClr val="FFFFFF"/>
                </a:solidFill>
                <a:latin typeface="Calibri"/>
              </a:rPr>
              <a:t>Every operation in the agreed scope works end to end from Python</a:t>
            </a:r>
          </a:p>
          <a:p>
            <a:pPr algn="l">
              <a:spcAft>
                <a:spcPts val="600"/>
              </a:spcAft>
            </a:pPr>
            <a:r>
              <a:rPr sz="1300" b="0" i="0">
                <a:solidFill>
                  <a:srgbClr val="C9D3DE"/>
                </a:solidFill>
                <a:latin typeface="Calibri"/>
              </a:rPr>
              <a:t>Connect, three kinds of publishing, four kinds of subscriptions, history, discovery, and rate helpers. Left for later are hardening, packaging, and the move to 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What We Built in Go and Python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Lucas Phillips</a:t>
            </a:r>
          </a:p>
        </p:txBody>
      </p:sp>
      <p:sp>
        <p:nvSpPr>
          <p:cNvPr id="5" name="TextBox 4"/>
          <p:cNvSpPr txBox="1"/>
          <p:nvPr/>
        </p:nvSpPr>
        <p:spPr>
          <a:xfrm>
            <a:off x="548640" y="1554480"/>
            <a:ext cx="5486400" cy="365760"/>
          </a:xfrm>
          <a:prstGeom prst="rect">
            <a:avLst/>
          </a:prstGeom>
          <a:noFill/>
        </p:spPr>
        <p:txBody>
          <a:bodyPr wrap="square" anchor="t" lIns="0" rIns="0" tIns="0" bIns="0">
            <a:spAutoFit/>
          </a:bodyPr>
          <a:lstStyle/>
          <a:p>
            <a:pPr algn="l">
              <a:spcAft>
                <a:spcPts val="600"/>
              </a:spcAft>
            </a:pPr>
            <a:r>
              <a:rPr sz="1800" b="1" i="0">
                <a:solidFill>
                  <a:srgbClr val="1B2A41"/>
                </a:solidFill>
                <a:latin typeface="Cambria"/>
              </a:rPr>
              <a:t>Go code</a:t>
            </a:r>
          </a:p>
        </p:txBody>
      </p:sp>
      <p:sp>
        <p:nvSpPr>
          <p:cNvPr id="6" name="Rounded Rectangle 5"/>
          <p:cNvSpPr/>
          <p:nvPr/>
        </p:nvSpPr>
        <p:spPr>
          <a:xfrm>
            <a:off x="548640" y="1965960"/>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39112"/>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Go facade</a:t>
            </a:r>
          </a:p>
        </p:txBody>
      </p:sp>
      <p:sp>
        <p:nvSpPr>
          <p:cNvPr id="8" name="TextBox 7"/>
          <p:cNvSpPr txBox="1"/>
          <p:nvPr/>
        </p:nvSpPr>
        <p:spPr>
          <a:xfrm>
            <a:off x="2331720" y="2039112"/>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Only code that calls SEL's client. One plain call per operation, 16 entry type table, buffers, panics become errors</a:t>
            </a:r>
          </a:p>
        </p:txBody>
      </p:sp>
      <p:sp>
        <p:nvSpPr>
          <p:cNvPr id="9" name="TextBox 8"/>
          <p:cNvSpPr txBox="1"/>
          <p:nvPr/>
        </p:nvSpPr>
        <p:spPr>
          <a:xfrm>
            <a:off x="5166360" y="2039112"/>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964 lines</a:t>
            </a:r>
          </a:p>
        </p:txBody>
      </p:sp>
      <p:sp>
        <p:nvSpPr>
          <p:cNvPr id="10" name="Rounded Rectangle 9"/>
          <p:cNvSpPr/>
          <p:nvPr/>
        </p:nvSpPr>
        <p:spPr>
          <a:xfrm>
            <a:off x="548640" y="3044952"/>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18104"/>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C interface</a:t>
            </a:r>
          </a:p>
        </p:txBody>
      </p:sp>
      <p:sp>
        <p:nvSpPr>
          <p:cNvPr id="12" name="TextBox 11"/>
          <p:cNvSpPr txBox="1"/>
          <p:nvPr/>
        </p:nvSpPr>
        <p:spPr>
          <a:xfrm>
            <a:off x="2331720" y="3118104"/>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23 C functions so ctypes and cffi can load it</a:t>
            </a:r>
          </a:p>
        </p:txBody>
      </p:sp>
      <p:sp>
        <p:nvSpPr>
          <p:cNvPr id="13" name="TextBox 12"/>
          <p:cNvSpPr txBox="1"/>
          <p:nvPr/>
        </p:nvSpPr>
        <p:spPr>
          <a:xfrm>
            <a:off x="5166360" y="3118104"/>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352 lines</a:t>
            </a:r>
          </a:p>
        </p:txBody>
      </p:sp>
      <p:sp>
        <p:nvSpPr>
          <p:cNvPr id="14" name="Rounded Rectangle 13"/>
          <p:cNvSpPr/>
          <p:nvPr/>
        </p:nvSpPr>
        <p:spPr>
          <a:xfrm>
            <a:off x="548640" y="4123944"/>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197096"/>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gRPC bridge</a:t>
            </a:r>
          </a:p>
        </p:txBody>
      </p:sp>
      <p:sp>
        <p:nvSpPr>
          <p:cNvPr id="16" name="TextBox 15"/>
          <p:cNvSpPr txBox="1"/>
          <p:nvPr/>
        </p:nvSpPr>
        <p:spPr>
          <a:xfrm>
            <a:off x="2331720" y="4197096"/>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Standalone Go program with 21 calls on localhost. Stubs generated from one .proto</a:t>
            </a:r>
          </a:p>
        </p:txBody>
      </p:sp>
      <p:sp>
        <p:nvSpPr>
          <p:cNvPr id="17" name="TextBox 16"/>
          <p:cNvSpPr txBox="1"/>
          <p:nvPr/>
        </p:nvSpPr>
        <p:spPr>
          <a:xfrm>
            <a:off x="5166360" y="4197096"/>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496 lines</a:t>
            </a:r>
          </a:p>
        </p:txBody>
      </p:sp>
      <p:sp>
        <p:nvSpPr>
          <p:cNvPr id="18" name="Rounded Rectangle 17"/>
          <p:cNvSpPr/>
          <p:nvPr/>
        </p:nvSpPr>
        <p:spPr>
          <a:xfrm>
            <a:off x="548640" y="5202936"/>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276088"/>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Fake Signal Hub</a:t>
            </a:r>
          </a:p>
        </p:txBody>
      </p:sp>
      <p:sp>
        <p:nvSpPr>
          <p:cNvPr id="20" name="TextBox 19"/>
          <p:cNvSpPr txBox="1"/>
          <p:nvPr/>
        </p:nvSpPr>
        <p:spPr>
          <a:xfrm>
            <a:off x="2331720" y="5276088"/>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Hub, signal directory, and message bus in one process, with fault hooks for testing</a:t>
            </a:r>
          </a:p>
        </p:txBody>
      </p:sp>
      <p:sp>
        <p:nvSpPr>
          <p:cNvPr id="21" name="TextBox 20"/>
          <p:cNvSpPr txBox="1"/>
          <p:nvPr/>
        </p:nvSpPr>
        <p:spPr>
          <a:xfrm>
            <a:off x="5166360" y="5276088"/>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test tool</a:t>
            </a:r>
          </a:p>
        </p:txBody>
      </p:sp>
      <p:sp>
        <p:nvSpPr>
          <p:cNvPr id="22" name="TextBox 21"/>
          <p:cNvSpPr txBox="1"/>
          <p:nvPr/>
        </p:nvSpPr>
        <p:spPr>
          <a:xfrm>
            <a:off x="6492240" y="1554480"/>
            <a:ext cx="5120640" cy="365760"/>
          </a:xfrm>
          <a:prstGeom prst="rect">
            <a:avLst/>
          </a:prstGeom>
          <a:noFill/>
        </p:spPr>
        <p:txBody>
          <a:bodyPr wrap="square" anchor="t" lIns="0" rIns="0" tIns="0" bIns="0">
            <a:spAutoFit/>
          </a:bodyPr>
          <a:lstStyle/>
          <a:p>
            <a:pPr algn="l">
              <a:spcAft>
                <a:spcPts val="600"/>
              </a:spcAft>
            </a:pPr>
            <a:r>
              <a:rPr sz="1800" b="1" i="0">
                <a:solidFill>
                  <a:srgbClr val="1B2A41"/>
                </a:solidFill>
                <a:latin typeface="Cambria"/>
              </a:rPr>
              <a:t>Python code</a:t>
            </a:r>
          </a:p>
        </p:txBody>
      </p:sp>
      <p:sp>
        <p:nvSpPr>
          <p:cNvPr id="23" name="Rounded Rectangle 22"/>
          <p:cNvSpPr/>
          <p:nvPr/>
        </p:nvSpPr>
        <p:spPr>
          <a:xfrm>
            <a:off x="6492240" y="1965960"/>
            <a:ext cx="516636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2103120"/>
            <a:ext cx="4800600" cy="17373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Python API  |  710 lines</a:t>
            </a:r>
          </a:p>
          <a:p>
            <a:pPr algn="l" marL="201168" indent="-182880">
              <a:spcAft>
                <a:spcPts val="400"/>
              </a:spcAft>
              <a:buFont typeface="Arial"/>
              <a:buChar char="•"/>
            </a:pPr>
            <a:r>
              <a:rPr sz="1300" b="0" i="0">
                <a:solidFill>
                  <a:srgbClr val="1F2933"/>
                </a:solidFill>
                <a:latin typeface="Calibri"/>
              </a:rPr>
              <a:t>connect, signals, publishers, subscriptions, history, discovery, rate helpers</a:t>
            </a:r>
          </a:p>
          <a:p>
            <a:pPr algn="l" marL="201168" indent="-182880">
              <a:spcAft>
                <a:spcPts val="400"/>
              </a:spcAft>
              <a:buFont typeface="Arial"/>
              <a:buChar char="•"/>
            </a:pPr>
            <a:r>
              <a:rPr sz="1300" b="0" i="0">
                <a:solidFill>
                  <a:srgbClr val="1F2933"/>
                </a:solidFill>
                <a:latin typeface="Calibri"/>
              </a:rPr>
              <a:t>numpy in and out, Python exceptions for every error</a:t>
            </a:r>
          </a:p>
        </p:txBody>
      </p:sp>
      <p:sp>
        <p:nvSpPr>
          <p:cNvPr id="25" name="Rounded Rectangle 24"/>
          <p:cNvSpPr/>
          <p:nvPr/>
        </p:nvSpPr>
        <p:spPr>
          <a:xfrm>
            <a:off x="6492240" y="4114800"/>
            <a:ext cx="5166360" cy="21488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4251960"/>
            <a:ext cx="4800600" cy="18745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Three transports and the tests</a:t>
            </a:r>
          </a:p>
          <a:p>
            <a:pPr algn="l" marL="201168" indent="-182880">
              <a:spcAft>
                <a:spcPts val="400"/>
              </a:spcAft>
              <a:buFont typeface="Arial"/>
              <a:buChar char="•"/>
            </a:pPr>
            <a:r>
              <a:rPr sz="1300" b="0" i="0">
                <a:solidFill>
                  <a:srgbClr val="1F2933"/>
                </a:solidFill>
                <a:latin typeface="Calibri"/>
              </a:rPr>
              <a:t>ctypes 265 lines, cffi 438 lines, bridge 225 lines</a:t>
            </a:r>
          </a:p>
          <a:p>
            <a:pPr algn="l" marL="201168" indent="-182880">
              <a:spcAft>
                <a:spcPts val="400"/>
              </a:spcAft>
              <a:buFont typeface="Arial"/>
              <a:buChar char="•"/>
            </a:pPr>
            <a:r>
              <a:rPr sz="1300" b="0" i="0">
                <a:solidFill>
                  <a:srgbClr val="1F2933"/>
                </a:solidFill>
                <a:latin typeface="Calibri"/>
              </a:rPr>
              <a:t>All three sit behind the same API so they could be compared fairly</a:t>
            </a:r>
          </a:p>
          <a:p>
            <a:pPr algn="l" marL="201168" indent="-182880">
              <a:spcAft>
                <a:spcPts val="400"/>
              </a:spcAft>
              <a:buFont typeface="Arial"/>
              <a:buChar char="•"/>
            </a:pPr>
            <a:r>
              <a:rPr sz="1300" b="0" i="0">
                <a:solidFill>
                  <a:srgbClr val="1F2933"/>
                </a:solidFill>
                <a:latin typeface="Calibri"/>
              </a:rPr>
              <a:t>2,155 tests run on every transport</a:t>
            </a:r>
          </a:p>
        </p:txBody>
      </p:sp>
      <p:sp>
        <p:nvSpPr>
          <p:cNvPr id="27" name="TextBox 26"/>
          <p:cNvSpPr txBox="1"/>
          <p:nvPr/>
        </p:nvSpPr>
        <p:spPr>
          <a:xfrm>
            <a:off x="548640" y="6330000"/>
            <a:ext cx="11100000" cy="330000"/>
          </a:xfrm>
          <a:prstGeom prst="rect">
            <a:avLst/>
          </a:prstGeom>
          <a:noFill/>
        </p:spPr>
        <p:txBody>
          <a:bodyPr wrap="square">
            <a:spAutoFit/>
          </a:bodyPr>
          <a:lstStyle/>
          <a:p>
            <a:r>
              <a:rPr sz="1200" i="1">
                <a:solidFill>
                  <a:srgbClr val="1F2933"/>
                </a:solidFill>
                <a:latin typeface="Calibri"/>
              </a:rPr>
              <a:t>Note: the source code for this prototype is private. It is built on SEL's confidential client and lives in SEL's private gosignals repository, so it is not in the public repo.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Demo and Validation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Quickstart script against the fake Signal Hub, then the full test run</a:t>
            </a:r>
          </a:p>
        </p:txBody>
      </p:sp>
      <p:pic>
        <p:nvPicPr>
          <p:cNvPr id="5" name="Picture 4" descr="term_quickstart.png"/>
          <p:cNvPicPr>
            <a:picLocks noChangeAspect="1"/>
          </p:cNvPicPr>
          <p:nvPr/>
        </p:nvPicPr>
        <p:blipFill>
          <a:blip r:embed="rId2"/>
          <a:stretch>
            <a:fillRect/>
          </a:stretch>
        </p:blipFill>
        <p:spPr>
          <a:xfrm>
            <a:off x="548640" y="1554480"/>
            <a:ext cx="7315200" cy="1828800"/>
          </a:xfrm>
          <a:prstGeom prst="rect">
            <a:avLst/>
          </a:prstGeom>
        </p:spPr>
      </p:pic>
      <p:pic>
        <p:nvPicPr>
          <p:cNvPr id="6" name="Picture 5" descr="term_tests.png"/>
          <p:cNvPicPr>
            <a:picLocks noChangeAspect="1"/>
          </p:cNvPicPr>
          <p:nvPr/>
        </p:nvPicPr>
        <p:blipFill>
          <a:blip r:embed="rId3"/>
          <a:stretch>
            <a:fillRect/>
          </a:stretch>
        </p:blipFill>
        <p:spPr>
          <a:xfrm>
            <a:off x="551977" y="3611880"/>
            <a:ext cx="4931084" cy="1783080"/>
          </a:xfrm>
          <a:prstGeom prst="rect">
            <a:avLst/>
          </a:prstGeom>
        </p:spPr>
      </p:pic>
      <p:sp>
        <p:nvSpPr>
          <p:cNvPr id="7" name="TextBox 6"/>
          <p:cNvSpPr txBox="1"/>
          <p:nvPr/>
        </p:nvSpPr>
        <p:spPr>
          <a:xfrm>
            <a:off x="5669280" y="3611880"/>
            <a:ext cx="2194560" cy="1783080"/>
          </a:xfrm>
          <a:prstGeom prst="rect">
            <a:avLst/>
          </a:prstGeom>
          <a:noFill/>
        </p:spPr>
        <p:txBody>
          <a:bodyPr wrap="square" anchor="ctr" lIns="0" rIns="0" tIns="0" bIns="0">
            <a:spAutoFit/>
          </a:bodyPr>
          <a:lstStyle/>
          <a:p>
            <a:pPr algn="l">
              <a:spcAft>
                <a:spcPts val="600"/>
              </a:spcAft>
            </a:pPr>
            <a:r>
              <a:rPr sz="1200" b="0" i="0">
                <a:solidFill>
                  <a:srgbClr val="5B6B7A"/>
                </a:solidFill>
                <a:latin typeface="Calibri"/>
              </a:rPr>
              <a:t>An engineer's script publishes, fetches history, reads an aligned view, and gets a normal Python exception for bad input.</a:t>
            </a:r>
          </a:p>
        </p:txBody>
      </p:sp>
      <p:sp>
        <p:nvSpPr>
          <p:cNvPr id="8" name="Rounded Rectangle 7"/>
          <p:cNvSpPr/>
          <p:nvPr/>
        </p:nvSpPr>
        <p:spPr>
          <a:xfrm>
            <a:off x="8183879" y="1554480"/>
            <a:ext cx="3474720" cy="117043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600200"/>
            <a:ext cx="1554480" cy="1078992"/>
          </a:xfrm>
          <a:prstGeom prst="rect">
            <a:avLst/>
          </a:prstGeom>
          <a:noFill/>
        </p:spPr>
        <p:txBody>
          <a:bodyPr wrap="square" anchor="ctr" lIns="0" rIns="0" tIns="0" bIns="0">
            <a:spAutoFit/>
          </a:bodyPr>
          <a:lstStyle/>
          <a:p>
            <a:pPr algn="l">
              <a:spcAft>
                <a:spcPts val="600"/>
              </a:spcAft>
            </a:pPr>
            <a:r>
              <a:rPr sz="3000" b="1" i="0">
                <a:solidFill>
                  <a:srgbClr val="1B2A41"/>
                </a:solidFill>
                <a:latin typeface="Cambria"/>
              </a:rPr>
              <a:t>2,155</a:t>
            </a:r>
          </a:p>
        </p:txBody>
      </p:sp>
      <p:sp>
        <p:nvSpPr>
          <p:cNvPr id="10" name="TextBox 9"/>
          <p:cNvSpPr txBox="1"/>
          <p:nvPr/>
        </p:nvSpPr>
        <p:spPr>
          <a:xfrm>
            <a:off x="9875520" y="1600200"/>
            <a:ext cx="1691640" cy="1078992"/>
          </a:xfrm>
          <a:prstGeom prst="rect">
            <a:avLst/>
          </a:prstGeom>
          <a:noFill/>
        </p:spPr>
        <p:txBody>
          <a:bodyPr wrap="square" anchor="ctr" lIns="0" rIns="0" tIns="0" bIns="0">
            <a:spAutoFit/>
          </a:bodyPr>
          <a:lstStyle/>
          <a:p>
            <a:pPr algn="l">
              <a:spcAft>
                <a:spcPts val="600"/>
              </a:spcAft>
            </a:pPr>
            <a:r>
              <a:rPr sz="1300" b="0" i="0">
                <a:solidFill>
                  <a:srgbClr val="1F2933"/>
                </a:solidFill>
                <a:latin typeface="Calibri"/>
              </a:rPr>
              <a:t>tests passing on every transport</a:t>
            </a:r>
          </a:p>
        </p:txBody>
      </p:sp>
      <p:sp>
        <p:nvSpPr>
          <p:cNvPr id="11" name="Rounded Rectangle 10"/>
          <p:cNvSpPr/>
          <p:nvPr/>
        </p:nvSpPr>
        <p:spPr>
          <a:xfrm>
            <a:off x="8183879" y="2852928"/>
            <a:ext cx="3474720" cy="117043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898648"/>
            <a:ext cx="1554480" cy="1078992"/>
          </a:xfrm>
          <a:prstGeom prst="rect">
            <a:avLst/>
          </a:prstGeom>
          <a:noFill/>
        </p:spPr>
        <p:txBody>
          <a:bodyPr wrap="square" anchor="ctr" lIns="0" rIns="0" tIns="0" bIns="0">
            <a:spAutoFit/>
          </a:bodyPr>
          <a:lstStyle/>
          <a:p>
            <a:pPr algn="l">
              <a:spcAft>
                <a:spcPts val="600"/>
              </a:spcAft>
            </a:pPr>
            <a:r>
              <a:rPr sz="3000" b="1" i="0">
                <a:solidFill>
                  <a:srgbClr val="1B2A41"/>
                </a:solidFill>
                <a:latin typeface="Cambria"/>
              </a:rPr>
              <a:t>17 M</a:t>
            </a:r>
          </a:p>
        </p:txBody>
      </p:sp>
      <p:sp>
        <p:nvSpPr>
          <p:cNvPr id="13" name="TextBox 12"/>
          <p:cNvSpPr txBox="1"/>
          <p:nvPr/>
        </p:nvSpPr>
        <p:spPr>
          <a:xfrm>
            <a:off x="9875520" y="2898648"/>
            <a:ext cx="1691640" cy="1078992"/>
          </a:xfrm>
          <a:prstGeom prst="rect">
            <a:avLst/>
          </a:prstGeom>
          <a:noFill/>
        </p:spPr>
        <p:txBody>
          <a:bodyPr wrap="square" anchor="ctr" lIns="0" rIns="0" tIns="0" bIns="0">
            <a:spAutoFit/>
          </a:bodyPr>
          <a:lstStyle/>
          <a:p>
            <a:pPr algn="l">
              <a:spcAft>
                <a:spcPts val="600"/>
              </a:spcAft>
            </a:pPr>
            <a:r>
              <a:rPr sz="1300" b="0" i="0">
                <a:solidFill>
                  <a:srgbClr val="1F2933"/>
                </a:solidFill>
                <a:latin typeface="Calibri"/>
              </a:rPr>
              <a:t>samples per second over the bridge</a:t>
            </a:r>
          </a:p>
        </p:txBody>
      </p:sp>
      <p:sp>
        <p:nvSpPr>
          <p:cNvPr id="14" name="Rounded Rectangle 13"/>
          <p:cNvSpPr/>
          <p:nvPr/>
        </p:nvSpPr>
        <p:spPr>
          <a:xfrm>
            <a:off x="8183879" y="4151376"/>
            <a:ext cx="3474720" cy="117043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4197096"/>
            <a:ext cx="1554480" cy="1078992"/>
          </a:xfrm>
          <a:prstGeom prst="rect">
            <a:avLst/>
          </a:prstGeom>
          <a:noFill/>
        </p:spPr>
        <p:txBody>
          <a:bodyPr wrap="square" anchor="ctr" lIns="0" rIns="0" tIns="0" bIns="0">
            <a:spAutoFit/>
          </a:bodyPr>
          <a:lstStyle/>
          <a:p>
            <a:pPr algn="l">
              <a:spcAft>
                <a:spcPts val="600"/>
              </a:spcAft>
            </a:pPr>
            <a:r>
              <a:rPr sz="3000" b="1" i="0">
                <a:solidFill>
                  <a:srgbClr val="1B2A41"/>
                </a:solidFill>
                <a:latin typeface="Cambria"/>
              </a:rPr>
              <a:t>3</a:t>
            </a:r>
          </a:p>
        </p:txBody>
      </p:sp>
      <p:sp>
        <p:nvSpPr>
          <p:cNvPr id="16" name="TextBox 15"/>
          <p:cNvSpPr txBox="1"/>
          <p:nvPr/>
        </p:nvSpPr>
        <p:spPr>
          <a:xfrm>
            <a:off x="9875520" y="4197096"/>
            <a:ext cx="1691640" cy="1078992"/>
          </a:xfrm>
          <a:prstGeom prst="rect">
            <a:avLst/>
          </a:prstGeom>
          <a:noFill/>
        </p:spPr>
        <p:txBody>
          <a:bodyPr wrap="square" anchor="ctr" lIns="0" rIns="0" tIns="0" bIns="0">
            <a:spAutoFit/>
          </a:bodyPr>
          <a:lstStyle/>
          <a:p>
            <a:pPr algn="l">
              <a:spcAft>
                <a:spcPts val="600"/>
              </a:spcAft>
            </a:pPr>
            <a:r>
              <a:rPr sz="1300" b="0" i="0">
                <a:solidFill>
                  <a:srgbClr val="1F2933"/>
                </a:solidFill>
                <a:latin typeface="Calibri"/>
              </a:rPr>
              <a:t>transports built and compared behind one API</a:t>
            </a:r>
          </a:p>
        </p:txBody>
      </p:sp>
      <p:sp>
        <p:nvSpPr>
          <p:cNvPr id="17" name="Rounded Rectangle 16"/>
          <p:cNvSpPr/>
          <p:nvPr/>
        </p:nvSpPr>
        <p:spPr>
          <a:xfrm>
            <a:off x="548640" y="5577840"/>
            <a:ext cx="11109960" cy="73152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96128"/>
            <a:ext cx="10698480" cy="694944"/>
          </a:xfrm>
          <a:prstGeom prst="rect">
            <a:avLst/>
          </a:prstGeom>
          <a:noFill/>
        </p:spPr>
        <p:txBody>
          <a:bodyPr wrap="square" anchor="ctr" lIns="0" rIns="0" tIns="0" bIns="0">
            <a:spAutoFit/>
          </a:bodyPr>
          <a:lstStyle/>
          <a:p>
            <a:pPr algn="l">
              <a:spcAft>
                <a:spcPts val="600"/>
              </a:spcAft>
            </a:pPr>
            <a:r>
              <a:rPr sz="1500" b="1" i="0">
                <a:solidFill>
                  <a:srgbClr val="F2A541"/>
                </a:solidFill>
                <a:latin typeface="Calibri"/>
              </a:rPr>
              <a:t>Client review  </a:t>
            </a:r>
            <a:r>
              <a:rPr sz="1400" b="0" i="0">
                <a:solidFill>
                  <a:srgbClr val="FFFFFF"/>
                </a:solidFill>
                <a:latin typeface="Calibri"/>
              </a:rPr>
              <a:t>Joe reviewed the test run and said it meets his preferences, and he agreed that moving to the C# client is the correct move.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4</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Kanban Overview and Team Contributions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Sprint 4 and 5 issues on the project board</a:t>
            </a:r>
          </a:p>
        </p:txBody>
      </p:sp>
      <p:pic>
        <p:nvPicPr>
          <p:cNvPr id="5" name="Picture 4" descr="kanban_crop.png"/>
          <p:cNvPicPr>
            <a:picLocks noChangeAspect="1"/>
          </p:cNvPicPr>
          <p:nvPr/>
        </p:nvPicPr>
        <p:blipFill>
          <a:blip r:embed="rId2"/>
          <a:stretch>
            <a:fillRect/>
          </a:stretch>
        </p:blipFill>
        <p:spPr>
          <a:xfrm>
            <a:off x="557648" y="1554480"/>
            <a:ext cx="7297182" cy="4114800"/>
          </a:xfrm>
          <a:prstGeom prst="rect">
            <a:avLst/>
          </a:prstGeom>
          <a:ln w="12700">
            <a:solidFill>
              <a:srgbClr val="C9D3DE"/>
            </a:solidFill>
          </a:ln>
        </p:spPr>
      </p:pic>
      <p:sp>
        <p:nvSpPr>
          <p:cNvPr id="6" name="TextBox 5"/>
          <p:cNvSpPr txBox="1"/>
          <p:nvPr/>
        </p:nvSpPr>
        <p:spPr>
          <a:xfrm>
            <a:off x="548640" y="5760720"/>
            <a:ext cx="7315200" cy="54864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All 11 Sprint 4 issues are closed and #36 moved to Sprint 5. Each issue has an owner, a priority, a story point estimate and label, and a comment splitting the points. (GitHub's milestone page shows 18 closed because it also counts the 7 pull requests.)</a:t>
            </a:r>
          </a:p>
        </p:txBody>
      </p:sp>
      <p:sp>
        <p:nvSpPr>
          <p:cNvPr id="7" name="Rounded Rectangle 6"/>
          <p:cNvSpPr/>
          <p:nvPr/>
        </p:nvSpPr>
        <p:spPr>
          <a:xfrm>
            <a:off x="8092440" y="155448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160934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Genevieve Kochel  </a:t>
            </a:r>
            <a:r>
              <a:rPr sz="1100" b="1" i="0">
                <a:solidFill>
                  <a:srgbClr val="324A5F"/>
                </a:solidFill>
                <a:latin typeface="Calibri"/>
              </a:rPr>
              <a:t>#30 #31 #32 #34</a:t>
            </a:r>
          </a:p>
          <a:p>
            <a:pPr algn="l">
              <a:spcAft>
                <a:spcPts val="600"/>
              </a:spcAft>
            </a:pPr>
            <a:r>
              <a:rPr sz="1150" b="0" i="0">
                <a:solidFill>
                  <a:srgbClr val="1F2933"/>
                </a:solidFill>
                <a:latin typeface="Calibri"/>
              </a:rPr>
              <a:t>Source access, Go client extraction, Python.NET research, meeting coordination, testing plan</a:t>
            </a:r>
          </a:p>
        </p:txBody>
      </p:sp>
      <p:sp>
        <p:nvSpPr>
          <p:cNvPr id="9" name="Rounded Rectangle 8"/>
          <p:cNvSpPr/>
          <p:nvPr/>
        </p:nvSpPr>
        <p:spPr>
          <a:xfrm>
            <a:off x="8092440" y="265176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270662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Caleb Hansen  </a:t>
            </a:r>
            <a:r>
              <a:rPr sz="1100" b="1" i="0">
                <a:solidFill>
                  <a:srgbClr val="324A5F"/>
                </a:solidFill>
                <a:latin typeface="Calibri"/>
              </a:rPr>
              <a:t>#27 #28 #29</a:t>
            </a:r>
          </a:p>
          <a:p>
            <a:pPr algn="l">
              <a:spcAft>
                <a:spcPts val="600"/>
              </a:spcAft>
            </a:pPr>
            <a:r>
              <a:rPr sz="1150" b="0" i="0">
                <a:solidFill>
                  <a:srgbClr val="1F2933"/>
                </a:solidFill>
                <a:latin typeface="Calibri"/>
              </a:rPr>
              <a:t>Private repo, Claude onboarding skills, CGo pitfalls, compatibility plan</a:t>
            </a:r>
          </a:p>
        </p:txBody>
      </p:sp>
      <p:sp>
        <p:nvSpPr>
          <p:cNvPr id="11" name="Rounded Rectangle 10"/>
          <p:cNvSpPr/>
          <p:nvPr/>
        </p:nvSpPr>
        <p:spPr>
          <a:xfrm>
            <a:off x="8092440" y="3749039"/>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3803903"/>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Lucas Phillips  </a:t>
            </a:r>
            <a:r>
              <a:rPr sz="1100" b="1" i="0">
                <a:solidFill>
                  <a:srgbClr val="324A5F"/>
                </a:solidFill>
                <a:latin typeface="Calibri"/>
              </a:rPr>
              <a:t>#25 #26 #32 #35</a:t>
            </a:r>
          </a:p>
          <a:p>
            <a:pPr algn="l">
              <a:spcAft>
                <a:spcPts val="600"/>
              </a:spcAft>
            </a:pPr>
            <a:r>
              <a:rPr sz="1150" b="0" i="0">
                <a:solidFill>
                  <a:srgbClr val="1F2933"/>
                </a:solidFill>
                <a:latin typeface="Calibri"/>
              </a:rPr>
              <a:t>Bridge prototype, test suite, architecture plan, MoMs, report</a:t>
            </a:r>
          </a:p>
        </p:txBody>
      </p:sp>
      <p:sp>
        <p:nvSpPr>
          <p:cNvPr id="13" name="Rounded Rectangle 12"/>
          <p:cNvSpPr/>
          <p:nvPr/>
        </p:nvSpPr>
        <p:spPr>
          <a:xfrm>
            <a:off x="8092440" y="4846320"/>
            <a:ext cx="3566160" cy="141731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901183"/>
            <a:ext cx="3337560" cy="134416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Darron Li  </a:t>
            </a:r>
            <a:r>
              <a:rPr sz="1100" b="1" i="0">
                <a:solidFill>
                  <a:srgbClr val="324A5F"/>
                </a:solidFill>
                <a:latin typeface="Calibri"/>
              </a:rPr>
              <a:t>#33</a:t>
            </a:r>
          </a:p>
          <a:p>
            <a:pPr algn="l">
              <a:spcAft>
                <a:spcPts val="600"/>
              </a:spcAft>
            </a:pPr>
            <a:r>
              <a:rPr sz="1150" b="0" i="0">
                <a:solidFill>
                  <a:srgbClr val="1F2933"/>
                </a:solidFill>
                <a:latin typeface="Calibri"/>
              </a:rPr>
              <a:t>Spearheaded cross-functional alignment on documentation strategy and drove stakeholder synergy across the extensibility roadmap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5</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Evidence of Client Meetings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MoMs are in Sprints/Sprint_4/MoM on GitHub</a:t>
            </a:r>
          </a:p>
        </p:txBody>
      </p:sp>
      <p:sp>
        <p:nvSpPr>
          <p:cNvPr id="5" name="Rounded Rectangle 4"/>
          <p:cNvSpPr/>
          <p:nvPr/>
        </p:nvSpPr>
        <p:spPr>
          <a:xfrm>
            <a:off x="548640" y="164592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14  |  Semester kickoff</a:t>
            </a:r>
          </a:p>
          <a:p>
            <a:pPr algn="l" marL="201168" indent="-182880">
              <a:spcAft>
                <a:spcPts val="400"/>
              </a:spcAft>
              <a:buFont typeface="Arial"/>
              <a:buChar char="•"/>
            </a:pPr>
            <a:r>
              <a:rPr sz="1300" b="0" i="0">
                <a:solidFill>
                  <a:srgbClr val="1F2933"/>
                </a:solidFill>
                <a:latin typeface="Calibri"/>
              </a:rPr>
              <a:t>Goal is to find out if a Python wrapper is worth maintaining</a:t>
            </a:r>
          </a:p>
          <a:p>
            <a:pPr algn="l" marL="201168" indent="-182880">
              <a:spcAft>
                <a:spcPts val="400"/>
              </a:spcAft>
              <a:buFont typeface="Arial"/>
              <a:buChar char="•"/>
            </a:pPr>
            <a:r>
              <a:rPr sz="1300" b="0" i="0">
                <a:solidFill>
                  <a:srgbClr val="1F2933"/>
                </a:solidFill>
                <a:latin typeface="Calibri"/>
              </a:rPr>
              <a:t>No double maintenance, docs are a major deliverable</a:t>
            </a:r>
          </a:p>
          <a:p>
            <a:pPr algn="l" marL="201168" indent="-182880">
              <a:spcAft>
                <a:spcPts val="400"/>
              </a:spcAft>
              <a:buFont typeface="Arial"/>
              <a:buChar char="•"/>
            </a:pPr>
            <a:r>
              <a:rPr sz="1300" b="0" i="0">
                <a:solidFill>
                  <a:srgbClr val="1F2933"/>
                </a:solidFill>
                <a:latin typeface="Calibri"/>
              </a:rPr>
              <a:t>Python 3.12 baseline, pub/sub is the main use case</a:t>
            </a:r>
          </a:p>
          <a:p>
            <a:pPr algn="l" marL="201168" indent="-182880">
              <a:spcAft>
                <a:spcPts val="400"/>
              </a:spcAft>
              <a:buFont typeface="Arial"/>
              <a:buChar char="•"/>
            </a:pPr>
            <a:r>
              <a:rPr sz="1300" b="0" i="0">
                <a:solidFill>
                  <a:srgbClr val="1F2933"/>
                </a:solidFill>
                <a:latin typeface="Calibri"/>
              </a:rPr>
              <a:t>AI tools are fine, SEL code stays off the internet</a:t>
            </a:r>
          </a:p>
        </p:txBody>
      </p:sp>
      <p:sp>
        <p:nvSpPr>
          <p:cNvPr id="7" name="Rounded Rectangle 6"/>
          <p:cNvSpPr/>
          <p:nvPr/>
        </p:nvSpPr>
        <p:spPr>
          <a:xfrm>
            <a:off x="548640" y="402336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6052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28  |  Go wrapping findings</a:t>
            </a:r>
          </a:p>
          <a:p>
            <a:pPr algn="l" marL="201168" indent="-182880">
              <a:spcAft>
                <a:spcPts val="400"/>
              </a:spcAft>
              <a:buFont typeface="Arial"/>
              <a:buChar char="•"/>
            </a:pPr>
            <a:r>
              <a:rPr sz="1300" b="0" i="0">
                <a:solidFill>
                  <a:srgbClr val="1F2933"/>
                </a:solidFill>
                <a:latin typeface="Calibri"/>
              </a:rPr>
              <a:t>CGo pitfalls and the three-transport prototype</a:t>
            </a:r>
          </a:p>
          <a:p>
            <a:pPr algn="l" marL="201168" indent="-182880">
              <a:spcAft>
                <a:spcPts val="400"/>
              </a:spcAft>
              <a:buFont typeface="Arial"/>
              <a:buChar char="•"/>
            </a:pPr>
            <a:r>
              <a:rPr sz="1300" b="0" i="0">
                <a:solidFill>
                  <a:srgbClr val="1F2933"/>
                </a:solidFill>
                <a:latin typeface="Calibri"/>
              </a:rPr>
              <a:t>Joe was very happy with the research</a:t>
            </a:r>
          </a:p>
          <a:p>
            <a:pPr algn="l" marL="201168" indent="-182880">
              <a:spcAft>
                <a:spcPts val="400"/>
              </a:spcAft>
              <a:buFont typeface="Arial"/>
              <a:buChar char="•"/>
            </a:pPr>
            <a:r>
              <a:rPr sz="1300" b="0" i="0">
                <a:solidFill>
                  <a:srgbClr val="1F2933"/>
                </a:solidFill>
                <a:latin typeface="Calibri"/>
              </a:rPr>
              <a:t>Agreed that moving to the C# client is the correct move</a:t>
            </a:r>
          </a:p>
          <a:p>
            <a:pPr algn="l" marL="201168" indent="-182880">
              <a:spcAft>
                <a:spcPts val="400"/>
              </a:spcAft>
              <a:buFont typeface="Arial"/>
              <a:buChar char="•"/>
            </a:pPr>
            <a:r>
              <a:rPr sz="1300" b="0" i="0">
                <a:solidFill>
                  <a:srgbClr val="1F2933"/>
                </a:solidFill>
                <a:latin typeface="Calibri"/>
              </a:rPr>
              <a:t>Go bridge stays as the fallback</a:t>
            </a:r>
          </a:p>
        </p:txBody>
      </p:sp>
      <p:pic>
        <p:nvPicPr>
          <p:cNvPr id="9" name="Picture 8" descr="mom_crop.png"/>
          <p:cNvPicPr>
            <a:picLocks noChangeAspect="1"/>
          </p:cNvPicPr>
          <p:nvPr/>
        </p:nvPicPr>
        <p:blipFill>
          <a:blip r:embed="rId2"/>
          <a:stretch>
            <a:fillRect/>
          </a:stretch>
        </p:blipFill>
        <p:spPr>
          <a:xfrm>
            <a:off x="7133748" y="1554480"/>
            <a:ext cx="3974782" cy="4754880"/>
          </a:xfrm>
          <a:prstGeom prst="rect">
            <a:avLst/>
          </a:prstGeom>
          <a:ln w="12700">
            <a:solidFill>
              <a:srgbClr val="C9D3D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6</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Documentation of Report</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What was added to the repo this sprint</a:t>
            </a:r>
          </a:p>
        </p:txBody>
      </p:sp>
      <p:pic>
        <p:nvPicPr>
          <p:cNvPr id="5" name="Picture 4" descr="report_crop.png"/>
          <p:cNvPicPr>
            <a:picLocks noChangeAspect="1"/>
          </p:cNvPicPr>
          <p:nvPr/>
        </p:nvPicPr>
        <p:blipFill>
          <a:blip r:embed="rId2"/>
          <a:stretch>
            <a:fillRect/>
          </a:stretch>
        </p:blipFill>
        <p:spPr>
          <a:xfrm>
            <a:off x="1258728" y="1554480"/>
            <a:ext cx="3974782" cy="4754880"/>
          </a:xfrm>
          <a:prstGeom prst="rect">
            <a:avLst/>
          </a:prstGeom>
          <a:ln w="12700">
            <a:solidFill>
              <a:srgbClr val="C9D3DE"/>
            </a:solidFill>
          </a:ln>
        </p:spPr>
      </p:pic>
      <p:sp>
        <p:nvSpPr>
          <p:cNvPr id="6" name="Rounded Rectangle 5"/>
          <p:cNvSpPr/>
          <p:nvPr/>
        </p:nvSpPr>
        <p:spPr>
          <a:xfrm>
            <a:off x="6217920" y="1645920"/>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355080" y="180136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1</a:t>
            </a:r>
          </a:p>
        </p:txBody>
      </p:sp>
      <p:sp>
        <p:nvSpPr>
          <p:cNvPr id="8" name="TextBox 7"/>
          <p:cNvSpPr txBox="1"/>
          <p:nvPr/>
        </p:nvSpPr>
        <p:spPr>
          <a:xfrm>
            <a:off x="6995160" y="1700784"/>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Sprint 4 report</a:t>
            </a:r>
          </a:p>
          <a:p>
            <a:pPr algn="l">
              <a:spcAft>
                <a:spcPts val="600"/>
              </a:spcAft>
            </a:pPr>
            <a:r>
              <a:rPr sz="1200" b="0" i="0">
                <a:solidFill>
                  <a:srgbClr val="1F2933"/>
                </a:solidFill>
                <a:latin typeface="Calibri"/>
              </a:rPr>
              <a:t>Sprints/Sprint_4/Sprint_Report.md, following the course template</a:t>
            </a:r>
          </a:p>
        </p:txBody>
      </p:sp>
      <p:sp>
        <p:nvSpPr>
          <p:cNvPr id="9" name="Rounded Rectangle 8"/>
          <p:cNvSpPr/>
          <p:nvPr/>
        </p:nvSpPr>
        <p:spPr>
          <a:xfrm>
            <a:off x="6217920" y="2578608"/>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2734056"/>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2</a:t>
            </a:r>
          </a:p>
        </p:txBody>
      </p:sp>
      <p:sp>
        <p:nvSpPr>
          <p:cNvPr id="11" name="TextBox 10"/>
          <p:cNvSpPr txBox="1"/>
          <p:nvPr/>
        </p:nvSpPr>
        <p:spPr>
          <a:xfrm>
            <a:off x="6995160" y="2633472"/>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Planning documents</a:t>
            </a:r>
          </a:p>
          <a:p>
            <a:pPr algn="l">
              <a:spcAft>
                <a:spcPts val="600"/>
              </a:spcAft>
            </a:pPr>
            <a:r>
              <a:rPr sz="1200" b="0" i="0">
                <a:solidFill>
                  <a:srgbClr val="1F2933"/>
                </a:solidFill>
                <a:latin typeface="Calibri"/>
              </a:rPr>
              <a:t>docs/Sprint4, one per Sprint 4 deliverable plus a prototype overview</a:t>
            </a:r>
          </a:p>
        </p:txBody>
      </p:sp>
      <p:sp>
        <p:nvSpPr>
          <p:cNvPr id="12" name="Rounded Rectangle 11"/>
          <p:cNvSpPr/>
          <p:nvPr/>
        </p:nvSpPr>
        <p:spPr>
          <a:xfrm>
            <a:off x="6217920" y="3511296"/>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3666744"/>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3</a:t>
            </a:r>
          </a:p>
        </p:txBody>
      </p:sp>
      <p:sp>
        <p:nvSpPr>
          <p:cNvPr id="14" name="TextBox 13"/>
          <p:cNvSpPr txBox="1"/>
          <p:nvPr/>
        </p:nvSpPr>
        <p:spPr>
          <a:xfrm>
            <a:off x="6995160" y="3566160"/>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Two MoMs</a:t>
            </a:r>
          </a:p>
          <a:p>
            <a:pPr algn="l">
              <a:spcAft>
                <a:spcPts val="600"/>
              </a:spcAft>
            </a:pPr>
            <a:r>
              <a:rPr sz="1200" b="0" i="0">
                <a:solidFill>
                  <a:srgbClr val="1F2933"/>
                </a:solidFill>
                <a:latin typeface="Calibri"/>
              </a:rPr>
              <a:t>Sprints/Sprint_4/MoM for September 14 and 28</a:t>
            </a:r>
          </a:p>
        </p:txBody>
      </p:sp>
      <p:sp>
        <p:nvSpPr>
          <p:cNvPr id="15" name="Rounded Rectangle 14"/>
          <p:cNvSpPr/>
          <p:nvPr/>
        </p:nvSpPr>
        <p:spPr>
          <a:xfrm>
            <a:off x="6217920" y="4443984"/>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55080" y="4599432"/>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4</a:t>
            </a:r>
          </a:p>
        </p:txBody>
      </p:sp>
      <p:sp>
        <p:nvSpPr>
          <p:cNvPr id="17" name="TextBox 16"/>
          <p:cNvSpPr txBox="1"/>
          <p:nvPr/>
        </p:nvSpPr>
        <p:spPr>
          <a:xfrm>
            <a:off x="6995160" y="4498848"/>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README update</a:t>
            </a:r>
          </a:p>
          <a:p>
            <a:pPr algn="l">
              <a:spcAft>
                <a:spcPts val="600"/>
              </a:spcAft>
            </a:pPr>
            <a:r>
              <a:rPr sz="1200" b="0" i="0">
                <a:solidFill>
                  <a:srgbClr val="1F2933"/>
                </a:solidFill>
                <a:latin typeface="Calibri"/>
              </a:rPr>
              <a:t>Rewritten to the README template with setup, usage, and known problems</a:t>
            </a:r>
          </a:p>
        </p:txBody>
      </p:sp>
      <p:sp>
        <p:nvSpPr>
          <p:cNvPr id="18" name="Rounded Rectangle 17"/>
          <p:cNvSpPr/>
          <p:nvPr/>
        </p:nvSpPr>
        <p:spPr>
          <a:xfrm>
            <a:off x="6217920" y="5376672"/>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55080" y="5532120"/>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5</a:t>
            </a:r>
          </a:p>
        </p:txBody>
      </p:sp>
      <p:sp>
        <p:nvSpPr>
          <p:cNvPr id="20" name="TextBox 19"/>
          <p:cNvSpPr txBox="1"/>
          <p:nvPr/>
        </p:nvSpPr>
        <p:spPr>
          <a:xfrm>
            <a:off x="6995160" y="5431536"/>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Prototype source</a:t>
            </a:r>
          </a:p>
          <a:p>
            <a:pPr algn="l">
              <a:spcAft>
                <a:spcPts val="600"/>
              </a:spcAft>
            </a:pPr>
            <a:r>
              <a:rPr sz="1200" b="0" i="0">
                <a:solidFill>
                  <a:srgbClr val="1F2933"/>
                </a:solidFill>
                <a:latin typeface="Calibri"/>
              </a:rPr>
              <a:t>Kept in SEL's private repo since it is built on the SEL Confidential client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7</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Responsible Use of AI</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How GenAI was used on this sprint, and how we kept it accountable</a:t>
            </a:r>
          </a:p>
        </p:txBody>
      </p:sp>
      <p:sp>
        <p:nvSpPr>
          <p:cNvPr id="5" name="Rounded Rectangle 4"/>
          <p:cNvSpPr/>
          <p:nvPr/>
        </p:nvSpPr>
        <p:spPr>
          <a:xfrm>
            <a:off x="548640" y="1645920"/>
            <a:ext cx="54864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206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AI usage and impact</a:t>
            </a:r>
          </a:p>
          <a:p>
            <a:pPr algn="l" marL="201168" indent="-182880">
              <a:spcAft>
                <a:spcPts val="400"/>
              </a:spcAft>
              <a:buFont typeface="Arial"/>
              <a:buChar char="•"/>
            </a:pPr>
            <a:r>
              <a:rPr sz="1700" b="0" i="0">
                <a:solidFill>
                  <a:srgbClr val="1F2933"/>
                </a:solidFill>
                <a:latin typeface="Calibri"/>
              </a:rPr>
              <a:t>Tool used: Claude, by the whole team</a:t>
            </a:r>
          </a:p>
          <a:p>
            <a:pPr algn="l" marL="201168" indent="-182880">
              <a:spcAft>
                <a:spcPts val="400"/>
              </a:spcAft>
              <a:buFont typeface="Arial"/>
              <a:buChar char="•"/>
            </a:pPr>
            <a:r>
              <a:rPr sz="1700" b="0" i="0">
                <a:solidFill>
                  <a:srgbClr val="1F2933"/>
                </a:solidFill>
                <a:latin typeface="Calibri"/>
              </a:rPr>
              <a:t>Used to build prototyping tools, learn the codebase we are wrapping, clean up phrasing, and create this presentation</a:t>
            </a:r>
          </a:p>
          <a:p>
            <a:pPr algn="l" marL="201168" indent="-182880">
              <a:spcAft>
                <a:spcPts val="400"/>
              </a:spcAft>
              <a:buFont typeface="Arial"/>
              <a:buChar char="•"/>
            </a:pPr>
            <a:r>
              <a:rPr sz="1700" b="0" i="0">
                <a:solidFill>
                  <a:srgbClr val="1F2933"/>
                </a:solidFill>
                <a:latin typeface="Calibri"/>
              </a:rPr>
              <a:t>Faster onboarding to a large unfamiliar client and faster prototyping</a:t>
            </a:r>
          </a:p>
        </p:txBody>
      </p:sp>
      <p:sp>
        <p:nvSpPr>
          <p:cNvPr id="7" name="Rounded Rectangle 6"/>
          <p:cNvSpPr/>
          <p:nvPr/>
        </p:nvSpPr>
        <p:spPr>
          <a:xfrm>
            <a:off x="6217920" y="1645920"/>
            <a:ext cx="544068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507492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Limitations and accountability</a:t>
            </a:r>
          </a:p>
          <a:p>
            <a:pPr algn="l" marL="201168" indent="-182880">
              <a:spcAft>
                <a:spcPts val="400"/>
              </a:spcAft>
              <a:buFont typeface="Arial"/>
              <a:buChar char="•"/>
            </a:pPr>
            <a:r>
              <a:rPr sz="1700" b="0" i="0">
                <a:solidFill>
                  <a:srgbClr val="1F2933"/>
                </a:solidFill>
                <a:latin typeface="Calibri"/>
              </a:rPr>
              <a:t>AI output can sound sure and still be wrong about unfamiliar code</a:t>
            </a:r>
          </a:p>
          <a:p>
            <a:pPr algn="l" marL="201168" indent="-182880">
              <a:spcAft>
                <a:spcPts val="400"/>
              </a:spcAft>
              <a:buFont typeface="Arial"/>
              <a:buChar char="•"/>
            </a:pPr>
            <a:r>
              <a:rPr sz="1700" b="0" i="0">
                <a:solidFill>
                  <a:srgbClr val="1F2933"/>
                </a:solidFill>
                <a:latin typeface="Calibri"/>
              </a:rPr>
              <a:t>Code was checked against the 2,155 test suite and text was reviewed and edited by the team</a:t>
            </a:r>
          </a:p>
          <a:p>
            <a:pPr algn="l" marL="201168" indent="-182880">
              <a:spcAft>
                <a:spcPts val="400"/>
              </a:spcAft>
              <a:buFont typeface="Arial"/>
              <a:buChar char="•"/>
            </a:pPr>
            <a:r>
              <a:rPr sz="1700" b="0" i="0">
                <a:solidFill>
                  <a:srgbClr val="1F2933"/>
                </a:solidFill>
                <a:latin typeface="Calibri"/>
              </a:rPr>
              <a:t>SEL client code stays in the private repo and public docs share results only</a:t>
            </a:r>
          </a:p>
          <a:p>
            <a:pPr algn="l" marL="201168" indent="-182880">
              <a:spcAft>
                <a:spcPts val="400"/>
              </a:spcAft>
              <a:buFont typeface="Arial"/>
              <a:buChar char="•"/>
            </a:pPr>
            <a:r>
              <a:rPr sz="1700" b="0" i="0">
                <a:solidFill>
                  <a:srgbClr val="1F2933"/>
                </a:solidFill>
                <a:latin typeface="Calibri"/>
              </a:rPr>
              <a:t>All final decisions and deliverables are the team's responsibility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8</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Achievements and Challenges</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Achievements</a:t>
            </a:r>
          </a:p>
          <a:p>
            <a:pPr algn="l" marL="201168" indent="-182880">
              <a:spcAft>
                <a:spcPts val="400"/>
              </a:spcAft>
              <a:buFont typeface="Arial"/>
              <a:buChar char="•"/>
            </a:pPr>
            <a:r>
              <a:rPr sz="1600" b="0" i="0">
                <a:solidFill>
                  <a:srgbClr val="1F2933"/>
                </a:solidFill>
                <a:latin typeface="Calibri"/>
              </a:rPr>
              <a:t>Access to the client code after two sprints of waiting</a:t>
            </a:r>
          </a:p>
          <a:p>
            <a:pPr algn="l" marL="201168" indent="-182880">
              <a:spcAft>
                <a:spcPts val="400"/>
              </a:spcAft>
              <a:buFont typeface="Arial"/>
              <a:buChar char="•"/>
            </a:pPr>
            <a:r>
              <a:rPr sz="1600" b="0" i="0">
                <a:solidFill>
                  <a:srgbClr val="1F2933"/>
                </a:solidFill>
                <a:latin typeface="Calibri"/>
              </a:rPr>
              <a:t>Three working transports behind one Python API</a:t>
            </a:r>
          </a:p>
          <a:p>
            <a:pPr algn="l" marL="201168" indent="-182880">
              <a:spcAft>
                <a:spcPts val="400"/>
              </a:spcAft>
              <a:buFont typeface="Arial"/>
              <a:buChar char="•"/>
            </a:pPr>
            <a:r>
              <a:rPr sz="1600" b="0" i="0">
                <a:solidFill>
                  <a:srgbClr val="1F2933"/>
                </a:solidFill>
                <a:latin typeface="Calibri"/>
              </a:rPr>
              <a:t>2,155 passing tests and a fake Signal Hub we can keep</a:t>
            </a:r>
          </a:p>
          <a:p>
            <a:pPr algn="l" marL="201168" indent="-182880">
              <a:spcAft>
                <a:spcPts val="400"/>
              </a:spcAft>
              <a:buFont typeface="Arial"/>
              <a:buChar char="•"/>
            </a:pPr>
            <a:r>
              <a:rPr sz="1600" b="0" i="0">
                <a:solidFill>
                  <a:srgbClr val="1F2933"/>
                </a:solidFill>
                <a:latin typeface="Calibri"/>
              </a:rPr>
              <a:t>All four planned documents finished</a:t>
            </a:r>
          </a:p>
          <a:p>
            <a:pPr algn="l" marL="201168" indent="-182880">
              <a:spcAft>
                <a:spcPts val="400"/>
              </a:spcAft>
              <a:buFont typeface="Arial"/>
              <a:buChar char="•"/>
            </a:pPr>
            <a:r>
              <a:rPr sz="1600" b="0" i="0">
                <a:solidFill>
                  <a:srgbClr val="1F2933"/>
                </a:solidFill>
                <a:latin typeface="Calibri"/>
              </a:rPr>
              <a:t>Joe agreed on the move to C#</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Challenges and solutions</a:t>
            </a:r>
          </a:p>
          <a:p>
            <a:pPr algn="l" marL="201168" indent="-182880">
              <a:spcAft>
                <a:spcPts val="400"/>
              </a:spcAft>
              <a:buFont typeface="Arial"/>
              <a:buChar char="•"/>
            </a:pPr>
            <a:r>
              <a:rPr sz="1600" b="0" i="0">
                <a:solidFill>
                  <a:srgbClr val="1F2933"/>
                </a:solidFill>
                <a:latin typeface="Calibri"/>
              </a:rPr>
              <a:t>The CGo export plan did not work. It was replaced with a shared facade and tested against two other transports.</a:t>
            </a:r>
          </a:p>
          <a:p>
            <a:pPr algn="l" marL="201168" indent="-182880">
              <a:spcAft>
                <a:spcPts val="400"/>
              </a:spcAft>
              <a:buFont typeface="Arial"/>
              <a:buChar char="•"/>
            </a:pPr>
            <a:r>
              <a:rPr sz="1600" b="0" i="0">
                <a:solidFill>
                  <a:srgbClr val="1F2933"/>
                </a:solidFill>
                <a:latin typeface="Calibri"/>
              </a:rPr>
              <a:t>The client is SEL Confidential. Public docs are sanitized and code stays in a private repo.</a:t>
            </a:r>
          </a:p>
          <a:p>
            <a:pPr algn="l" marL="201168" indent="-182880">
              <a:spcAft>
                <a:spcPts val="400"/>
              </a:spcAft>
              <a:buFont typeface="Arial"/>
              <a:buChar char="•"/>
            </a:pPr>
            <a:r>
              <a:rPr sz="1600" b="0" i="0">
                <a:solidFill>
                  <a:srgbClr val="1F2933"/>
                </a:solidFill>
                <a:latin typeface="Calibri"/>
              </a:rPr>
              <a:t>No real Signal Hub outside SEL. A fake one was built for testing.</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Progress from Sprint 3</a:t>
            </a:r>
          </a:p>
          <a:p>
            <a:pPr algn="l" marL="201168" indent="-182880">
              <a:spcAft>
                <a:spcPts val="400"/>
              </a:spcAft>
              <a:buFont typeface="Arial"/>
              <a:buChar char="•"/>
            </a:pPr>
            <a:r>
              <a:rPr sz="1600" b="0" i="0">
                <a:solidFill>
                  <a:srgbClr val="1F2933"/>
                </a:solidFill>
                <a:latin typeface="Calibri"/>
              </a:rPr>
              <a:t>Sprint 3 wrapped our own COMTRADE code with CGo and subprocess</a:t>
            </a:r>
          </a:p>
          <a:p>
            <a:pPr algn="l" marL="201168" indent="-182880">
              <a:spcAft>
                <a:spcPts val="400"/>
              </a:spcAft>
              <a:buFont typeface="Arial"/>
              <a:buChar char="•"/>
            </a:pPr>
            <a:r>
              <a:rPr sz="1600" b="0" i="0">
                <a:solidFill>
                  <a:srgbClr val="1F2933"/>
                </a:solidFill>
                <a:latin typeface="Calibri"/>
              </a:rPr>
              <a:t>Sprint 4 repeated that comparison on the real client, which is much harder to wrap</a:t>
            </a:r>
          </a:p>
          <a:p>
            <a:pPr algn="l" marL="201168" indent="-182880">
              <a:spcAft>
                <a:spcPts val="400"/>
              </a:spcAft>
              <a:buFont typeface="Arial"/>
              <a:buChar char="•"/>
            </a:pPr>
            <a:r>
              <a:rPr sz="1600" b="0" i="0">
                <a:solidFill>
                  <a:srgbClr val="1F2933"/>
                </a:solidFill>
                <a:latin typeface="Calibri"/>
              </a:rPr>
              <a:t>The access blocker from Sprints 2 and 3 is gone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9</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Next Steps and Sprint Retrospective</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Sprint 5 plan</a:t>
            </a:r>
          </a:p>
          <a:p>
            <a:pPr algn="l" marL="201168" indent="-182880">
              <a:spcAft>
                <a:spcPts val="400"/>
              </a:spcAft>
              <a:buFont typeface="Arial"/>
              <a:buChar char="•"/>
            </a:pPr>
            <a:r>
              <a:rPr sz="1600" b="0" i="0">
                <a:solidFill>
                  <a:srgbClr val="1F2933"/>
                </a:solidFill>
                <a:latin typeface="Calibri"/>
              </a:rPr>
              <a:t>Move the SDK onto the C# client in week one (#36)</a:t>
            </a:r>
          </a:p>
          <a:p>
            <a:pPr algn="l" marL="201168" indent="-182880">
              <a:spcAft>
                <a:spcPts val="400"/>
              </a:spcAft>
              <a:buFont typeface="Arial"/>
              <a:buChar char="•"/>
            </a:pPr>
            <a:r>
              <a:rPr sz="1600" b="0" i="0">
                <a:solidFill>
                  <a:srgbClr val="1F2933"/>
                </a:solidFill>
                <a:latin typeface="Calibri"/>
              </a:rPr>
              <a:t>Build the Python bindings on the C# client</a:t>
            </a:r>
          </a:p>
          <a:p>
            <a:pPr algn="l" marL="201168" indent="-182880">
              <a:spcAft>
                <a:spcPts val="400"/>
              </a:spcAft>
              <a:buFont typeface="Arial"/>
              <a:buChar char="•"/>
            </a:pPr>
            <a:r>
              <a:rPr sz="1600" b="0" i="0">
                <a:solidFill>
                  <a:srgbClr val="1F2933"/>
                </a:solidFill>
                <a:latin typeface="Calibri"/>
              </a:rPr>
              <a:t>Automated test harness in CI</a:t>
            </a:r>
          </a:p>
          <a:p>
            <a:pPr algn="l" marL="201168" indent="-182880">
              <a:spcAft>
                <a:spcPts val="400"/>
              </a:spcAft>
              <a:buFont typeface="Arial"/>
              <a:buChar char="•"/>
            </a:pPr>
            <a:r>
              <a:rPr sz="1600" b="0" i="0">
                <a:solidFill>
                  <a:srgbClr val="1F2933"/>
                </a:solidFill>
                <a:latin typeface="Calibri"/>
              </a:rPr>
              <a:t>Cross-platform checks on Linux and Windows</a:t>
            </a:r>
          </a:p>
          <a:p>
            <a:pPr algn="l" marL="201168" indent="-182880">
              <a:spcAft>
                <a:spcPts val="400"/>
              </a:spcAft>
              <a:buFont typeface="Arial"/>
              <a:buChar char="•"/>
            </a:pPr>
            <a:r>
              <a:rPr sz="1600" b="0" i="0">
                <a:solidFill>
                  <a:srgbClr val="1F2933"/>
                </a:solidFill>
                <a:latin typeface="Calibri"/>
              </a:rPr>
              <a:t>First user docs and examples</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Retrospective</a:t>
            </a:r>
          </a:p>
          <a:p>
            <a:pPr algn="l">
              <a:spcAft>
                <a:spcPts val="200"/>
              </a:spcAft>
            </a:pPr>
            <a:r>
              <a:rPr sz="1600" b="1" i="0">
                <a:solidFill>
                  <a:srgbClr val="324A5F"/>
                </a:solidFill>
                <a:latin typeface="Calibri"/>
              </a:rPr>
              <a:t>Went well</a:t>
            </a:r>
          </a:p>
          <a:p>
            <a:pPr algn="l" marL="201168" indent="-182880">
              <a:spcAft>
                <a:spcPts val="400"/>
              </a:spcAft>
              <a:buFont typeface="Arial"/>
              <a:buChar char="•"/>
            </a:pPr>
            <a:r>
              <a:rPr sz="1600" b="0" i="0">
                <a:solidFill>
                  <a:srgbClr val="1F2933"/>
                </a:solidFill>
                <a:latin typeface="Calibri"/>
              </a:rPr>
              <a:t>Access came through and unblocked the team</a:t>
            </a:r>
          </a:p>
          <a:p>
            <a:pPr algn="l" marL="201168" indent="-182880">
              <a:spcAft>
                <a:spcPts val="400"/>
              </a:spcAft>
              <a:buFont typeface="Arial"/>
              <a:buChar char="•"/>
            </a:pPr>
            <a:r>
              <a:rPr sz="1600" b="0" i="0">
                <a:solidFill>
                  <a:srgbClr val="1F2933"/>
                </a:solidFill>
                <a:latin typeface="Calibri"/>
              </a:rPr>
              <a:t>Test results answered Joe's question</a:t>
            </a:r>
          </a:p>
          <a:p>
            <a:pPr algn="l">
              <a:spcAft>
                <a:spcPts val="200"/>
              </a:spcAft>
            </a:pPr>
            <a:r>
              <a:rPr sz="1600" b="1" i="0">
                <a:solidFill>
                  <a:srgbClr val="324A5F"/>
                </a:solidFill>
                <a:latin typeface="Calibri"/>
              </a:rPr>
              <a:t>To improve</a:t>
            </a:r>
          </a:p>
          <a:p>
            <a:pPr algn="l" marL="201168" indent="-182880">
              <a:spcAft>
                <a:spcPts val="400"/>
              </a:spcAft>
              <a:buFont typeface="Arial"/>
              <a:buChar char="•"/>
            </a:pPr>
            <a:r>
              <a:rPr sz="1600" b="0" i="0">
                <a:solidFill>
                  <a:srgbClr val="1F2933"/>
                </a:solidFill>
                <a:latin typeface="Calibri"/>
              </a:rPr>
              <a:t>Test risky assumptions like CGo earlier</a:t>
            </a:r>
          </a:p>
          <a:p>
            <a:pPr algn="l" marL="201168" indent="-182880">
              <a:spcAft>
                <a:spcPts val="400"/>
              </a:spcAft>
              <a:buFont typeface="Arial"/>
              <a:buChar char="•"/>
            </a:pPr>
            <a:r>
              <a:rPr sz="1600" b="0" i="0">
                <a:solidFill>
                  <a:srgbClr val="1F2933"/>
                </a:solidFill>
                <a:latin typeface="Calibri"/>
              </a:rPr>
              <a:t>Push prototype work as it happens</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Acting on client feedback</a:t>
            </a:r>
          </a:p>
          <a:p>
            <a:pPr algn="l" marL="201168" indent="-182880">
              <a:spcAft>
                <a:spcPts val="400"/>
              </a:spcAft>
              <a:buFont typeface="Arial"/>
              <a:buChar char="•"/>
            </a:pPr>
            <a:r>
              <a:rPr sz="1600" b="0" i="0">
                <a:solidFill>
                  <a:srgbClr val="1F2933"/>
                </a:solidFill>
                <a:latin typeface="Calibri"/>
              </a:rPr>
              <a:t>No double maintenance drove the wrap-not-port design</a:t>
            </a:r>
          </a:p>
          <a:p>
            <a:pPr algn="l" marL="201168" indent="-182880">
              <a:spcAft>
                <a:spcPts val="400"/>
              </a:spcAft>
              <a:buFont typeface="Arial"/>
              <a:buChar char="•"/>
            </a:pPr>
            <a:r>
              <a:rPr sz="1600" b="0" i="0">
                <a:solidFill>
                  <a:srgbClr val="1F2933"/>
                </a:solidFill>
                <a:latin typeface="Calibri"/>
              </a:rPr>
              <a:t>Pub/sub was built and tested first</a:t>
            </a:r>
          </a:p>
          <a:p>
            <a:pPr algn="l" marL="201168" indent="-182880">
              <a:spcAft>
                <a:spcPts val="400"/>
              </a:spcAft>
              <a:buFont typeface="Arial"/>
              <a:buChar char="•"/>
            </a:pPr>
            <a:r>
              <a:rPr sz="1600" b="0" i="0">
                <a:solidFill>
                  <a:srgbClr val="1F2933"/>
                </a:solidFill>
                <a:latin typeface="Calibri"/>
              </a:rPr>
              <a:t>Python 3.12 is the tested baseline</a:t>
            </a:r>
          </a:p>
          <a:p>
            <a:pPr algn="l" marL="201168" indent="-182880">
              <a:spcAft>
                <a:spcPts val="400"/>
              </a:spcAft>
              <a:buFont typeface="Arial"/>
              <a:buChar char="•"/>
            </a:pPr>
            <a:r>
              <a:rPr sz="1600" b="0" i="0">
                <a:solidFill>
                  <a:srgbClr val="1F2933"/>
                </a:solidFill>
                <a:latin typeface="Calibri"/>
              </a:rPr>
              <a:t>SEL code kept off the public repo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1463040" y="329184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822960"/>
            <a:ext cx="2926080" cy="29260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212080"/>
            <a:ext cx="731520" cy="7315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a:solidFill>
                  <a:srgbClr val="1B2A41"/>
                </a:solidFill>
                <a:latin typeface="Cambria"/>
              </a:rPr>
              <a:t>10</a:t>
            </a:r>
          </a:p>
        </p:txBody>
      </p:sp>
      <p:sp>
        <p:nvSpPr>
          <p:cNvPr id="5" name="TextBox 4"/>
          <p:cNvSpPr txBox="1"/>
          <p:nvPr/>
        </p:nvSpPr>
        <p:spPr>
          <a:xfrm>
            <a:off x="822960" y="822960"/>
            <a:ext cx="10058400" cy="822960"/>
          </a:xfrm>
          <a:prstGeom prst="rect">
            <a:avLst/>
          </a:prstGeom>
          <a:noFill/>
        </p:spPr>
        <p:txBody>
          <a:bodyPr wrap="square" anchor="t" lIns="0" rIns="0" tIns="0" bIns="0">
            <a:spAutoFit/>
          </a:bodyPr>
          <a:lstStyle/>
          <a:p>
            <a:pPr algn="l">
              <a:spcAft>
                <a:spcPts val="600"/>
              </a:spcAft>
            </a:pPr>
            <a:r>
              <a:rPr sz="4000" b="1" i="0">
                <a:solidFill>
                  <a:srgbClr val="FFFFFF"/>
                </a:solidFill>
                <a:latin typeface="Cambria"/>
              </a:rPr>
              <a:t>Conclusion</a:t>
            </a:r>
          </a:p>
        </p:txBody>
      </p:sp>
      <p:sp>
        <p:nvSpPr>
          <p:cNvPr id="6" name="TextBox 5"/>
          <p:cNvSpPr txBox="1"/>
          <p:nvPr/>
        </p:nvSpPr>
        <p:spPr>
          <a:xfrm>
            <a:off x="822960" y="1828800"/>
            <a:ext cx="9601200" cy="2926080"/>
          </a:xfrm>
          <a:prstGeom prst="rect">
            <a:avLst/>
          </a:prstGeom>
          <a:noFill/>
        </p:spPr>
        <p:txBody>
          <a:bodyPr wrap="square" anchor="t" lIns="0" rIns="0" tIns="0" bIns="0">
            <a:spAutoFit/>
          </a:bodyPr>
          <a:lstStyle/>
          <a:p>
            <a:pPr algn="l" marL="201168" indent="-182880">
              <a:spcAft>
                <a:spcPts val="1000"/>
              </a:spcAft>
              <a:buFont typeface="Arial"/>
              <a:buChar char="•"/>
            </a:pPr>
            <a:r>
              <a:rPr sz="2000" b="0" i="0">
                <a:solidFill>
                  <a:srgbClr val="FFFFFF"/>
                </a:solidFill>
                <a:latin typeface="Calibri"/>
              </a:rPr>
              <a:t>Wrapping the Go client works, but only safely out of process, and most of the effort is glue code.</a:t>
            </a:r>
          </a:p>
          <a:p>
            <a:pPr algn="l" marL="201168" indent="-182880">
              <a:spcAft>
                <a:spcPts val="1000"/>
              </a:spcAft>
              <a:buFont typeface="Arial"/>
              <a:buChar char="•"/>
            </a:pPr>
            <a:r>
              <a:rPr sz="2000" b="0" i="0">
                <a:solidFill>
                  <a:srgbClr val="FFFFFF"/>
                </a:solidFill>
                <a:latin typeface="Calibri"/>
              </a:rPr>
              <a:t>The bridge prototype, test suite, and plans are ready to carry into Sprint 5.</a:t>
            </a:r>
          </a:p>
          <a:p>
            <a:pPr algn="l" marL="201168" indent="-182880">
              <a:spcAft>
                <a:spcPts val="1000"/>
              </a:spcAft>
              <a:buFont typeface="Arial"/>
              <a:buChar char="•"/>
            </a:pPr>
            <a:r>
              <a:rPr sz="2000" b="0" i="0">
                <a:solidFill>
                  <a:srgbClr val="FFFFFF"/>
                </a:solidFill>
                <a:latin typeface="Calibri"/>
              </a:rPr>
              <a:t>Joe agreed the SDK should move to the C# client, so that is the first job in Sprint 5.</a:t>
            </a:r>
          </a:p>
        </p:txBody>
      </p:sp>
      <p:sp>
        <p:nvSpPr>
          <p:cNvPr id="7" name="TextBox 6"/>
          <p:cNvSpPr txBox="1"/>
          <p:nvPr/>
        </p:nvSpPr>
        <p:spPr>
          <a:xfrm>
            <a:off x="822960" y="4937760"/>
            <a:ext cx="9144000" cy="1097280"/>
          </a:xfrm>
          <a:prstGeom prst="rect">
            <a:avLst/>
          </a:prstGeom>
          <a:noFill/>
        </p:spPr>
        <p:txBody>
          <a:bodyPr wrap="square" anchor="t" lIns="0" rIns="0" tIns="0" bIns="0">
            <a:spAutoFit/>
          </a:bodyPr>
          <a:lstStyle/>
          <a:p>
            <a:pPr algn="l">
              <a:spcAft>
                <a:spcPts val="400"/>
              </a:spcAft>
            </a:pPr>
            <a:r>
              <a:rPr sz="2000" b="1" i="0">
                <a:solidFill>
                  <a:srgbClr val="F2A541"/>
                </a:solidFill>
                <a:latin typeface="Calibri"/>
              </a:rPr>
              <a:t>Thank you to Joe Stanley and SEL, and to the course staff.</a:t>
            </a:r>
          </a:p>
          <a:p>
            <a:pPr algn="l">
              <a:spcAft>
                <a:spcPts val="600"/>
              </a:spcAft>
            </a:pPr>
            <a:r>
              <a:rPr sz="1600" b="0" i="0">
                <a:solidFill>
                  <a:srgbClr val="C9D3DE"/>
                </a:solidFill>
                <a:latin typeface="Calibri"/>
              </a:rPr>
              <a:t>Questions and feedback are welcome.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Demo: ctypes Transport</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Go runs inside the Python process  |  Lucas Phillips</a:t>
            </a:r>
          </a:p>
        </p:txBody>
      </p:sp>
      <p:sp>
        <p:nvSpPr>
          <p:cNvPr id="5" name="TextBox 4"/>
          <p:cNvSpPr txBox="1"/>
          <p:nvPr/>
        </p:nvSpPr>
        <p:spPr>
          <a:xfrm>
            <a:off x="548640" y="1554480"/>
            <a:ext cx="5486040" cy="274680"/>
          </a:xfrm>
          <a:prstGeom prst="rect">
            <a:avLst/>
          </a:prstGeom>
          <a:noFill/>
        </p:spPr>
        <p:txBody>
          <a:bodyPr wrap="square" lIns="0" rIns="0" tIns="0" bIns="0">
            <a:spAutoFit/>
          </a:bodyPr>
          <a:lstStyle/>
          <a:p>
            <a:pPr>
              <a:spcAft>
                <a:spcPts val="400"/>
              </a:spcAft>
            </a:pPr>
            <a:r>
              <a:rPr sz="1800" b="1">
                <a:solidFill>
                  <a:srgbClr val="1B2A41"/>
                </a:solidFill>
                <a:latin typeface="Cambria"/>
              </a:rPr>
              <a:t>What we will show</a:t>
            </a:r>
          </a:p>
        </p:txBody>
      </p:sp>
      <p:sp>
        <p:nvSpPr>
          <p:cNvPr id="6" name="Rounded Rectangle 5"/>
          <p:cNvSpPr/>
          <p:nvPr/>
        </p:nvSpPr>
        <p:spPr>
          <a:xfrm>
            <a:off x="548640" y="1965960"/>
            <a:ext cx="5668920" cy="9687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265960"/>
            <a:ext cx="368000" cy="3680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400"/>
              </a:spcAft>
            </a:pPr>
            <a:r>
              <a:rPr sz="1400" b="1">
                <a:solidFill>
                  <a:srgbClr val="1B2A41"/>
                </a:solidFill>
                <a:latin typeface="Cambria"/>
              </a:rPr>
              <a:t>1</a:t>
            </a:r>
          </a:p>
        </p:txBody>
      </p:sp>
      <p:sp>
        <p:nvSpPr>
          <p:cNvPr id="8" name="TextBox 7"/>
          <p:cNvSpPr txBox="1"/>
          <p:nvPr/>
        </p:nvSpPr>
        <p:spPr>
          <a:xfrm>
            <a:off x="1280160" y="2115960"/>
            <a:ext cx="4800000" cy="700000"/>
          </a:xfrm>
          <a:prstGeom prst="rect">
            <a:avLst/>
          </a:prstGeom>
          <a:noFill/>
        </p:spPr>
        <p:txBody>
          <a:bodyPr wrap="square" lIns="0" rIns="0" tIns="0" bIns="0">
            <a:spAutoFit/>
          </a:bodyPr>
          <a:lstStyle/>
          <a:p>
            <a:pPr>
              <a:spcAft>
                <a:spcPts val="400"/>
              </a:spcAft>
            </a:pPr>
            <a:r>
              <a:rPr sz="1500" b="1">
                <a:solidFill>
                  <a:srgbClr val="1B2A41"/>
                </a:solidFill>
                <a:latin typeface="Cambria"/>
              </a:rPr>
              <a:t>Go library loads into Python</a:t>
            </a:r>
          </a:p>
        </p:txBody>
      </p:sp>
      <p:sp>
        <p:nvSpPr>
          <p:cNvPr id="9" name="TextBox 8"/>
          <p:cNvSpPr txBox="1"/>
          <p:nvPr/>
        </p:nvSpPr>
        <p:spPr>
          <a:xfrm>
            <a:off x="1280160" y="2435960"/>
            <a:ext cx="4800000" cy="450000"/>
          </a:xfrm>
          <a:prstGeom prst="rect">
            <a:avLst/>
          </a:prstGeom>
          <a:noFill/>
        </p:spPr>
        <p:txBody>
          <a:bodyPr wrap="square" lIns="0" rIns="0" tIns="0" bIns="0">
            <a:spAutoFit/>
          </a:bodyPr>
          <a:lstStyle/>
          <a:p>
            <a:pPr>
              <a:spcAft>
                <a:spcPts val="400"/>
              </a:spcAft>
            </a:pPr>
            <a:r>
              <a:rPr sz="1200" b="0">
                <a:solidFill>
                  <a:srgbClr val="1F2933"/>
                </a:solidFill>
                <a:latin typeface="Calibri"/>
              </a:rPr>
              <a:t>libgosignals.so is mapped into our process and there are no child processes</a:t>
            </a:r>
          </a:p>
        </p:txBody>
      </p:sp>
      <p:sp>
        <p:nvSpPr>
          <p:cNvPr id="10" name="Rounded Rectangle 9"/>
          <p:cNvSpPr/>
          <p:nvPr/>
        </p:nvSpPr>
        <p:spPr>
          <a:xfrm>
            <a:off x="548640" y="3045240"/>
            <a:ext cx="5668920" cy="9687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345240"/>
            <a:ext cx="368000" cy="3680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400"/>
              </a:spcAft>
            </a:pPr>
            <a:r>
              <a:rPr sz="1400" b="1">
                <a:solidFill>
                  <a:srgbClr val="1B2A41"/>
                </a:solidFill>
                <a:latin typeface="Cambria"/>
              </a:rPr>
              <a:t>2</a:t>
            </a:r>
          </a:p>
        </p:txBody>
      </p:sp>
      <p:sp>
        <p:nvSpPr>
          <p:cNvPr id="12" name="TextBox 11"/>
          <p:cNvSpPr txBox="1"/>
          <p:nvPr/>
        </p:nvSpPr>
        <p:spPr>
          <a:xfrm>
            <a:off x="1280160" y="3195240"/>
            <a:ext cx="4800000" cy="700000"/>
          </a:xfrm>
          <a:prstGeom prst="rect">
            <a:avLst/>
          </a:prstGeom>
          <a:noFill/>
        </p:spPr>
        <p:txBody>
          <a:bodyPr wrap="square" lIns="0" rIns="0" tIns="0" bIns="0">
            <a:spAutoFit/>
          </a:bodyPr>
          <a:lstStyle/>
          <a:p>
            <a:pPr>
              <a:spcAft>
                <a:spcPts val="400"/>
              </a:spcAft>
            </a:pPr>
            <a:r>
              <a:rPr sz="1500" b="1">
                <a:solidFill>
                  <a:srgbClr val="1B2A41"/>
                </a:solidFill>
                <a:latin typeface="Cambria"/>
              </a:rPr>
              <a:t>Publish and fetch with numpy</a:t>
            </a:r>
          </a:p>
        </p:txBody>
      </p:sp>
      <p:sp>
        <p:nvSpPr>
          <p:cNvPr id="13" name="TextBox 12"/>
          <p:cNvSpPr txBox="1"/>
          <p:nvPr/>
        </p:nvSpPr>
        <p:spPr>
          <a:xfrm>
            <a:off x="1280160" y="3515240"/>
            <a:ext cx="4800000" cy="450000"/>
          </a:xfrm>
          <a:prstGeom prst="rect">
            <a:avLst/>
          </a:prstGeom>
          <a:noFill/>
        </p:spPr>
        <p:txBody>
          <a:bodyPr wrap="square" lIns="0" rIns="0" tIns="0" bIns="0">
            <a:spAutoFit/>
          </a:bodyPr>
          <a:lstStyle/>
          <a:p>
            <a:pPr>
              <a:spcAft>
                <a:spcPts val="400"/>
              </a:spcAft>
            </a:pPr>
            <a:r>
              <a:rPr sz="1200" b="0">
                <a:solidFill>
                  <a:srgbClr val="1F2933"/>
                </a:solidFill>
                <a:latin typeface="Calibri"/>
              </a:rPr>
              <a:t>Two phases published, history fetched back as a numpy array</a:t>
            </a:r>
          </a:p>
        </p:txBody>
      </p:sp>
      <p:sp>
        <p:nvSpPr>
          <p:cNvPr id="14" name="Rounded Rectangle 13"/>
          <p:cNvSpPr/>
          <p:nvPr/>
        </p:nvSpPr>
        <p:spPr>
          <a:xfrm>
            <a:off x="548640" y="4124520"/>
            <a:ext cx="5668920" cy="9687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424520"/>
            <a:ext cx="368000" cy="3680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400"/>
              </a:spcAft>
            </a:pPr>
            <a:r>
              <a:rPr sz="1400" b="1">
                <a:solidFill>
                  <a:srgbClr val="1B2A41"/>
                </a:solidFill>
                <a:latin typeface="Cambria"/>
              </a:rPr>
              <a:t>3</a:t>
            </a:r>
          </a:p>
        </p:txBody>
      </p:sp>
      <p:sp>
        <p:nvSpPr>
          <p:cNvPr id="16" name="TextBox 15"/>
          <p:cNvSpPr txBox="1"/>
          <p:nvPr/>
        </p:nvSpPr>
        <p:spPr>
          <a:xfrm>
            <a:off x="1280160" y="4274520"/>
            <a:ext cx="4800000" cy="700000"/>
          </a:xfrm>
          <a:prstGeom prst="rect">
            <a:avLst/>
          </a:prstGeom>
          <a:noFill/>
        </p:spPr>
        <p:txBody>
          <a:bodyPr wrap="square" lIns="0" rIns="0" tIns="0" bIns="0">
            <a:spAutoFit/>
          </a:bodyPr>
          <a:lstStyle/>
          <a:p>
            <a:pPr>
              <a:spcAft>
                <a:spcPts val="400"/>
              </a:spcAft>
            </a:pPr>
            <a:r>
              <a:rPr sz="1500" b="1">
                <a:solidFill>
                  <a:srgbClr val="1B2A41"/>
                </a:solidFill>
                <a:latin typeface="Cambria"/>
              </a:rPr>
              <a:t>Aligned view and bad input</a:t>
            </a:r>
          </a:p>
        </p:txBody>
      </p:sp>
      <p:sp>
        <p:nvSpPr>
          <p:cNvPr id="17" name="TextBox 16"/>
          <p:cNvSpPr txBox="1"/>
          <p:nvPr/>
        </p:nvSpPr>
        <p:spPr>
          <a:xfrm>
            <a:off x="1280160" y="4594520"/>
            <a:ext cx="4800000" cy="450000"/>
          </a:xfrm>
          <a:prstGeom prst="rect">
            <a:avLst/>
          </a:prstGeom>
          <a:noFill/>
        </p:spPr>
        <p:txBody>
          <a:bodyPr wrap="square" lIns="0" rIns="0" tIns="0" bIns="0">
            <a:spAutoFit/>
          </a:bodyPr>
          <a:lstStyle/>
          <a:p>
            <a:pPr>
              <a:spcAft>
                <a:spcPts val="400"/>
              </a:spcAft>
            </a:pPr>
            <a:r>
              <a:rPr sz="1200" b="0">
                <a:solidFill>
                  <a:srgbClr val="1F2933"/>
                </a:solidFill>
                <a:latin typeface="Calibri"/>
              </a:rPr>
              <a:t>Both phases read on one time grid, and bad input gives a Python exception</a:t>
            </a:r>
          </a:p>
        </p:txBody>
      </p:sp>
      <p:sp>
        <p:nvSpPr>
          <p:cNvPr id="18" name="TextBox 17"/>
          <p:cNvSpPr txBox="1"/>
          <p:nvPr/>
        </p:nvSpPr>
        <p:spPr>
          <a:xfrm>
            <a:off x="6492240" y="1554480"/>
            <a:ext cx="5166000" cy="274680"/>
          </a:xfrm>
          <a:prstGeom prst="rect">
            <a:avLst/>
          </a:prstGeom>
          <a:noFill/>
        </p:spPr>
        <p:txBody>
          <a:bodyPr wrap="square" lIns="0" rIns="0" tIns="0" bIns="0">
            <a:spAutoFit/>
          </a:bodyPr>
          <a:lstStyle/>
          <a:p>
            <a:pPr>
              <a:spcAft>
                <a:spcPts val="400"/>
              </a:spcAft>
            </a:pPr>
            <a:r>
              <a:rPr sz="1800" b="1">
                <a:solidFill>
                  <a:srgbClr val="1B2A41"/>
                </a:solidFill>
                <a:latin typeface="Cambria"/>
              </a:rPr>
              <a:t>Run it</a:t>
            </a:r>
          </a:p>
        </p:txBody>
      </p:sp>
      <p:sp>
        <p:nvSpPr>
          <p:cNvPr id="19" name="Rounded Rectangle 18"/>
          <p:cNvSpPr/>
          <p:nvPr/>
        </p:nvSpPr>
        <p:spPr>
          <a:xfrm>
            <a:off x="6492240" y="1965960"/>
            <a:ext cx="5166000" cy="175000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100000"/>
            <a:ext cx="4800000" cy="1500000"/>
          </a:xfrm>
          <a:prstGeom prst="rect">
            <a:avLst/>
          </a:prstGeom>
          <a:noFill/>
        </p:spPr>
        <p:txBody>
          <a:bodyPr wrap="square" lIns="0" rIns="0" tIns="0" bIns="0">
            <a:spAutoFit/>
          </a:bodyPr>
          <a:lstStyle/>
          <a:p>
            <a:pPr>
              <a:spcAft>
                <a:spcPts val="400"/>
              </a:spcAft>
            </a:pPr>
            <a:r>
              <a:rPr sz="1200" b="0">
                <a:solidFill>
                  <a:srgbClr val="E8EEF4"/>
                </a:solidFill>
                <a:latin typeface="Consolas"/>
              </a:rPr>
              <a:t># 1. start the fake Signal Hub (prints 3 ports)</a:t>
            </a:r>
          </a:p>
          <a:p>
            <a:pPr>
              <a:spcAft>
                <a:spcPts val="400"/>
              </a:spcAft>
            </a:pPr>
            <a:r>
              <a:rPr sz="1200" b="0">
                <a:solidFill>
                  <a:srgbClr val="E8EEF4"/>
                </a:solidFill>
                <a:latin typeface="Consolas"/>
              </a:rPr>
              <a:t>./build/testhub</a:t>
            </a:r>
          </a:p>
          <a:p>
            <a:pPr>
              <a:spcAft>
                <a:spcPts val="400"/>
              </a:spcAft>
            </a:pPr>
            <a:r>
              <a:rPr sz="1200" b="0">
                <a:solidFill>
                  <a:srgbClr val="E8EEF4"/>
                </a:solidFill>
                <a:latin typeface="Consolas"/>
              </a:rPr>
              <a:t/>
            </a:r>
          </a:p>
          <a:p>
            <a:pPr>
              <a:spcAft>
                <a:spcPts val="400"/>
              </a:spcAft>
            </a:pPr>
            <a:r>
              <a:rPr sz="1200" b="0">
                <a:solidFill>
                  <a:srgbClr val="E8EEF4"/>
                </a:solidFill>
                <a:latin typeface="Consolas"/>
              </a:rPr>
              <a:t># 2. run the demo with those ports</a:t>
            </a:r>
          </a:p>
          <a:p>
            <a:pPr>
              <a:spcAft>
                <a:spcPts val="400"/>
              </a:spcAft>
            </a:pPr>
            <a:r>
              <a:rPr sz="1200" b="0">
                <a:solidFill>
                  <a:srgbClr val="E8EEF4"/>
                </a:solidFill>
                <a:latin typeface="Consolas"/>
              </a:rPr>
              <a:t>python examples/demo_ctypes.py HUB GRAPH NATS</a:t>
            </a:r>
          </a:p>
        </p:txBody>
      </p:sp>
      <p:sp>
        <p:nvSpPr>
          <p:cNvPr id="21" name="TextBox 20"/>
          <p:cNvSpPr txBox="1"/>
          <p:nvPr/>
        </p:nvSpPr>
        <p:spPr>
          <a:xfrm>
            <a:off x="6492240" y="3900000"/>
            <a:ext cx="5166000" cy="274680"/>
          </a:xfrm>
          <a:prstGeom prst="rect">
            <a:avLst/>
          </a:prstGeom>
          <a:noFill/>
        </p:spPr>
        <p:txBody>
          <a:bodyPr wrap="square" lIns="0" rIns="0" tIns="0" bIns="0">
            <a:spAutoFit/>
          </a:bodyPr>
          <a:lstStyle/>
          <a:p>
            <a:pPr>
              <a:spcAft>
                <a:spcPts val="400"/>
              </a:spcAft>
            </a:pPr>
            <a:r>
              <a:rPr sz="1800" b="1">
                <a:solidFill>
                  <a:srgbClr val="1B2A41"/>
                </a:solidFill>
                <a:latin typeface="Cambria"/>
              </a:rPr>
              <a:t>Point out</a:t>
            </a:r>
          </a:p>
        </p:txBody>
      </p:sp>
      <p:sp>
        <p:nvSpPr>
          <p:cNvPr id="22" name="Rounded Rectangle 21"/>
          <p:cNvSpPr/>
          <p:nvPr/>
        </p:nvSpPr>
        <p:spPr>
          <a:xfrm>
            <a:off x="6492240" y="4300000"/>
            <a:ext cx="5166000" cy="1960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420000"/>
            <a:ext cx="4800000" cy="1750000"/>
          </a:xfrm>
          <a:prstGeom prst="rect">
            <a:avLst/>
          </a:prstGeom>
          <a:noFill/>
        </p:spPr>
        <p:txBody>
          <a:bodyPr wrap="square" lIns="0" rIns="0" tIns="0" bIns="0">
            <a:spAutoFit/>
          </a:bodyPr>
          <a:lstStyle/>
          <a:p>
            <a:pPr>
              <a:spcAft>
                <a:spcPts val="400"/>
              </a:spcAft>
            </a:pPr>
            <a:r>
              <a:rPr sz="1300" b="0">
                <a:solidFill>
                  <a:srgbClr val="1F2933"/>
                </a:solidFill>
                <a:latin typeface="Calibri"/>
              </a:rPr>
              <a:t>•  Python calls straight into the 23 function C interface</a:t>
            </a:r>
          </a:p>
          <a:p>
            <a:pPr>
              <a:spcAft>
                <a:spcPts val="400"/>
              </a:spcAft>
            </a:pPr>
            <a:r>
              <a:rPr sz="1300" b="0">
                <a:solidFill>
                  <a:srgbClr val="1F2933"/>
                </a:solidFill>
                <a:latin typeface="Calibri"/>
              </a:rPr>
              <a:t>•  Same Python code as the bridge demo, only transport= changes</a:t>
            </a:r>
          </a:p>
          <a:p>
            <a:pPr>
              <a:spcAft>
                <a:spcPts val="400"/>
              </a:spcAft>
            </a:pPr>
            <a:r>
              <a:rPr sz="1300" b="0">
                <a:solidFill>
                  <a:srgbClr val="1F2933"/>
                </a:solidFill>
                <a:latin typeface="Calibri"/>
              </a:rPr>
              <a:t>•  Trade-off: a Go crash or hang takes the Python session with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Demo: Python Bridge Transport</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Go runs in a separate process behind gRPC  |  Lucas Phillips</a:t>
            </a:r>
          </a:p>
        </p:txBody>
      </p:sp>
      <p:sp>
        <p:nvSpPr>
          <p:cNvPr id="5" name="TextBox 4"/>
          <p:cNvSpPr txBox="1"/>
          <p:nvPr/>
        </p:nvSpPr>
        <p:spPr>
          <a:xfrm>
            <a:off x="548640" y="1554480"/>
            <a:ext cx="5486040" cy="274680"/>
          </a:xfrm>
          <a:prstGeom prst="rect">
            <a:avLst/>
          </a:prstGeom>
          <a:noFill/>
        </p:spPr>
        <p:txBody>
          <a:bodyPr wrap="square" lIns="0" rIns="0" tIns="0" bIns="0">
            <a:spAutoFit/>
          </a:bodyPr>
          <a:lstStyle/>
          <a:p>
            <a:pPr>
              <a:spcAft>
                <a:spcPts val="400"/>
              </a:spcAft>
            </a:pPr>
            <a:r>
              <a:rPr sz="1800" b="1">
                <a:solidFill>
                  <a:srgbClr val="1B2A41"/>
                </a:solidFill>
                <a:latin typeface="Cambria"/>
              </a:rPr>
              <a:t>What we will show</a:t>
            </a:r>
          </a:p>
        </p:txBody>
      </p:sp>
      <p:sp>
        <p:nvSpPr>
          <p:cNvPr id="6" name="Rounded Rectangle 5"/>
          <p:cNvSpPr/>
          <p:nvPr/>
        </p:nvSpPr>
        <p:spPr>
          <a:xfrm>
            <a:off x="548640" y="1965960"/>
            <a:ext cx="5668920" cy="9687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265960"/>
            <a:ext cx="368000" cy="3680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400"/>
              </a:spcAft>
            </a:pPr>
            <a:r>
              <a:rPr sz="1400" b="1">
                <a:solidFill>
                  <a:srgbClr val="1B2A41"/>
                </a:solidFill>
                <a:latin typeface="Cambria"/>
              </a:rPr>
              <a:t>1</a:t>
            </a:r>
          </a:p>
        </p:txBody>
      </p:sp>
      <p:sp>
        <p:nvSpPr>
          <p:cNvPr id="8" name="TextBox 7"/>
          <p:cNvSpPr txBox="1"/>
          <p:nvPr/>
        </p:nvSpPr>
        <p:spPr>
          <a:xfrm>
            <a:off x="1280160" y="2115960"/>
            <a:ext cx="4800000" cy="700000"/>
          </a:xfrm>
          <a:prstGeom prst="rect">
            <a:avLst/>
          </a:prstGeom>
          <a:noFill/>
        </p:spPr>
        <p:txBody>
          <a:bodyPr wrap="square" lIns="0" rIns="0" tIns="0" bIns="0">
            <a:spAutoFit/>
          </a:bodyPr>
          <a:lstStyle/>
          <a:p>
            <a:pPr>
              <a:spcAft>
                <a:spcPts val="400"/>
              </a:spcAft>
            </a:pPr>
            <a:r>
              <a:rPr sz="1500" b="1">
                <a:solidFill>
                  <a:srgbClr val="1B2A41"/>
                </a:solidFill>
                <a:latin typeface="Cambria"/>
              </a:rPr>
              <a:t>Go runs as a child process</a:t>
            </a:r>
          </a:p>
        </p:txBody>
      </p:sp>
      <p:sp>
        <p:nvSpPr>
          <p:cNvPr id="9" name="TextBox 8"/>
          <p:cNvSpPr txBox="1"/>
          <p:nvPr/>
        </p:nvSpPr>
        <p:spPr>
          <a:xfrm>
            <a:off x="1280160" y="2435960"/>
            <a:ext cx="4800000" cy="450000"/>
          </a:xfrm>
          <a:prstGeom prst="rect">
            <a:avLst/>
          </a:prstGeom>
          <a:noFill/>
        </p:spPr>
        <p:txBody>
          <a:bodyPr wrap="square" lIns="0" rIns="0" tIns="0" bIns="0">
            <a:spAutoFit/>
          </a:bodyPr>
          <a:lstStyle/>
          <a:p>
            <a:pPr>
              <a:spcAft>
                <a:spcPts val="400"/>
              </a:spcAft>
            </a:pPr>
            <a:r>
              <a:rPr sz="1200" b="0">
                <a:solidFill>
                  <a:srgbClr val="1F2933"/>
                </a:solidFill>
                <a:latin typeface="Calibri"/>
              </a:rPr>
              <a:t>The bridge has its own pid and Python never loads Go code</a:t>
            </a:r>
          </a:p>
        </p:txBody>
      </p:sp>
      <p:sp>
        <p:nvSpPr>
          <p:cNvPr id="10" name="Rounded Rectangle 9"/>
          <p:cNvSpPr/>
          <p:nvPr/>
        </p:nvSpPr>
        <p:spPr>
          <a:xfrm>
            <a:off x="548640" y="3045240"/>
            <a:ext cx="5668920" cy="9687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345240"/>
            <a:ext cx="368000" cy="3680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400"/>
              </a:spcAft>
            </a:pPr>
            <a:r>
              <a:rPr sz="1400" b="1">
                <a:solidFill>
                  <a:srgbClr val="1B2A41"/>
                </a:solidFill>
                <a:latin typeface="Cambria"/>
              </a:rPr>
              <a:t>2</a:t>
            </a:r>
          </a:p>
        </p:txBody>
      </p:sp>
      <p:sp>
        <p:nvSpPr>
          <p:cNvPr id="12" name="TextBox 11"/>
          <p:cNvSpPr txBox="1"/>
          <p:nvPr/>
        </p:nvSpPr>
        <p:spPr>
          <a:xfrm>
            <a:off x="1280160" y="3195240"/>
            <a:ext cx="4800000" cy="700000"/>
          </a:xfrm>
          <a:prstGeom prst="rect">
            <a:avLst/>
          </a:prstGeom>
          <a:noFill/>
        </p:spPr>
        <p:txBody>
          <a:bodyPr wrap="square" lIns="0" rIns="0" tIns="0" bIns="0">
            <a:spAutoFit/>
          </a:bodyPr>
          <a:lstStyle/>
          <a:p>
            <a:pPr>
              <a:spcAft>
                <a:spcPts val="400"/>
              </a:spcAft>
            </a:pPr>
            <a:r>
              <a:rPr sz="1500" b="1">
                <a:solidFill>
                  <a:srgbClr val="1B2A41"/>
                </a:solidFill>
                <a:latin typeface="Cambria"/>
              </a:rPr>
              <a:t>Same calls, same results</a:t>
            </a:r>
          </a:p>
        </p:txBody>
      </p:sp>
      <p:sp>
        <p:nvSpPr>
          <p:cNvPr id="13" name="TextBox 12"/>
          <p:cNvSpPr txBox="1"/>
          <p:nvPr/>
        </p:nvSpPr>
        <p:spPr>
          <a:xfrm>
            <a:off x="1280160" y="3515240"/>
            <a:ext cx="4800000" cy="450000"/>
          </a:xfrm>
          <a:prstGeom prst="rect">
            <a:avLst/>
          </a:prstGeom>
          <a:noFill/>
        </p:spPr>
        <p:txBody>
          <a:bodyPr wrap="square" lIns="0" rIns="0" tIns="0" bIns="0">
            <a:spAutoFit/>
          </a:bodyPr>
          <a:lstStyle/>
          <a:p>
            <a:pPr>
              <a:spcAft>
                <a:spcPts val="400"/>
              </a:spcAft>
            </a:pPr>
            <a:r>
              <a:rPr sz="1200" b="0">
                <a:solidFill>
                  <a:srgbClr val="1F2933"/>
                </a:solidFill>
                <a:latin typeface="Calibri"/>
              </a:rPr>
              <a:t>Identical publish, fetch, and aligned view code as the ctypes demo</a:t>
            </a:r>
          </a:p>
        </p:txBody>
      </p:sp>
      <p:sp>
        <p:nvSpPr>
          <p:cNvPr id="14" name="Rounded Rectangle 13"/>
          <p:cNvSpPr/>
          <p:nvPr/>
        </p:nvSpPr>
        <p:spPr>
          <a:xfrm>
            <a:off x="548640" y="4124520"/>
            <a:ext cx="5668920" cy="9687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424520"/>
            <a:ext cx="368000" cy="3680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400"/>
              </a:spcAft>
            </a:pPr>
            <a:r>
              <a:rPr sz="1400" b="1">
                <a:solidFill>
                  <a:srgbClr val="1B2A41"/>
                </a:solidFill>
                <a:latin typeface="Cambria"/>
              </a:rPr>
              <a:t>3</a:t>
            </a:r>
          </a:p>
        </p:txBody>
      </p:sp>
      <p:sp>
        <p:nvSpPr>
          <p:cNvPr id="16" name="TextBox 15"/>
          <p:cNvSpPr txBox="1"/>
          <p:nvPr/>
        </p:nvSpPr>
        <p:spPr>
          <a:xfrm>
            <a:off x="1280160" y="4274520"/>
            <a:ext cx="4800000" cy="700000"/>
          </a:xfrm>
          <a:prstGeom prst="rect">
            <a:avLst/>
          </a:prstGeom>
          <a:noFill/>
        </p:spPr>
        <p:txBody>
          <a:bodyPr wrap="square" lIns="0" rIns="0" tIns="0" bIns="0">
            <a:spAutoFit/>
          </a:bodyPr>
          <a:lstStyle/>
          <a:p>
            <a:pPr>
              <a:spcAft>
                <a:spcPts val="400"/>
              </a:spcAft>
            </a:pPr>
            <a:r>
              <a:rPr sz="1500" b="1">
                <a:solidFill>
                  <a:srgbClr val="1B2A41"/>
                </a:solidFill>
                <a:latin typeface="Cambria"/>
              </a:rPr>
              <a:t>Kill Go on purpose</a:t>
            </a:r>
          </a:p>
        </p:txBody>
      </p:sp>
      <p:sp>
        <p:nvSpPr>
          <p:cNvPr id="17" name="TextBox 16"/>
          <p:cNvSpPr txBox="1"/>
          <p:nvPr/>
        </p:nvSpPr>
        <p:spPr>
          <a:xfrm>
            <a:off x="1280160" y="4594520"/>
            <a:ext cx="4800000" cy="450000"/>
          </a:xfrm>
          <a:prstGeom prst="rect">
            <a:avLst/>
          </a:prstGeom>
          <a:noFill/>
        </p:spPr>
        <p:txBody>
          <a:bodyPr wrap="square" lIns="0" rIns="0" tIns="0" bIns="0">
            <a:spAutoFit/>
          </a:bodyPr>
          <a:lstStyle/>
          <a:p>
            <a:pPr>
              <a:spcAft>
                <a:spcPts val="400"/>
              </a:spcAft>
            </a:pPr>
            <a:r>
              <a:rPr sz="1200" b="0">
                <a:solidFill>
                  <a:srgbClr val="1F2933"/>
                </a:solidFill>
                <a:latin typeface="Calibri"/>
              </a:rPr>
              <a:t>Python raises a normal exception and the session keeps running</a:t>
            </a:r>
          </a:p>
        </p:txBody>
      </p:sp>
      <p:sp>
        <p:nvSpPr>
          <p:cNvPr id="18" name="TextBox 17"/>
          <p:cNvSpPr txBox="1"/>
          <p:nvPr/>
        </p:nvSpPr>
        <p:spPr>
          <a:xfrm>
            <a:off x="6492240" y="1554480"/>
            <a:ext cx="5166000" cy="274680"/>
          </a:xfrm>
          <a:prstGeom prst="rect">
            <a:avLst/>
          </a:prstGeom>
          <a:noFill/>
        </p:spPr>
        <p:txBody>
          <a:bodyPr wrap="square" lIns="0" rIns="0" tIns="0" bIns="0">
            <a:spAutoFit/>
          </a:bodyPr>
          <a:lstStyle/>
          <a:p>
            <a:pPr>
              <a:spcAft>
                <a:spcPts val="400"/>
              </a:spcAft>
            </a:pPr>
            <a:r>
              <a:rPr sz="1800" b="1">
                <a:solidFill>
                  <a:srgbClr val="1B2A41"/>
                </a:solidFill>
                <a:latin typeface="Cambria"/>
              </a:rPr>
              <a:t>Run it</a:t>
            </a:r>
          </a:p>
        </p:txBody>
      </p:sp>
      <p:sp>
        <p:nvSpPr>
          <p:cNvPr id="19" name="Rounded Rectangle 18"/>
          <p:cNvSpPr/>
          <p:nvPr/>
        </p:nvSpPr>
        <p:spPr>
          <a:xfrm>
            <a:off x="6492240" y="1965960"/>
            <a:ext cx="5166000" cy="175000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100000"/>
            <a:ext cx="4800000" cy="1500000"/>
          </a:xfrm>
          <a:prstGeom prst="rect">
            <a:avLst/>
          </a:prstGeom>
          <a:noFill/>
        </p:spPr>
        <p:txBody>
          <a:bodyPr wrap="square" lIns="0" rIns="0" tIns="0" bIns="0">
            <a:spAutoFit/>
          </a:bodyPr>
          <a:lstStyle/>
          <a:p>
            <a:pPr>
              <a:spcAft>
                <a:spcPts val="400"/>
              </a:spcAft>
            </a:pPr>
            <a:r>
              <a:rPr sz="1200" b="0">
                <a:solidFill>
                  <a:srgbClr val="E8EEF4"/>
                </a:solidFill>
                <a:latin typeface="Consolas"/>
              </a:rPr>
              <a:t># 1. start the fake Signal Hub (prints 3 ports)</a:t>
            </a:r>
          </a:p>
          <a:p>
            <a:pPr>
              <a:spcAft>
                <a:spcPts val="400"/>
              </a:spcAft>
            </a:pPr>
            <a:r>
              <a:rPr sz="1200" b="0">
                <a:solidFill>
                  <a:srgbClr val="E8EEF4"/>
                </a:solidFill>
                <a:latin typeface="Consolas"/>
              </a:rPr>
              <a:t>./build/testhub</a:t>
            </a:r>
          </a:p>
          <a:p>
            <a:pPr>
              <a:spcAft>
                <a:spcPts val="400"/>
              </a:spcAft>
            </a:pPr>
            <a:r>
              <a:rPr sz="1200" b="0">
                <a:solidFill>
                  <a:srgbClr val="E8EEF4"/>
                </a:solidFill>
                <a:latin typeface="Consolas"/>
              </a:rPr>
              <a:t/>
            </a:r>
          </a:p>
          <a:p>
            <a:pPr>
              <a:spcAft>
                <a:spcPts val="400"/>
              </a:spcAft>
            </a:pPr>
            <a:r>
              <a:rPr sz="1200" b="0">
                <a:solidFill>
                  <a:srgbClr val="E8EEF4"/>
                </a:solidFill>
                <a:latin typeface="Consolas"/>
              </a:rPr>
              <a:t># 2. run the demo with those ports</a:t>
            </a:r>
          </a:p>
          <a:p>
            <a:pPr>
              <a:spcAft>
                <a:spcPts val="400"/>
              </a:spcAft>
            </a:pPr>
            <a:r>
              <a:rPr sz="1200" b="0">
                <a:solidFill>
                  <a:srgbClr val="E8EEF4"/>
                </a:solidFill>
                <a:latin typeface="Consolas"/>
              </a:rPr>
              <a:t>python examples/demo_bridge.py HUB GRAPH NATS</a:t>
            </a:r>
          </a:p>
        </p:txBody>
      </p:sp>
      <p:sp>
        <p:nvSpPr>
          <p:cNvPr id="21" name="TextBox 20"/>
          <p:cNvSpPr txBox="1"/>
          <p:nvPr/>
        </p:nvSpPr>
        <p:spPr>
          <a:xfrm>
            <a:off x="6492240" y="3900000"/>
            <a:ext cx="5166000" cy="274680"/>
          </a:xfrm>
          <a:prstGeom prst="rect">
            <a:avLst/>
          </a:prstGeom>
          <a:noFill/>
        </p:spPr>
        <p:txBody>
          <a:bodyPr wrap="square" lIns="0" rIns="0" tIns="0" bIns="0">
            <a:spAutoFit/>
          </a:bodyPr>
          <a:lstStyle/>
          <a:p>
            <a:pPr>
              <a:spcAft>
                <a:spcPts val="400"/>
              </a:spcAft>
            </a:pPr>
            <a:r>
              <a:rPr sz="1800" b="1">
                <a:solidFill>
                  <a:srgbClr val="1B2A41"/>
                </a:solidFill>
                <a:latin typeface="Cambria"/>
              </a:rPr>
              <a:t>Point out</a:t>
            </a:r>
          </a:p>
        </p:txBody>
      </p:sp>
      <p:sp>
        <p:nvSpPr>
          <p:cNvPr id="22" name="Rounded Rectangle 21"/>
          <p:cNvSpPr/>
          <p:nvPr/>
        </p:nvSpPr>
        <p:spPr>
          <a:xfrm>
            <a:off x="6492240" y="4300000"/>
            <a:ext cx="5166000" cy="1960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420000"/>
            <a:ext cx="4800000" cy="1750000"/>
          </a:xfrm>
          <a:prstGeom prst="rect">
            <a:avLst/>
          </a:prstGeom>
          <a:noFill/>
        </p:spPr>
        <p:txBody>
          <a:bodyPr wrap="square" lIns="0" rIns="0" tIns="0" bIns="0">
            <a:spAutoFit/>
          </a:bodyPr>
          <a:lstStyle/>
          <a:p>
            <a:pPr>
              <a:spcAft>
                <a:spcPts val="400"/>
              </a:spcAft>
            </a:pPr>
            <a:r>
              <a:rPr sz="1300" b="0">
                <a:solidFill>
                  <a:srgbClr val="1F2933"/>
                </a:solidFill>
                <a:latin typeface="Calibri"/>
              </a:rPr>
              <a:t>•  Only transport that keeps Python alive when Go dies</a:t>
            </a:r>
          </a:p>
          <a:p>
            <a:pPr>
              <a:spcAft>
                <a:spcPts val="400"/>
              </a:spcAft>
            </a:pPr>
            <a:r>
              <a:rPr sz="1300" b="0">
                <a:solidFill>
                  <a:srgbClr val="1F2933"/>
                </a:solidFill>
                <a:latin typeface="Calibri"/>
              </a:rPr>
              <a:t>•  17 M samples per second over the bridge</a:t>
            </a:r>
          </a:p>
          <a:p>
            <a:pPr>
              <a:spcAft>
                <a:spcPts val="400"/>
              </a:spcAft>
            </a:pPr>
            <a:r>
              <a:rPr sz="1300" b="0">
                <a:solidFill>
                  <a:srgbClr val="1F2933"/>
                </a:solidFill>
                <a:latin typeface="Calibri"/>
              </a:rPr>
              <a:t>•  Kept as the fallback if the C# move does not work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