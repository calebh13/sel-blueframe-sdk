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933"/>
                </a:solidFill>
              </a:rPr>
              <a:t>Bulk publish to subscribe, million samples per second</a:t>
            </a:r>
          </a:p>
        </c:rich>
      </c:tx>
      <c:layout/>
      <c:overlay val="0"/>
    </c:title>
    <c:autoTitleDeleted val="0"/>
    <c:plotArea>
      <c:barChart>
        <c:barDir val="bar"/>
        <c:grouping val="clustered"/>
        <c:ser>
          <c:idx val="0"/>
          <c:order val="0"/>
          <c:tx>
            <c:strRef>
              <c:f>Sheet1!$B$1</c:f>
              <c:strCache>
                <c:ptCount val="1"/>
                <c:pt idx="0">
                  <c:v>Bulk throughput (M samples/s)</c:v>
                </c:pt>
              </c:strCache>
            </c:strRef>
          </c:tx>
          <c:dPt>
            <c:idx val="0"/>
            <c:spPr>
              <a:solidFill>
                <a:srgbClr val="C9D3DE"/>
              </a:solidFill>
            </c:spPr>
          </c:dPt>
          <c:dPt>
            <c:idx val="1"/>
            <c:spPr>
              <a:solidFill>
                <a:srgbClr val="F2A541"/>
              </a:solidFill>
            </c:spPr>
          </c:dPt>
          <c:dPt>
            <c:idx val="2"/>
            <c:spPr>
              <a:solidFill>
                <a:srgbClr val="324A5F"/>
              </a:solidFill>
            </c:spPr>
          </c:dPt>
          <c:dPt>
            <c:idx val="3"/>
            <c:spPr>
              <a:solidFill>
                <a:srgbClr val="324A5F"/>
              </a:solidFill>
            </c:spPr>
          </c:dPt>
          <c:cat>
            <c:strRef>
              <c:f>Sheet1!$A$2:$A$5</c:f>
              <c:strCache>
                <c:ptCount val="4"/>
                <c:pt idx="0">
                  <c:v>Go alone</c:v>
                </c:pt>
                <c:pt idx="1">
                  <c:v>gRPC bridge</c:v>
                </c:pt>
                <c:pt idx="2">
                  <c:v>cffi</c:v>
                </c:pt>
                <c:pt idx="3">
                  <c:v>ctypes</c:v>
                </c:pt>
              </c:strCache>
            </c:strRef>
          </c:cat>
          <c:val>
            <c:numRef>
              <c:f>Sheet1!$B$2:$B$5</c:f>
              <c:numCache>
                <c:formatCode>General</c:formatCode>
                <c:ptCount val="4"/>
                <c:pt idx="0">
                  <c:v>23.3</c:v>
                </c:pt>
                <c:pt idx="1">
                  <c:v>16.9</c:v>
                </c:pt>
                <c:pt idx="2">
                  <c:v>14.2</c:v>
                </c:pt>
                <c:pt idx="3">
                  <c:v>14.1</c:v>
                </c:pt>
              </c:numCache>
            </c:numRef>
          </c:val>
        </c:ser>
        <c:dLbls>
          <c:numFmt formatCode="0.0" sourceLinked="0"/>
          <c:txPr>
            <a:bodyPr/>
            <a:lstStyle/>
            <a:p>
              <a:pPr>
                <a:defRPr sz="1300">
                  <a:solidFill>
                    <a:srgbClr val="1F2933"/>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C9D3DE"/>
            </a:solidFill>
          </a:ln>
        </c:spPr>
        <c:txPr>
          <a:bodyPr/>
          <a:lstStyle/>
          <a:p>
            <a:pPr>
              <a:defRPr sz="1300">
                <a:solidFill>
                  <a:srgbClr val="1F2933"/>
                </a:solidFill>
              </a:defRPr>
            </a:pPr>
          </a:p>
        </c:txPr>
        <c:crossAx val="-2113994440"/>
        <c:crosses val="autoZero"/>
        <c:auto val="1"/>
        <c:lblAlgn val="ctr"/>
        <c:lblOffset val="100"/>
        <c:noMultiLvlLbl val="0"/>
      </c:catAx>
      <c:valAx>
        <c:axId val="-2113994440"/>
        <c:scaling/>
        <c:delete val="0"/>
        <c:axPos val="b"/>
        <c:majorGridlines>
          <c:spPr>
            <a:ln>
              <a:solidFill>
                <a:srgbClr val="EEF2F6"/>
              </a:solidFill>
            </a:ln>
          </c:spPr>
        </c:majorGridlines>
        <c:majorTickMark val="out"/>
        <c:minorTickMark val="none"/>
        <c:tickLblPos val="nextTo"/>
        <c:spPr>
          <a:ln>
            <a:noFill/>
          </a:ln>
        </c:spPr>
        <c:txPr>
          <a:bodyPr/>
          <a:lstStyle/>
          <a:p>
            <a:pPr>
              <a:defRPr sz="1100">
                <a:solidFill>
                  <a:srgbClr val="5B6B7A"/>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Lucas Phillips</a:t>
            </a:r>
          </a:p>
          <a:p/>
          <a:p>
            <a:r>
              <a:t>Open the video. Say the project name, the course, and that this is the Sprint 4 walkthrough. Mention that we will go round robin, so each section is presented by a different person.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Lucas Phillips</a:t>
            </a:r>
          </a:p>
          <a:p/>
          <a:p>
            <a:r>
              <a:t>Give the one line version of the project. Blueframe, Signal Hub, Python SDK that wraps the existing client. Introduce each person and their role. Then say the Sprint 4 goal was to find out whether wrapping Go is worth it and to settle the plans before building.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Caleb Hansen</a:t>
            </a:r>
          </a:p>
          <a:p/>
          <a:p>
            <a:r>
              <a:t>Walk through the four objectives from the project plan. Explain that Sprint 4 was scoped as planning and investigation, and that the reason is Joe's concern about double maintenance. End with how this ties into the long-term goal.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Genevieve Kochel</a:t>
            </a:r>
          </a:p>
          <a:p/>
          <a:p>
            <a:r>
              <a:t>Give the overview of who built what. Each person presents their own feature on the next slides. Point out that for this project the research and prototype are the bulk of the feature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Genevieve Kochel</a:t>
            </a:r>
          </a:p>
          <a:p/>
          <a:p>
            <a:r>
              <a:t>Before, we had been blocked on code access since Sprint 2. Explain getting the C# and C++ versions and separating the Go client from the server code, since that is what let Caleb and Lucas start. Then cover the Python.NET research and why .NET could avoid the glue code Go needs. Mention the hands-on C# test is the first thing in Sprint 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Caleb Hansen</a:t>
            </a:r>
          </a:p>
          <a:p/>
          <a:p>
            <a:r>
              <a:t>Explain the original CGo plan and why it seemed easy. Then go through the five problems. The main point is that a Go shared library is not compiled C, it carries the whole Go runtime into Python. Close with the repo setup and the Claude skills used to get the team up to speed on the codebase.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Lucas Phillips</a:t>
            </a:r>
          </a:p>
          <a:p/>
          <a:p>
            <a:r>
              <a:t>Before this sprint we only had the COMTRADE wrapper, which is much simpler than the real client. Explain the three transports and that they all sit behind the same Python API so the comparison is fair. The table is the key result. All three work, but only the bridge survives a crash in the Go code, and it needs no Go changes.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Lucas Phillips</a:t>
            </a:r>
          </a:p>
          <a:p/>
          <a:p>
            <a:r>
              <a:t>If recording live, start the fake hub with ./build/testhub and run examples/quickstart.py with the three ports it prints. Walk through each line of output. Then show the test run summary. The last line of the quickstart is a deliberate mistake to show errors come back as Python exceptions.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Lucas Phillips</a:t>
            </a:r>
          </a:p>
          <a:p/>
          <a:p>
            <a:r>
              <a:t>The bridge is actually a bit faster in bulk because it moves whole batches. Per call it is slower, so the API batches data. Latency is the same for all three since it comes from the client. Then give the recommendation, which Joe agreed with on September 28.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Lucas Phillips</a:t>
            </a:r>
          </a:p>
          <a:p/>
          <a:p>
            <a:r>
              <a:t>Go top to bottom through the layers. The important part is that the Go facade is shared by every transport, so the choice of transport does not change the Python API. Then cover the design rules, which came from problems seen in the first prototype.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Darron Li</a:t>
            </a:r>
          </a:p>
          <a:p/>
          <a:p>
            <a:r>
              <a:t>Walk through the docs tree and who each part is for. Engineers never need to read Go. Then cover tooling and conventions, and finish with how a future developer adds a function to the wrapper.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Genevieve Kochel</a:t>
            </a:r>
          </a:p>
          <a:p/>
          <a:p>
            <a:r>
              <a:t>Cover the test categories and how the fake Signal Hub makes them possible outside SEL. Explain the rule that the SEL client is the source of truth. Then give the results and the gaps, and the workflow going forward.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Genevieve Kochel</a:t>
            </a:r>
          </a:p>
          <a:p/>
          <a:p>
            <a:r>
              <a:t>Show the board filtered to Sprint 4 and 5. Point out the Done column and that the two remaining items are the deck itself and the C# evaluation moved to Sprint 5. Then briefly say what each person contributed.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Darron Li</a:t>
            </a:r>
          </a:p>
          <a:p/>
          <a:p>
            <a:r>
              <a:t>Open the MoM folder on GitHub. Go through the two meetings. The first set the goals and constraints for the semester. The second was where the team presented the Go findings and agreed on the direction for Sprint 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Lucas Phillips</a:t>
            </a:r>
          </a:p>
          <a:p/>
          <a:p>
            <a:r>
              <a:t>Scroll through the Sprint 4 report on GitHub section by section. Then show the docs/Sprint4 folder and the README. Mention that the prototype code is not in the public repo on purpose because the client is SEL Confidential.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Caleb Hansen</a:t>
            </a:r>
          </a:p>
          <a:p/>
          <a:p>
            <a:r>
              <a:t>Placeholder. Fill in once the team has written up its AI usage.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Genevieve Kochel</a:t>
            </a:r>
          </a:p>
          <a:p/>
          <a:p>
            <a:r>
              <a:t>Go through achievements, then the challenges and how each was handled. Finish by connecting back to Sprint 3, where the same comparison was done on simpler code.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Darron Li</a:t>
            </a:r>
          </a:p>
          <a:p/>
          <a:p>
            <a:r>
              <a:t>Outline the Sprint 5 plan, starting with the C# evaluation. Then cover what went well and what to improve. End with the specific things done because of Joe's feedback.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Lucas Phillips</a:t>
            </a:r>
          </a:p>
          <a:p/>
          <a:p>
            <a:r>
              <a:t>Recap the three takeaways. Thank Joe, SEL, and the course staff,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503920" y="-1097280"/>
            <a:ext cx="4754880" cy="4754880"/>
          </a:xfrm>
          <a:prstGeom prst="ellipse">
            <a:avLst/>
          </a:prstGeom>
          <a:solidFill>
            <a:srgbClr val="1B2A41"/>
          </a:solidFill>
          <a:ln w="25400">
            <a:solidFill>
              <a:srgbClr val="32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966960" y="3566160"/>
            <a:ext cx="3108960" cy="3108960"/>
          </a:xfrm>
          <a:prstGeom prst="ellipse">
            <a:avLst/>
          </a:prstGeom>
          <a:solidFill>
            <a:srgbClr val="1B2A41"/>
          </a:solidFill>
          <a:ln w="25400">
            <a:solidFill>
              <a:srgbClr val="32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61320" y="1097280"/>
            <a:ext cx="822960" cy="82296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8686800" cy="1097280"/>
          </a:xfrm>
          <a:prstGeom prst="rect">
            <a:avLst/>
          </a:prstGeom>
          <a:noFill/>
        </p:spPr>
        <p:txBody>
          <a:bodyPr wrap="square" anchor="t" lIns="0" rIns="0" tIns="0" bIns="0">
            <a:spAutoFit/>
          </a:bodyPr>
          <a:lstStyle/>
          <a:p>
            <a:pPr algn="l">
              <a:spcAft>
                <a:spcPts val="600"/>
              </a:spcAft>
            </a:pPr>
            <a:r>
              <a:rPr sz="4800" b="1" i="0">
                <a:solidFill>
                  <a:srgbClr val="FFFFFF"/>
                </a:solidFill>
                <a:latin typeface="Cambria"/>
              </a:rPr>
              <a:t>SEL Blueframe Python SDK</a:t>
            </a:r>
          </a:p>
        </p:txBody>
      </p:sp>
      <p:sp>
        <p:nvSpPr>
          <p:cNvPr id="6" name="TextBox 5"/>
          <p:cNvSpPr txBox="1"/>
          <p:nvPr/>
        </p:nvSpPr>
        <p:spPr>
          <a:xfrm>
            <a:off x="731520" y="2788920"/>
            <a:ext cx="8686800" cy="548640"/>
          </a:xfrm>
          <a:prstGeom prst="rect">
            <a:avLst/>
          </a:prstGeom>
          <a:noFill/>
        </p:spPr>
        <p:txBody>
          <a:bodyPr wrap="square" anchor="t" lIns="0" rIns="0" tIns="0" bIns="0">
            <a:spAutoFit/>
          </a:bodyPr>
          <a:lstStyle/>
          <a:p>
            <a:pPr algn="l">
              <a:spcAft>
                <a:spcPts val="600"/>
              </a:spcAft>
            </a:pPr>
            <a:r>
              <a:rPr sz="2400" b="1" i="0">
                <a:solidFill>
                  <a:srgbClr val="F2A541"/>
                </a:solidFill>
                <a:latin typeface="Calibri"/>
              </a:rPr>
              <a:t>Sprint 4  |  Go Wrapper for Python SDK</a:t>
            </a:r>
          </a:p>
        </p:txBody>
      </p:sp>
      <p:sp>
        <p:nvSpPr>
          <p:cNvPr id="7" name="TextBox 6"/>
          <p:cNvSpPr txBox="1"/>
          <p:nvPr/>
        </p:nvSpPr>
        <p:spPr>
          <a:xfrm>
            <a:off x="731520" y="3749039"/>
            <a:ext cx="8686800" cy="1097280"/>
          </a:xfrm>
          <a:prstGeom prst="rect">
            <a:avLst/>
          </a:prstGeom>
          <a:noFill/>
        </p:spPr>
        <p:txBody>
          <a:bodyPr wrap="square" anchor="t" lIns="0" rIns="0" tIns="0" bIns="0">
            <a:spAutoFit/>
          </a:bodyPr>
          <a:lstStyle/>
          <a:p>
            <a:pPr algn="l">
              <a:spcAft>
                <a:spcPts val="600"/>
              </a:spcAft>
            </a:pPr>
            <a:r>
              <a:rPr sz="2000" b="0" i="0">
                <a:solidFill>
                  <a:srgbClr val="FFFFFF"/>
                </a:solidFill>
                <a:latin typeface="Calibri"/>
              </a:rPr>
              <a:t>Caleb Hansen, Genevieve Kochel, Darron Li, Lucas Phillips</a:t>
            </a:r>
          </a:p>
          <a:p>
            <a:pPr algn="l">
              <a:spcAft>
                <a:spcPts val="600"/>
              </a:spcAft>
            </a:pPr>
            <a:r>
              <a:rPr sz="1500" b="0" i="0">
                <a:solidFill>
                  <a:srgbClr val="C9D3DE"/>
                </a:solidFill>
                <a:latin typeface="Calibri"/>
              </a:rPr>
              <a:t>CptS 423  |  Team 03-SEL-BFSDK  |  Client Joe Stanley, SEL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1</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Introduction</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Project, team roles, and what Sprint 4 set out to do</a:t>
            </a:r>
          </a:p>
        </p:txBody>
      </p:sp>
      <p:sp>
        <p:nvSpPr>
          <p:cNvPr id="5" name="TextBox 4"/>
          <p:cNvSpPr txBox="1"/>
          <p:nvPr/>
        </p:nvSpPr>
        <p:spPr>
          <a:xfrm>
            <a:off x="548640" y="1645920"/>
            <a:ext cx="5577840" cy="4480560"/>
          </a:xfrm>
          <a:prstGeom prst="rect">
            <a:avLst/>
          </a:prstGeom>
          <a:noFill/>
        </p:spPr>
        <p:txBody>
          <a:bodyPr wrap="square" anchor="t" lIns="0" rIns="0" tIns="0" bIns="0">
            <a:spAutoFit/>
          </a:bodyPr>
          <a:lstStyle/>
          <a:p>
            <a:pPr algn="l">
              <a:spcAft>
                <a:spcPts val="800"/>
              </a:spcAft>
            </a:pPr>
            <a:r>
              <a:rPr sz="1800" b="1" i="0">
                <a:solidFill>
                  <a:srgbClr val="1B2A41"/>
                </a:solidFill>
                <a:latin typeface="Cambria"/>
              </a:rPr>
              <a:t>The project</a:t>
            </a:r>
          </a:p>
          <a:p>
            <a:pPr algn="l" marL="201168" indent="-182880">
              <a:spcAft>
                <a:spcPts val="800"/>
              </a:spcAft>
              <a:buFont typeface="Arial"/>
              <a:buChar char="•"/>
            </a:pPr>
            <a:r>
              <a:rPr sz="1600" b="0" i="0">
                <a:solidFill>
                  <a:srgbClr val="1F2933"/>
                </a:solidFill>
                <a:latin typeface="Calibri"/>
              </a:rPr>
              <a:t>Blueframe apps move real-time grid data through Signal Hub. SEL has clients for it in Go and C#, but most automation engineers work in Python.</a:t>
            </a:r>
          </a:p>
          <a:p>
            <a:pPr algn="l" marL="201168" indent="-182880">
              <a:spcAft>
                <a:spcPts val="800"/>
              </a:spcAft>
              <a:buFont typeface="Arial"/>
              <a:buChar char="•"/>
            </a:pPr>
            <a:r>
              <a:rPr sz="1600" b="0" i="0">
                <a:solidFill>
                  <a:srgbClr val="1F2933"/>
                </a:solidFill>
                <a:latin typeface="Calibri"/>
              </a:rPr>
              <a:t>We are building a Python SDK that wraps an existing client instead of porting it, so SEL does not end up maintaining a third copy.</a:t>
            </a:r>
          </a:p>
          <a:p>
            <a:pPr algn="l">
              <a:spcAft>
                <a:spcPts val="800"/>
              </a:spcAft>
            </a:pPr>
            <a:r>
              <a:rPr sz="1800" b="1" i="0">
                <a:solidFill>
                  <a:srgbClr val="1B2A41"/>
                </a:solidFill>
                <a:latin typeface="Cambria"/>
              </a:rPr>
              <a:t>Sprint 4 goal</a:t>
            </a:r>
          </a:p>
          <a:p>
            <a:pPr algn="l" marL="201168" indent="-182880">
              <a:spcAft>
                <a:spcPts val="800"/>
              </a:spcAft>
              <a:buFont typeface="Arial"/>
              <a:buChar char="•"/>
            </a:pPr>
            <a:r>
              <a:rPr sz="1600" b="0" i="0">
                <a:solidFill>
                  <a:srgbClr val="1F2933"/>
                </a:solidFill>
                <a:latin typeface="Calibri"/>
              </a:rPr>
              <a:t>Answer the client's main question. Is wrapping the Go client worth it, and how should it be done?</a:t>
            </a:r>
          </a:p>
          <a:p>
            <a:pPr algn="l" marL="201168" indent="-182880">
              <a:spcAft>
                <a:spcPts val="800"/>
              </a:spcAft>
              <a:buFont typeface="Arial"/>
              <a:buChar char="•"/>
            </a:pPr>
            <a:r>
              <a:rPr sz="1600" b="0" i="0">
                <a:solidFill>
                  <a:srgbClr val="1F2933"/>
                </a:solidFill>
                <a:latin typeface="Calibri"/>
              </a:rPr>
              <a:t>Settle the architecture, compatibility, testing, and documentation plans before Sprint 5 builds the bindings.</a:t>
            </a:r>
          </a:p>
        </p:txBody>
      </p:sp>
      <p:sp>
        <p:nvSpPr>
          <p:cNvPr id="6" name="Rounded Rectangle 5"/>
          <p:cNvSpPr/>
          <p:nvPr/>
        </p:nvSpPr>
        <p:spPr>
          <a:xfrm>
            <a:off x="6492240" y="1691640"/>
            <a:ext cx="2514600" cy="201168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675120" y="1874520"/>
            <a:ext cx="548640" cy="5486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mbria"/>
              </a:rPr>
              <a:t>LP</a:t>
            </a:r>
          </a:p>
        </p:txBody>
      </p:sp>
      <p:sp>
        <p:nvSpPr>
          <p:cNvPr id="8" name="TextBox 7"/>
          <p:cNvSpPr txBox="1"/>
          <p:nvPr/>
        </p:nvSpPr>
        <p:spPr>
          <a:xfrm>
            <a:off x="6675120" y="2560320"/>
            <a:ext cx="2148840" cy="1097280"/>
          </a:xfrm>
          <a:prstGeom prst="rect">
            <a:avLst/>
          </a:prstGeom>
          <a:noFill/>
        </p:spPr>
        <p:txBody>
          <a:bodyPr wrap="square" anchor="t" lIns="0" rIns="0" tIns="0" bIns="0">
            <a:spAutoFit/>
          </a:bodyPr>
          <a:lstStyle/>
          <a:p>
            <a:pPr algn="l">
              <a:spcAft>
                <a:spcPts val="300"/>
              </a:spcAft>
            </a:pPr>
            <a:r>
              <a:rPr sz="1500" b="1" i="0">
                <a:solidFill>
                  <a:srgbClr val="1B2A41"/>
                </a:solidFill>
                <a:latin typeface="Cambria"/>
              </a:rPr>
              <a:t>Lucas Phillips</a:t>
            </a:r>
          </a:p>
          <a:p>
            <a:pPr algn="l">
              <a:spcAft>
                <a:spcPts val="600"/>
              </a:spcAft>
            </a:pPr>
            <a:r>
              <a:rPr sz="1300" b="0" i="0">
                <a:solidFill>
                  <a:srgbClr val="1F2933"/>
                </a:solidFill>
                <a:latin typeface="Calibri"/>
              </a:rPr>
              <a:t>Architecture and the Python bridge prototype</a:t>
            </a:r>
          </a:p>
        </p:txBody>
      </p:sp>
      <p:sp>
        <p:nvSpPr>
          <p:cNvPr id="9" name="Rounded Rectangle 8"/>
          <p:cNvSpPr/>
          <p:nvPr/>
        </p:nvSpPr>
        <p:spPr>
          <a:xfrm>
            <a:off x="9189720" y="1691640"/>
            <a:ext cx="2514600" cy="201168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372600" y="1874520"/>
            <a:ext cx="548640" cy="5486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mbria"/>
              </a:rPr>
              <a:t>CH</a:t>
            </a:r>
          </a:p>
        </p:txBody>
      </p:sp>
      <p:sp>
        <p:nvSpPr>
          <p:cNvPr id="11" name="TextBox 10"/>
          <p:cNvSpPr txBox="1"/>
          <p:nvPr/>
        </p:nvSpPr>
        <p:spPr>
          <a:xfrm>
            <a:off x="9372600" y="2560320"/>
            <a:ext cx="2148840" cy="1097280"/>
          </a:xfrm>
          <a:prstGeom prst="rect">
            <a:avLst/>
          </a:prstGeom>
          <a:noFill/>
        </p:spPr>
        <p:txBody>
          <a:bodyPr wrap="square" anchor="t" lIns="0" rIns="0" tIns="0" bIns="0">
            <a:spAutoFit/>
          </a:bodyPr>
          <a:lstStyle/>
          <a:p>
            <a:pPr algn="l">
              <a:spcAft>
                <a:spcPts val="300"/>
              </a:spcAft>
            </a:pPr>
            <a:r>
              <a:rPr sz="1500" b="1" i="0">
                <a:solidFill>
                  <a:srgbClr val="1B2A41"/>
                </a:solidFill>
                <a:latin typeface="Cambria"/>
              </a:rPr>
              <a:t>Caleb Hansen</a:t>
            </a:r>
          </a:p>
          <a:p>
            <a:pPr algn="l">
              <a:spcAft>
                <a:spcPts val="600"/>
              </a:spcAft>
            </a:pPr>
            <a:r>
              <a:rPr sz="1300" b="0" i="0">
                <a:solidFill>
                  <a:srgbClr val="1F2933"/>
                </a:solidFill>
                <a:latin typeface="Calibri"/>
              </a:rPr>
              <a:t>CGo research, repo setup, compatibility and performance</a:t>
            </a:r>
          </a:p>
        </p:txBody>
      </p:sp>
      <p:sp>
        <p:nvSpPr>
          <p:cNvPr id="12" name="Rounded Rectangle 11"/>
          <p:cNvSpPr/>
          <p:nvPr/>
        </p:nvSpPr>
        <p:spPr>
          <a:xfrm>
            <a:off x="6492240" y="3931920"/>
            <a:ext cx="2514600" cy="201168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75120" y="4114800"/>
            <a:ext cx="548640" cy="5486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mbria"/>
              </a:rPr>
              <a:t>GK</a:t>
            </a:r>
          </a:p>
        </p:txBody>
      </p:sp>
      <p:sp>
        <p:nvSpPr>
          <p:cNvPr id="14" name="TextBox 13"/>
          <p:cNvSpPr txBox="1"/>
          <p:nvPr/>
        </p:nvSpPr>
        <p:spPr>
          <a:xfrm>
            <a:off x="6675120" y="4800600"/>
            <a:ext cx="2148840" cy="1097280"/>
          </a:xfrm>
          <a:prstGeom prst="rect">
            <a:avLst/>
          </a:prstGeom>
          <a:noFill/>
        </p:spPr>
        <p:txBody>
          <a:bodyPr wrap="square" anchor="t" lIns="0" rIns="0" tIns="0" bIns="0">
            <a:spAutoFit/>
          </a:bodyPr>
          <a:lstStyle/>
          <a:p>
            <a:pPr algn="l">
              <a:spcAft>
                <a:spcPts val="300"/>
              </a:spcAft>
            </a:pPr>
            <a:r>
              <a:rPr sz="1500" b="1" i="0">
                <a:solidFill>
                  <a:srgbClr val="1B2A41"/>
                </a:solidFill>
                <a:latin typeface="Cambria"/>
              </a:rPr>
              <a:t>Genevieve Kochel</a:t>
            </a:r>
          </a:p>
          <a:p>
            <a:pPr algn="l">
              <a:spcAft>
                <a:spcPts val="600"/>
              </a:spcAft>
            </a:pPr>
            <a:r>
              <a:rPr sz="1300" b="0" i="0">
                <a:solidFill>
                  <a:srgbClr val="1F2933"/>
                </a:solidFill>
                <a:latin typeface="Calibri"/>
              </a:rPr>
              <a:t>Source access, C# research, client meetings, testing plan</a:t>
            </a:r>
          </a:p>
        </p:txBody>
      </p:sp>
      <p:sp>
        <p:nvSpPr>
          <p:cNvPr id="15" name="Rounded Rectangle 14"/>
          <p:cNvSpPr/>
          <p:nvPr/>
        </p:nvSpPr>
        <p:spPr>
          <a:xfrm>
            <a:off x="9189720" y="3931920"/>
            <a:ext cx="2514600" cy="201168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372600" y="4114800"/>
            <a:ext cx="548640" cy="5486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mbria"/>
              </a:rPr>
              <a:t>DL</a:t>
            </a:r>
          </a:p>
        </p:txBody>
      </p:sp>
      <p:sp>
        <p:nvSpPr>
          <p:cNvPr id="17" name="TextBox 16"/>
          <p:cNvSpPr txBox="1"/>
          <p:nvPr/>
        </p:nvSpPr>
        <p:spPr>
          <a:xfrm>
            <a:off x="9372600" y="4800600"/>
            <a:ext cx="2148840" cy="1097280"/>
          </a:xfrm>
          <a:prstGeom prst="rect">
            <a:avLst/>
          </a:prstGeom>
          <a:noFill/>
        </p:spPr>
        <p:txBody>
          <a:bodyPr wrap="square" anchor="t" lIns="0" rIns="0" tIns="0" bIns="0">
            <a:spAutoFit/>
          </a:bodyPr>
          <a:lstStyle/>
          <a:p>
            <a:pPr algn="l">
              <a:spcAft>
                <a:spcPts val="300"/>
              </a:spcAft>
            </a:pPr>
            <a:r>
              <a:rPr sz="1500" b="1" i="0">
                <a:solidFill>
                  <a:srgbClr val="1B2A41"/>
                </a:solidFill>
                <a:latin typeface="Cambria"/>
              </a:rPr>
              <a:t>Darron Li</a:t>
            </a:r>
          </a:p>
          <a:p>
            <a:pPr algn="l">
              <a:spcAft>
                <a:spcPts val="600"/>
              </a:spcAft>
            </a:pPr>
            <a:r>
              <a:rPr sz="1300" b="0" i="0">
                <a:solidFill>
                  <a:srgbClr val="1F2933"/>
                </a:solidFill>
                <a:latin typeface="Calibri"/>
              </a:rPr>
              <a:t>Documentation and extensibility plan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2</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Sprint 4 Objectives</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From the Sprint 4 to 6 project plan agreed with Joe Stanley on September 14</a:t>
            </a:r>
          </a:p>
        </p:txBody>
      </p:sp>
      <p:sp>
        <p:nvSpPr>
          <p:cNvPr id="5" name="Rounded Rectangle 4"/>
          <p:cNvSpPr/>
          <p:nvPr/>
        </p:nvSpPr>
        <p:spPr>
          <a:xfrm>
            <a:off x="548640" y="1691640"/>
            <a:ext cx="2633472" cy="237744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874519"/>
            <a:ext cx="502920" cy="50292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1B2A41"/>
                </a:solidFill>
                <a:latin typeface="Cambria"/>
              </a:rPr>
              <a:t>1</a:t>
            </a:r>
          </a:p>
        </p:txBody>
      </p:sp>
      <p:sp>
        <p:nvSpPr>
          <p:cNvPr id="7" name="TextBox 6"/>
          <p:cNvSpPr txBox="1"/>
          <p:nvPr/>
        </p:nvSpPr>
        <p:spPr>
          <a:xfrm>
            <a:off x="731520" y="2514600"/>
            <a:ext cx="2286000" cy="1508760"/>
          </a:xfrm>
          <a:prstGeom prst="rect">
            <a:avLst/>
          </a:prstGeom>
          <a:noFill/>
        </p:spPr>
        <p:txBody>
          <a:bodyPr wrap="square" anchor="t" lIns="0" rIns="0" tIns="0" bIns="0">
            <a:spAutoFit/>
          </a:bodyPr>
          <a:lstStyle/>
          <a:p>
            <a:pPr algn="l">
              <a:spcAft>
                <a:spcPts val="400"/>
              </a:spcAft>
            </a:pPr>
            <a:r>
              <a:rPr sz="1600" b="1" i="0">
                <a:solidFill>
                  <a:srgbClr val="1B2A41"/>
                </a:solidFill>
                <a:latin typeface="Cambria"/>
              </a:rPr>
              <a:t>Architecture plan</a:t>
            </a:r>
          </a:p>
          <a:p>
            <a:pPr algn="l">
              <a:spcAft>
                <a:spcPts val="600"/>
              </a:spcAft>
            </a:pPr>
            <a:r>
              <a:rPr sz="1300" b="0" i="0">
                <a:solidFill>
                  <a:srgbClr val="1F2933"/>
                </a:solidFill>
                <a:latin typeface="Calibri"/>
              </a:rPr>
              <a:t>Proposed Python API, binding approach, errors, data types, what stays hidden</a:t>
            </a:r>
          </a:p>
        </p:txBody>
      </p:sp>
      <p:sp>
        <p:nvSpPr>
          <p:cNvPr id="8" name="Rounded Rectangle 7"/>
          <p:cNvSpPr/>
          <p:nvPr/>
        </p:nvSpPr>
        <p:spPr>
          <a:xfrm>
            <a:off x="3364992" y="1691640"/>
            <a:ext cx="2633472" cy="237744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547872" y="1874519"/>
            <a:ext cx="502920" cy="50292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1B2A41"/>
                </a:solidFill>
                <a:latin typeface="Cambria"/>
              </a:rPr>
              <a:t>2</a:t>
            </a:r>
          </a:p>
        </p:txBody>
      </p:sp>
      <p:sp>
        <p:nvSpPr>
          <p:cNvPr id="10" name="TextBox 9"/>
          <p:cNvSpPr txBox="1"/>
          <p:nvPr/>
        </p:nvSpPr>
        <p:spPr>
          <a:xfrm>
            <a:off x="3547872" y="2514600"/>
            <a:ext cx="2286000" cy="1508760"/>
          </a:xfrm>
          <a:prstGeom prst="rect">
            <a:avLst/>
          </a:prstGeom>
          <a:noFill/>
        </p:spPr>
        <p:txBody>
          <a:bodyPr wrap="square" anchor="t" lIns="0" rIns="0" tIns="0" bIns="0">
            <a:spAutoFit/>
          </a:bodyPr>
          <a:lstStyle/>
          <a:p>
            <a:pPr algn="l">
              <a:spcAft>
                <a:spcPts val="400"/>
              </a:spcAft>
            </a:pPr>
            <a:r>
              <a:rPr sz="1600" b="1" i="0">
                <a:solidFill>
                  <a:srgbClr val="1B2A41"/>
                </a:solidFill>
                <a:latin typeface="Cambria"/>
              </a:rPr>
              <a:t>Compatibility, maintenance, performance</a:t>
            </a:r>
          </a:p>
          <a:p>
            <a:pPr algn="l">
              <a:spcAft>
                <a:spcPts val="600"/>
              </a:spcAft>
            </a:pPr>
            <a:r>
              <a:rPr sz="1300" b="0" i="0">
                <a:solidFill>
                  <a:srgbClr val="1F2933"/>
                </a:solidFill>
                <a:latin typeface="Calibri"/>
              </a:rPr>
              <a:t>Python 3.12, OS targets, multithreading, speed, and no double maintenance</a:t>
            </a:r>
          </a:p>
        </p:txBody>
      </p:sp>
      <p:sp>
        <p:nvSpPr>
          <p:cNvPr id="11" name="Rounded Rectangle 10"/>
          <p:cNvSpPr/>
          <p:nvPr/>
        </p:nvSpPr>
        <p:spPr>
          <a:xfrm>
            <a:off x="6181344" y="1691640"/>
            <a:ext cx="2633472" cy="237744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64224" y="1874519"/>
            <a:ext cx="502920" cy="50292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1B2A41"/>
                </a:solidFill>
                <a:latin typeface="Cambria"/>
              </a:rPr>
              <a:t>3</a:t>
            </a:r>
          </a:p>
        </p:txBody>
      </p:sp>
      <p:sp>
        <p:nvSpPr>
          <p:cNvPr id="13" name="TextBox 12"/>
          <p:cNvSpPr txBox="1"/>
          <p:nvPr/>
        </p:nvSpPr>
        <p:spPr>
          <a:xfrm>
            <a:off x="6364224" y="2514600"/>
            <a:ext cx="2286000" cy="1508760"/>
          </a:xfrm>
          <a:prstGeom prst="rect">
            <a:avLst/>
          </a:prstGeom>
          <a:noFill/>
        </p:spPr>
        <p:txBody>
          <a:bodyPr wrap="square" anchor="t" lIns="0" rIns="0" tIns="0" bIns="0">
            <a:spAutoFit/>
          </a:bodyPr>
          <a:lstStyle/>
          <a:p>
            <a:pPr algn="l">
              <a:spcAft>
                <a:spcPts val="400"/>
              </a:spcAft>
            </a:pPr>
            <a:r>
              <a:rPr sz="1600" b="1" i="0">
                <a:solidFill>
                  <a:srgbClr val="1B2A41"/>
                </a:solidFill>
                <a:latin typeface="Cambria"/>
              </a:rPr>
              <a:t>Testing and dev process</a:t>
            </a:r>
          </a:p>
          <a:p>
            <a:pPr algn="l">
              <a:spcAft>
                <a:spcPts val="600"/>
              </a:spcAft>
            </a:pPr>
            <a:r>
              <a:rPr sz="1300" b="0" i="0">
                <a:solidFill>
                  <a:srgbClr val="1F2933"/>
                </a:solidFill>
                <a:latin typeface="Calibri"/>
              </a:rPr>
              <a:t>Unit, integration, interop, concurrency, and cross-platform tests plus workflow</a:t>
            </a:r>
          </a:p>
        </p:txBody>
      </p:sp>
      <p:sp>
        <p:nvSpPr>
          <p:cNvPr id="14" name="Rounded Rectangle 13"/>
          <p:cNvSpPr/>
          <p:nvPr/>
        </p:nvSpPr>
        <p:spPr>
          <a:xfrm>
            <a:off x="8997696" y="1691640"/>
            <a:ext cx="2633472" cy="237744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80576" y="1874519"/>
            <a:ext cx="502920" cy="50292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1B2A41"/>
                </a:solidFill>
                <a:latin typeface="Cambria"/>
              </a:rPr>
              <a:t>4</a:t>
            </a:r>
          </a:p>
        </p:txBody>
      </p:sp>
      <p:sp>
        <p:nvSpPr>
          <p:cNvPr id="16" name="TextBox 15"/>
          <p:cNvSpPr txBox="1"/>
          <p:nvPr/>
        </p:nvSpPr>
        <p:spPr>
          <a:xfrm>
            <a:off x="9180576" y="2514600"/>
            <a:ext cx="2286000" cy="1508760"/>
          </a:xfrm>
          <a:prstGeom prst="rect">
            <a:avLst/>
          </a:prstGeom>
          <a:noFill/>
        </p:spPr>
        <p:txBody>
          <a:bodyPr wrap="square" anchor="t" lIns="0" rIns="0" tIns="0" bIns="0">
            <a:spAutoFit/>
          </a:bodyPr>
          <a:lstStyle/>
          <a:p>
            <a:pPr algn="l">
              <a:spcAft>
                <a:spcPts val="400"/>
              </a:spcAft>
            </a:pPr>
            <a:r>
              <a:rPr sz="1600" b="1" i="0">
                <a:solidFill>
                  <a:srgbClr val="1B2A41"/>
                </a:solidFill>
                <a:latin typeface="Cambria"/>
              </a:rPr>
              <a:t>Documentation and extensibility</a:t>
            </a:r>
          </a:p>
          <a:p>
            <a:pPr algn="l">
              <a:spcAft>
                <a:spcPts val="600"/>
              </a:spcAft>
            </a:pPr>
            <a:r>
              <a:rPr sz="1300" b="0" i="0">
                <a:solidFill>
                  <a:srgbClr val="1F2933"/>
                </a:solidFill>
                <a:latin typeface="Calibri"/>
              </a:rPr>
              <a:t>Doc structure and conventions, and how someone adds a function later</a:t>
            </a:r>
          </a:p>
        </p:txBody>
      </p:sp>
      <p:sp>
        <p:nvSpPr>
          <p:cNvPr id="17" name="Rounded Rectangle 16"/>
          <p:cNvSpPr/>
          <p:nvPr/>
        </p:nvSpPr>
        <p:spPr>
          <a:xfrm>
            <a:off x="548640" y="4343400"/>
            <a:ext cx="5532120" cy="192024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480560"/>
            <a:ext cx="5166359" cy="164592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Why these first</a:t>
            </a:r>
          </a:p>
          <a:p>
            <a:pPr algn="l" marL="201168" indent="-182880">
              <a:spcAft>
                <a:spcPts val="400"/>
              </a:spcAft>
              <a:buFont typeface="Arial"/>
              <a:buChar char="•"/>
            </a:pPr>
            <a:r>
              <a:rPr sz="1400" b="0" i="0">
                <a:solidFill>
                  <a:srgbClr val="1F2933"/>
                </a:solidFill>
                <a:latin typeface="Calibri"/>
              </a:rPr>
              <a:t>Joe's top concern is avoiding double maintenance, so the approach had to be proven before any code was written for real.</a:t>
            </a:r>
          </a:p>
          <a:p>
            <a:pPr algn="l" marL="201168" indent="-182880">
              <a:spcAft>
                <a:spcPts val="400"/>
              </a:spcAft>
              <a:buFont typeface="Arial"/>
              <a:buChar char="•"/>
            </a:pPr>
            <a:r>
              <a:rPr sz="1400" b="0" i="0">
                <a:solidFill>
                  <a:srgbClr val="1F2933"/>
                </a:solidFill>
                <a:latin typeface="Calibri"/>
              </a:rPr>
              <a:t>Sprint 5 builds the bindings, so the design needed to be settled now.</a:t>
            </a:r>
          </a:p>
        </p:txBody>
      </p:sp>
      <p:sp>
        <p:nvSpPr>
          <p:cNvPr id="19" name="Rounded Rectangle 18"/>
          <p:cNvSpPr/>
          <p:nvPr/>
        </p:nvSpPr>
        <p:spPr>
          <a:xfrm>
            <a:off x="6263640" y="4343400"/>
            <a:ext cx="5394960" cy="192024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480560"/>
            <a:ext cx="5029200" cy="164592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Connection to the long-term vision</a:t>
            </a:r>
          </a:p>
          <a:p>
            <a:pPr algn="l" marL="201168" indent="-182880">
              <a:spcAft>
                <a:spcPts val="400"/>
              </a:spcAft>
              <a:buFont typeface="Arial"/>
              <a:buChar char="•"/>
            </a:pPr>
            <a:r>
              <a:rPr sz="1400" b="0" i="0">
                <a:solidFill>
                  <a:srgbClr val="1F2933"/>
                </a:solidFill>
                <a:latin typeface="Calibri"/>
              </a:rPr>
              <a:t>Engineers script Signal Hub from Python with numpy in and out.</a:t>
            </a:r>
          </a:p>
          <a:p>
            <a:pPr algn="l" marL="201168" indent="-182880">
              <a:spcAft>
                <a:spcPts val="400"/>
              </a:spcAft>
              <a:buFont typeface="Arial"/>
              <a:buChar char="•"/>
            </a:pPr>
            <a:r>
              <a:rPr sz="1400" b="0" i="0">
                <a:solidFill>
                  <a:srgbClr val="1F2933"/>
                </a:solidFill>
                <a:latin typeface="Calibri"/>
              </a:rPr>
              <a:t>SEL keeps one real client. The Python layer only translates.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3</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Feature Implementation Overview</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Research and prototyping make up most of the project's feature work</a:t>
            </a:r>
          </a:p>
        </p:txBody>
      </p:sp>
      <p:sp>
        <p:nvSpPr>
          <p:cNvPr id="5" name="Rounded Rectangle 4"/>
          <p:cNvSpPr/>
          <p:nvPr/>
        </p:nvSpPr>
        <p:spPr>
          <a:xfrm>
            <a:off x="548640" y="1691640"/>
            <a:ext cx="11109960" cy="987552"/>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892808"/>
            <a:ext cx="585216" cy="585216"/>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mbria"/>
              </a:rPr>
              <a:t>1</a:t>
            </a:r>
          </a:p>
        </p:txBody>
      </p:sp>
      <p:sp>
        <p:nvSpPr>
          <p:cNvPr id="7" name="TextBox 6"/>
          <p:cNvSpPr txBox="1"/>
          <p:nvPr/>
        </p:nvSpPr>
        <p:spPr>
          <a:xfrm>
            <a:off x="1508760" y="1801368"/>
            <a:ext cx="3017520" cy="822960"/>
          </a:xfrm>
          <a:prstGeom prst="rect">
            <a:avLst/>
          </a:prstGeom>
          <a:noFill/>
        </p:spPr>
        <p:txBody>
          <a:bodyPr wrap="square" anchor="t" lIns="0" rIns="0" tIns="0" bIns="0">
            <a:spAutoFit/>
          </a:bodyPr>
          <a:lstStyle/>
          <a:p>
            <a:pPr algn="l">
              <a:spcAft>
                <a:spcPts val="200"/>
              </a:spcAft>
            </a:pPr>
            <a:r>
              <a:rPr sz="1600" b="1" i="0">
                <a:solidFill>
                  <a:srgbClr val="1B2A41"/>
                </a:solidFill>
                <a:latin typeface="Cambria"/>
              </a:rPr>
              <a:t>Genevieve Kochel</a:t>
            </a:r>
          </a:p>
          <a:p>
            <a:pPr algn="l">
              <a:spcAft>
                <a:spcPts val="600"/>
              </a:spcAft>
            </a:pPr>
            <a:r>
              <a:rPr sz="1300" b="0" i="0">
                <a:solidFill>
                  <a:srgbClr val="5B6B7A"/>
                </a:solidFill>
                <a:latin typeface="Calibri"/>
              </a:rPr>
              <a:t>Source access and the C# option</a:t>
            </a:r>
          </a:p>
        </p:txBody>
      </p:sp>
      <p:sp>
        <p:nvSpPr>
          <p:cNvPr id="8" name="TextBox 7"/>
          <p:cNvSpPr txBox="1"/>
          <p:nvPr/>
        </p:nvSpPr>
        <p:spPr>
          <a:xfrm>
            <a:off x="4663440" y="1801368"/>
            <a:ext cx="5303520" cy="822960"/>
          </a:xfrm>
          <a:prstGeom prst="rect">
            <a:avLst/>
          </a:prstGeom>
          <a:noFill/>
        </p:spPr>
        <p:txBody>
          <a:bodyPr wrap="square" anchor="ctr" lIns="0" rIns="0" tIns="0" bIns="0">
            <a:spAutoFit/>
          </a:bodyPr>
          <a:lstStyle/>
          <a:p>
            <a:pPr algn="l">
              <a:spcAft>
                <a:spcPts val="600"/>
              </a:spcAft>
            </a:pPr>
            <a:r>
              <a:rPr sz="1500" b="0" i="0">
                <a:solidFill>
                  <a:srgbClr val="1F2933"/>
                </a:solidFill>
                <a:latin typeface="Calibri"/>
              </a:rPr>
              <a:t>Got the C# and C++ clients, separated the Go client, researched Python.NET</a:t>
            </a:r>
          </a:p>
        </p:txBody>
      </p:sp>
      <p:sp>
        <p:nvSpPr>
          <p:cNvPr id="9" name="TextBox 8"/>
          <p:cNvSpPr txBox="1"/>
          <p:nvPr/>
        </p:nvSpPr>
        <p:spPr>
          <a:xfrm>
            <a:off x="10058400" y="1801368"/>
            <a:ext cx="1463040" cy="822960"/>
          </a:xfrm>
          <a:prstGeom prst="rect">
            <a:avLst/>
          </a:prstGeom>
          <a:noFill/>
        </p:spPr>
        <p:txBody>
          <a:bodyPr wrap="square" anchor="ctr" lIns="0" rIns="0" tIns="0" bIns="0">
            <a:spAutoFit/>
          </a:bodyPr>
          <a:lstStyle/>
          <a:p>
            <a:pPr algn="r">
              <a:spcAft>
                <a:spcPts val="600"/>
              </a:spcAft>
            </a:pPr>
            <a:r>
              <a:rPr sz="1300" b="1" i="0">
                <a:solidFill>
                  <a:srgbClr val="324A5F"/>
                </a:solidFill>
                <a:latin typeface="Calibri"/>
              </a:rPr>
              <a:t>#30  #31</a:t>
            </a:r>
          </a:p>
        </p:txBody>
      </p:sp>
      <p:sp>
        <p:nvSpPr>
          <p:cNvPr id="10" name="Rounded Rectangle 9"/>
          <p:cNvSpPr/>
          <p:nvPr/>
        </p:nvSpPr>
        <p:spPr>
          <a:xfrm>
            <a:off x="548640" y="2834640"/>
            <a:ext cx="11109960" cy="987552"/>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 y="3035808"/>
            <a:ext cx="585216" cy="585216"/>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mbria"/>
              </a:rPr>
              <a:t>2</a:t>
            </a:r>
          </a:p>
        </p:txBody>
      </p:sp>
      <p:sp>
        <p:nvSpPr>
          <p:cNvPr id="12" name="TextBox 11"/>
          <p:cNvSpPr txBox="1"/>
          <p:nvPr/>
        </p:nvSpPr>
        <p:spPr>
          <a:xfrm>
            <a:off x="1508760" y="2944368"/>
            <a:ext cx="3017520" cy="822960"/>
          </a:xfrm>
          <a:prstGeom prst="rect">
            <a:avLst/>
          </a:prstGeom>
          <a:noFill/>
        </p:spPr>
        <p:txBody>
          <a:bodyPr wrap="square" anchor="t" lIns="0" rIns="0" tIns="0" bIns="0">
            <a:spAutoFit/>
          </a:bodyPr>
          <a:lstStyle/>
          <a:p>
            <a:pPr algn="l">
              <a:spcAft>
                <a:spcPts val="200"/>
              </a:spcAft>
            </a:pPr>
            <a:r>
              <a:rPr sz="1600" b="1" i="0">
                <a:solidFill>
                  <a:srgbClr val="1B2A41"/>
                </a:solidFill>
                <a:latin typeface="Cambria"/>
              </a:rPr>
              <a:t>Caleb Hansen</a:t>
            </a:r>
          </a:p>
          <a:p>
            <a:pPr algn="l">
              <a:spcAft>
                <a:spcPts val="600"/>
              </a:spcAft>
            </a:pPr>
            <a:r>
              <a:rPr sz="1300" b="0" i="0">
                <a:solidFill>
                  <a:srgbClr val="5B6B7A"/>
                </a:solidFill>
                <a:latin typeface="Calibri"/>
              </a:rPr>
              <a:t>CGo investigation and repo setup</a:t>
            </a:r>
          </a:p>
        </p:txBody>
      </p:sp>
      <p:sp>
        <p:nvSpPr>
          <p:cNvPr id="13" name="TextBox 12"/>
          <p:cNvSpPr txBox="1"/>
          <p:nvPr/>
        </p:nvSpPr>
        <p:spPr>
          <a:xfrm>
            <a:off x="4663440" y="2944368"/>
            <a:ext cx="5303520" cy="822960"/>
          </a:xfrm>
          <a:prstGeom prst="rect">
            <a:avLst/>
          </a:prstGeom>
          <a:noFill/>
        </p:spPr>
        <p:txBody>
          <a:bodyPr wrap="square" anchor="ctr" lIns="0" rIns="0" tIns="0" bIns="0">
            <a:spAutoFit/>
          </a:bodyPr>
          <a:lstStyle/>
          <a:p>
            <a:pPr algn="l">
              <a:spcAft>
                <a:spcPts val="600"/>
              </a:spcAft>
            </a:pPr>
            <a:r>
              <a:rPr sz="1500" b="0" i="0">
                <a:solidFill>
                  <a:srgbClr val="1F2933"/>
                </a:solidFill>
                <a:latin typeface="Calibri"/>
              </a:rPr>
              <a:t>Private repo, Claude onboarding skills, CGo pitfalls write-up</a:t>
            </a:r>
          </a:p>
        </p:txBody>
      </p:sp>
      <p:sp>
        <p:nvSpPr>
          <p:cNvPr id="14" name="TextBox 13"/>
          <p:cNvSpPr txBox="1"/>
          <p:nvPr/>
        </p:nvSpPr>
        <p:spPr>
          <a:xfrm>
            <a:off x="10058400" y="2944368"/>
            <a:ext cx="1463040" cy="822960"/>
          </a:xfrm>
          <a:prstGeom prst="rect">
            <a:avLst/>
          </a:prstGeom>
          <a:noFill/>
        </p:spPr>
        <p:txBody>
          <a:bodyPr wrap="square" anchor="ctr" lIns="0" rIns="0" tIns="0" bIns="0">
            <a:spAutoFit/>
          </a:bodyPr>
          <a:lstStyle/>
          <a:p>
            <a:pPr algn="r">
              <a:spcAft>
                <a:spcPts val="600"/>
              </a:spcAft>
            </a:pPr>
            <a:r>
              <a:rPr sz="1300" b="1" i="0">
                <a:solidFill>
                  <a:srgbClr val="324A5F"/>
                </a:solidFill>
                <a:latin typeface="Calibri"/>
              </a:rPr>
              <a:t>#27  #28  #29</a:t>
            </a:r>
          </a:p>
        </p:txBody>
      </p:sp>
      <p:sp>
        <p:nvSpPr>
          <p:cNvPr id="15" name="Rounded Rectangle 14"/>
          <p:cNvSpPr/>
          <p:nvPr/>
        </p:nvSpPr>
        <p:spPr>
          <a:xfrm>
            <a:off x="548640" y="3977639"/>
            <a:ext cx="11109960" cy="987552"/>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178807"/>
            <a:ext cx="585216" cy="585216"/>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mbria"/>
              </a:rPr>
              <a:t>3</a:t>
            </a:r>
          </a:p>
        </p:txBody>
      </p:sp>
      <p:sp>
        <p:nvSpPr>
          <p:cNvPr id="17" name="TextBox 16"/>
          <p:cNvSpPr txBox="1"/>
          <p:nvPr/>
        </p:nvSpPr>
        <p:spPr>
          <a:xfrm>
            <a:off x="1508760" y="4087368"/>
            <a:ext cx="3017520" cy="822960"/>
          </a:xfrm>
          <a:prstGeom prst="rect">
            <a:avLst/>
          </a:prstGeom>
          <a:noFill/>
        </p:spPr>
        <p:txBody>
          <a:bodyPr wrap="square" anchor="t" lIns="0" rIns="0" tIns="0" bIns="0">
            <a:spAutoFit/>
          </a:bodyPr>
          <a:lstStyle/>
          <a:p>
            <a:pPr algn="l">
              <a:spcAft>
                <a:spcPts val="200"/>
              </a:spcAft>
            </a:pPr>
            <a:r>
              <a:rPr sz="1600" b="1" i="0">
                <a:solidFill>
                  <a:srgbClr val="1B2A41"/>
                </a:solidFill>
                <a:latin typeface="Cambria"/>
              </a:rPr>
              <a:t>Lucas Phillips</a:t>
            </a:r>
          </a:p>
          <a:p>
            <a:pPr algn="l">
              <a:spcAft>
                <a:spcPts val="600"/>
              </a:spcAft>
            </a:pPr>
            <a:r>
              <a:rPr sz="1300" b="0" i="0">
                <a:solidFill>
                  <a:srgbClr val="5B6B7A"/>
                </a:solidFill>
                <a:latin typeface="Calibri"/>
              </a:rPr>
              <a:t>Python bridge prototype</a:t>
            </a:r>
          </a:p>
        </p:txBody>
      </p:sp>
      <p:sp>
        <p:nvSpPr>
          <p:cNvPr id="18" name="TextBox 17"/>
          <p:cNvSpPr txBox="1"/>
          <p:nvPr/>
        </p:nvSpPr>
        <p:spPr>
          <a:xfrm>
            <a:off x="4663440" y="4087368"/>
            <a:ext cx="5303520" cy="822960"/>
          </a:xfrm>
          <a:prstGeom prst="rect">
            <a:avLst/>
          </a:prstGeom>
          <a:noFill/>
        </p:spPr>
        <p:txBody>
          <a:bodyPr wrap="square" anchor="ctr" lIns="0" rIns="0" tIns="0" bIns="0">
            <a:spAutoFit/>
          </a:bodyPr>
          <a:lstStyle/>
          <a:p>
            <a:pPr algn="l">
              <a:spcAft>
                <a:spcPts val="600"/>
              </a:spcAft>
            </a:pPr>
            <a:r>
              <a:rPr sz="1500" b="0" i="0">
                <a:solidFill>
                  <a:srgbClr val="1F2933"/>
                </a:solidFill>
                <a:latin typeface="Calibri"/>
              </a:rPr>
              <a:t>Three transports, fake Signal Hub, 2,155 tests, architecture plan</a:t>
            </a:r>
          </a:p>
        </p:txBody>
      </p:sp>
      <p:sp>
        <p:nvSpPr>
          <p:cNvPr id="19" name="TextBox 18"/>
          <p:cNvSpPr txBox="1"/>
          <p:nvPr/>
        </p:nvSpPr>
        <p:spPr>
          <a:xfrm>
            <a:off x="10058400" y="4087368"/>
            <a:ext cx="1463040" cy="822960"/>
          </a:xfrm>
          <a:prstGeom prst="rect">
            <a:avLst/>
          </a:prstGeom>
          <a:noFill/>
        </p:spPr>
        <p:txBody>
          <a:bodyPr wrap="square" anchor="ctr" lIns="0" rIns="0" tIns="0" bIns="0">
            <a:spAutoFit/>
          </a:bodyPr>
          <a:lstStyle/>
          <a:p>
            <a:pPr algn="r">
              <a:spcAft>
                <a:spcPts val="600"/>
              </a:spcAft>
            </a:pPr>
            <a:r>
              <a:rPr sz="1300" b="1" i="0">
                <a:solidFill>
                  <a:srgbClr val="324A5F"/>
                </a:solidFill>
                <a:latin typeface="Calibri"/>
              </a:rPr>
              <a:t>#25  #26</a:t>
            </a:r>
          </a:p>
        </p:txBody>
      </p:sp>
      <p:sp>
        <p:nvSpPr>
          <p:cNvPr id="20" name="Rounded Rectangle 19"/>
          <p:cNvSpPr/>
          <p:nvPr/>
        </p:nvSpPr>
        <p:spPr>
          <a:xfrm>
            <a:off x="548640" y="5120640"/>
            <a:ext cx="11109960" cy="987552"/>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1520" y="5321807"/>
            <a:ext cx="585216" cy="585216"/>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mbria"/>
              </a:rPr>
              <a:t>4</a:t>
            </a:r>
          </a:p>
        </p:txBody>
      </p:sp>
      <p:sp>
        <p:nvSpPr>
          <p:cNvPr id="22" name="TextBox 21"/>
          <p:cNvSpPr txBox="1"/>
          <p:nvPr/>
        </p:nvSpPr>
        <p:spPr>
          <a:xfrm>
            <a:off x="1508760" y="5230368"/>
            <a:ext cx="3017520" cy="822960"/>
          </a:xfrm>
          <a:prstGeom prst="rect">
            <a:avLst/>
          </a:prstGeom>
          <a:noFill/>
        </p:spPr>
        <p:txBody>
          <a:bodyPr wrap="square" anchor="t" lIns="0" rIns="0" tIns="0" bIns="0">
            <a:spAutoFit/>
          </a:bodyPr>
          <a:lstStyle/>
          <a:p>
            <a:pPr algn="l">
              <a:spcAft>
                <a:spcPts val="200"/>
              </a:spcAft>
            </a:pPr>
            <a:r>
              <a:rPr sz="1600" b="1" i="0">
                <a:solidFill>
                  <a:srgbClr val="1B2A41"/>
                </a:solidFill>
                <a:latin typeface="Cambria"/>
              </a:rPr>
              <a:t>Darron Li</a:t>
            </a:r>
          </a:p>
          <a:p>
            <a:pPr algn="l">
              <a:spcAft>
                <a:spcPts val="600"/>
              </a:spcAft>
            </a:pPr>
            <a:r>
              <a:rPr sz="1300" b="0" i="0">
                <a:solidFill>
                  <a:srgbClr val="5B6B7A"/>
                </a:solidFill>
                <a:latin typeface="Calibri"/>
              </a:rPr>
              <a:t>Documentation and extensibility plan</a:t>
            </a:r>
          </a:p>
        </p:txBody>
      </p:sp>
      <p:sp>
        <p:nvSpPr>
          <p:cNvPr id="23" name="TextBox 22"/>
          <p:cNvSpPr txBox="1"/>
          <p:nvPr/>
        </p:nvSpPr>
        <p:spPr>
          <a:xfrm>
            <a:off x="4663440" y="5230368"/>
            <a:ext cx="5303520" cy="822960"/>
          </a:xfrm>
          <a:prstGeom prst="rect">
            <a:avLst/>
          </a:prstGeom>
          <a:noFill/>
        </p:spPr>
        <p:txBody>
          <a:bodyPr wrap="square" anchor="ctr" lIns="0" rIns="0" tIns="0" bIns="0">
            <a:spAutoFit/>
          </a:bodyPr>
          <a:lstStyle/>
          <a:p>
            <a:pPr algn="l">
              <a:spcAft>
                <a:spcPts val="600"/>
              </a:spcAft>
            </a:pPr>
            <a:r>
              <a:rPr sz="1500" b="0" i="0">
                <a:solidFill>
                  <a:srgbClr val="1F2933"/>
                </a:solidFill>
                <a:latin typeface="Calibri"/>
              </a:rPr>
              <a:t>Doc structure, tooling, conventions, extension steps</a:t>
            </a:r>
          </a:p>
        </p:txBody>
      </p:sp>
      <p:sp>
        <p:nvSpPr>
          <p:cNvPr id="24" name="TextBox 23"/>
          <p:cNvSpPr txBox="1"/>
          <p:nvPr/>
        </p:nvSpPr>
        <p:spPr>
          <a:xfrm>
            <a:off x="10058400" y="5230368"/>
            <a:ext cx="1463040" cy="822960"/>
          </a:xfrm>
          <a:prstGeom prst="rect">
            <a:avLst/>
          </a:prstGeom>
          <a:noFill/>
        </p:spPr>
        <p:txBody>
          <a:bodyPr wrap="square" anchor="ctr" lIns="0" rIns="0" tIns="0" bIns="0">
            <a:spAutoFit/>
          </a:bodyPr>
          <a:lstStyle/>
          <a:p>
            <a:pPr algn="r">
              <a:spcAft>
                <a:spcPts val="600"/>
              </a:spcAft>
            </a:pPr>
            <a:r>
              <a:rPr sz="1300" b="1" i="0">
                <a:solidFill>
                  <a:srgbClr val="324A5F"/>
                </a:solidFill>
                <a:latin typeface="Calibri"/>
              </a:rPr>
              <a:t>#33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3</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Feature 1  |  Source Access and the C# Option</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Genevieve Kochel</a:t>
            </a:r>
          </a:p>
        </p:txBody>
      </p:sp>
      <p:sp>
        <p:nvSpPr>
          <p:cNvPr id="5" name="Rounded Rectangle 4"/>
          <p:cNvSpPr/>
          <p:nvPr/>
        </p:nvSpPr>
        <p:spPr>
          <a:xfrm>
            <a:off x="548640" y="1645920"/>
            <a:ext cx="3566160" cy="224028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83080"/>
            <a:ext cx="3200400" cy="196596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Before</a:t>
            </a:r>
          </a:p>
          <a:p>
            <a:pPr algn="l" marL="201168" indent="-182880">
              <a:spcAft>
                <a:spcPts val="400"/>
              </a:spcAft>
              <a:buFont typeface="Arial"/>
              <a:buChar char="•"/>
            </a:pPr>
            <a:r>
              <a:rPr sz="1400" b="0" i="0">
                <a:solidFill>
                  <a:srgbClr val="1F2933"/>
                </a:solidFill>
                <a:latin typeface="Calibri"/>
              </a:rPr>
              <a:t>No access to the SignalHub client code since Sprint 2</a:t>
            </a:r>
          </a:p>
          <a:p>
            <a:pPr algn="l" marL="201168" indent="-182880">
              <a:spcAft>
                <a:spcPts val="400"/>
              </a:spcAft>
              <a:buFont typeface="Arial"/>
              <a:buChar char="•"/>
            </a:pPr>
            <a:r>
              <a:rPr sz="1400" b="0" i="0">
                <a:solidFill>
                  <a:srgbClr val="1F2933"/>
                </a:solidFill>
                <a:latin typeface="Calibri"/>
              </a:rPr>
              <a:t>The Go client was mixed in with server code</a:t>
            </a:r>
          </a:p>
        </p:txBody>
      </p:sp>
      <p:sp>
        <p:nvSpPr>
          <p:cNvPr id="7" name="Rounded Rectangle 6"/>
          <p:cNvSpPr/>
          <p:nvPr/>
        </p:nvSpPr>
        <p:spPr>
          <a:xfrm>
            <a:off x="4297680" y="1645920"/>
            <a:ext cx="3566160" cy="224028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783080"/>
            <a:ext cx="3200400" cy="196596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After</a:t>
            </a:r>
          </a:p>
          <a:p>
            <a:pPr algn="l" marL="201168" indent="-182880">
              <a:spcAft>
                <a:spcPts val="400"/>
              </a:spcAft>
              <a:buFont typeface="Arial"/>
              <a:buChar char="•"/>
            </a:pPr>
            <a:r>
              <a:rPr sz="1400" b="0" i="0">
                <a:solidFill>
                  <a:srgbClr val="1F2933"/>
                </a:solidFill>
                <a:latin typeface="Calibri"/>
              </a:rPr>
              <a:t>Access to the C# and C++ versions</a:t>
            </a:r>
          </a:p>
          <a:p>
            <a:pPr algn="l" marL="201168" indent="-182880">
              <a:spcAft>
                <a:spcPts val="400"/>
              </a:spcAft>
              <a:buFont typeface="Arial"/>
              <a:buChar char="•"/>
            </a:pPr>
            <a:r>
              <a:rPr sz="1400" b="0" i="0">
                <a:solidFill>
                  <a:srgbClr val="1F2933"/>
                </a:solidFill>
                <a:latin typeface="Calibri"/>
              </a:rPr>
              <a:t>Go client pulled out and handed to Caleb and Lucas</a:t>
            </a:r>
          </a:p>
          <a:p>
            <a:pPr algn="l" marL="201168" indent="-182880">
              <a:spcAft>
                <a:spcPts val="400"/>
              </a:spcAft>
              <a:buFont typeface="Arial"/>
              <a:buChar char="•"/>
            </a:pPr>
            <a:r>
              <a:rPr sz="1400" b="0" i="0">
                <a:solidFill>
                  <a:srgbClr val="1F2933"/>
                </a:solidFill>
                <a:latin typeface="Calibri"/>
              </a:rPr>
              <a:t>Python.NET researched as another base</a:t>
            </a:r>
          </a:p>
        </p:txBody>
      </p:sp>
      <p:sp>
        <p:nvSpPr>
          <p:cNvPr id="9" name="Rounded Rectangle 8"/>
          <p:cNvSpPr/>
          <p:nvPr/>
        </p:nvSpPr>
        <p:spPr>
          <a:xfrm>
            <a:off x="8046720" y="1645920"/>
            <a:ext cx="3611880" cy="224028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83080"/>
            <a:ext cx="3246120" cy="196596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Testing and validation</a:t>
            </a:r>
          </a:p>
          <a:p>
            <a:pPr algn="l" marL="201168" indent="-182880">
              <a:spcAft>
                <a:spcPts val="400"/>
              </a:spcAft>
              <a:buFont typeface="Arial"/>
              <a:buChar char="•"/>
            </a:pPr>
            <a:r>
              <a:rPr sz="1400" b="0" i="0">
                <a:solidFill>
                  <a:srgbClr val="1F2933"/>
                </a:solidFill>
                <a:latin typeface="Calibri"/>
              </a:rPr>
              <a:t>The separated Go client builds and runs its own tests</a:t>
            </a:r>
          </a:p>
          <a:p>
            <a:pPr algn="l" marL="201168" indent="-182880">
              <a:spcAft>
                <a:spcPts val="400"/>
              </a:spcAft>
              <a:buFont typeface="Arial"/>
              <a:buChar char="•"/>
            </a:pPr>
            <a:r>
              <a:rPr sz="1400" b="0" i="0">
                <a:solidFill>
                  <a:srgbClr val="1F2933"/>
                </a:solidFill>
                <a:latin typeface="Calibri"/>
              </a:rPr>
              <a:t>Python.NET findings reviewed with Joe on Sept 28</a:t>
            </a:r>
          </a:p>
        </p:txBody>
      </p:sp>
      <p:sp>
        <p:nvSpPr>
          <p:cNvPr id="11" name="TextBox 10"/>
          <p:cNvSpPr txBox="1"/>
          <p:nvPr/>
        </p:nvSpPr>
        <p:spPr>
          <a:xfrm>
            <a:off x="548640" y="4069080"/>
            <a:ext cx="5486400" cy="36576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Why the C# client might be easier to wrap</a:t>
            </a:r>
          </a:p>
        </p:txBody>
      </p:sp>
      <p:graphicFrame>
        <p:nvGraphicFramePr>
          <p:cNvPr id="12" name="Table 11"/>
          <p:cNvGraphicFramePr>
            <a:graphicFrameLocks noGrp="1"/>
          </p:cNvGraphicFramePr>
          <p:nvPr/>
        </p:nvGraphicFramePr>
        <p:xfrm>
          <a:off x="548640" y="4480560"/>
          <a:ext cx="11109960" cy="1783080"/>
        </p:xfrm>
        <a:graphic>
          <a:graphicData uri="http://schemas.openxmlformats.org/drawingml/2006/table">
            <a:tbl>
              <a:tblPr firstRow="1" bandRow="1">
                <a:tableStyleId>{5940675A-B579-460E-94D1-54222C63F5DA}</a:tableStyleId>
              </a:tblPr>
              <a:tblGrid>
                <a:gridCol w="4114800"/>
                <a:gridCol w="6995160"/>
              </a:tblGrid>
              <a:tr h="445770">
                <a:tc>
                  <a:txBody>
                    <a:bodyPr wrap="square"/>
                    <a:lstStyle/>
                    <a:p>
                      <a:r>
                        <a:rPr sz="1300" b="1" i="0">
                          <a:solidFill>
                            <a:srgbClr val="FFFFFF"/>
                          </a:solidFill>
                          <a:latin typeface="Calibri"/>
                        </a:rPr>
                        <a:t>Problem with Go</a:t>
                      </a:r>
                    </a:p>
                  </a:txBody>
                  <a:tcPr marL="73152" marR="73152" marT="36576" marB="36576" anchor="ctr">
                    <a:solidFill>
                      <a:srgbClr val="1B2A41"/>
                    </a:solidFill>
                  </a:tcPr>
                </a:tc>
                <a:tc>
                  <a:txBody>
                    <a:bodyPr wrap="square"/>
                    <a:lstStyle/>
                    <a:p>
                      <a:r>
                        <a:rPr sz="1300" b="1" i="0">
                          <a:solidFill>
                            <a:srgbClr val="FFFFFF"/>
                          </a:solidFill>
                          <a:latin typeface="Calibri"/>
                        </a:rPr>
                        <a:t>How .NET compares</a:t>
                      </a:r>
                    </a:p>
                  </a:txBody>
                  <a:tcPr marL="73152" marR="73152" marT="36576" marB="36576" anchor="ctr">
                    <a:solidFill>
                      <a:srgbClr val="1B2A41"/>
                    </a:solidFill>
                  </a:tcPr>
                </a:tc>
              </a:tr>
              <a:tr h="445770">
                <a:tc>
                  <a:txBody>
                    <a:bodyPr wrap="square"/>
                    <a:lstStyle/>
                    <a:p>
                      <a:r>
                        <a:rPr sz="1300" b="1" i="0">
                          <a:solidFill>
                            <a:srgbClr val="1F2933"/>
                          </a:solidFill>
                          <a:latin typeface="Calibri"/>
                        </a:rPr>
                        <a:t>Generics only exist at compile time</a:t>
                      </a:r>
                    </a:p>
                  </a:txBody>
                  <a:tcPr marL="73152" marR="73152" marT="36576" marB="36576" anchor="ctr">
                    <a:solidFill>
                      <a:srgbClr val="FFFFFF"/>
                    </a:solidFill>
                  </a:tcPr>
                </a:tc>
                <a:tc>
                  <a:txBody>
                    <a:bodyPr wrap="square"/>
                    <a:lstStyle/>
                    <a:p>
                      <a:r>
                        <a:rPr sz="1300" b="0" i="0">
                          <a:solidFill>
                            <a:srgbClr val="1F2933"/>
                          </a:solidFill>
                          <a:latin typeface="Calibri"/>
                        </a:rPr>
                        <a:t>Generics exist at runtime, so Python picks the type when it calls</a:t>
                      </a:r>
                    </a:p>
                  </a:txBody>
                  <a:tcPr marL="73152" marR="73152" marT="36576" marB="36576" anchor="ctr">
                    <a:solidFill>
                      <a:srgbClr val="FFFFFF"/>
                    </a:solidFill>
                  </a:tcPr>
                </a:tc>
              </a:tr>
              <a:tr h="445770">
                <a:tc>
                  <a:txBody>
                    <a:bodyPr wrap="square"/>
                    <a:lstStyle/>
                    <a:p>
                      <a:r>
                        <a:rPr sz="1300" b="1" i="0">
                          <a:solidFill>
                            <a:srgbClr val="1F2933"/>
                          </a:solidFill>
                          <a:latin typeface="Calibri"/>
                        </a:rPr>
                        <a:t>Functions cannot be called by name</a:t>
                      </a:r>
                    </a:p>
                  </a:txBody>
                  <a:tcPr marL="73152" marR="73152" marT="36576" marB="36576" anchor="ctr">
                    <a:solidFill>
                      <a:srgbClr val="EEF2F6"/>
                    </a:solidFill>
                  </a:tcPr>
                </a:tc>
                <a:tc>
                  <a:txBody>
                    <a:bodyPr wrap="square"/>
                    <a:lstStyle/>
                    <a:p>
                      <a:r>
                        <a:rPr sz="1300" b="0" i="0">
                          <a:solidFill>
                            <a:srgbClr val="1F2933"/>
                          </a:solidFill>
                          <a:latin typeface="Calibri"/>
                        </a:rPr>
                        <a:t>Python.NET uses reflection, so no export layer is needed</a:t>
                      </a:r>
                    </a:p>
                  </a:txBody>
                  <a:tcPr marL="73152" marR="73152" marT="36576" marB="36576" anchor="ctr">
                    <a:solidFill>
                      <a:srgbClr val="EEF2F6"/>
                    </a:solidFill>
                  </a:tcPr>
                </a:tc>
              </a:tr>
              <a:tr h="445770">
                <a:tc>
                  <a:txBody>
                    <a:bodyPr wrap="square"/>
                    <a:lstStyle/>
                    <a:p>
                      <a:r>
                        <a:rPr sz="1300" b="1" i="0">
                          <a:solidFill>
                            <a:srgbClr val="1F2933"/>
                          </a:solidFill>
                          <a:latin typeface="Calibri"/>
                        </a:rPr>
                        <a:t>A panic or exit kills Python</a:t>
                      </a:r>
                    </a:p>
                  </a:txBody>
                  <a:tcPr marL="73152" marR="73152" marT="36576" marB="36576" anchor="ctr">
                    <a:solidFill>
                      <a:srgbClr val="FFFFFF"/>
                    </a:solidFill>
                  </a:tcPr>
                </a:tc>
                <a:tc>
                  <a:txBody>
                    <a:bodyPr wrap="square"/>
                    <a:lstStyle/>
                    <a:p>
                      <a:r>
                        <a:rPr sz="1300" b="0" i="0">
                          <a:solidFill>
                            <a:srgbClr val="1F2933"/>
                          </a:solidFill>
                          <a:latin typeface="Calibri"/>
                        </a:rPr>
                        <a:t>Exceptions on the calling thread become Python exceptions</a:t>
                      </a:r>
                    </a:p>
                  </a:txBody>
                  <a:tcPr marL="73152" marR="73152" marT="36576" marB="36576"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3</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Feature 2  |  CGo Investigation and Repo Setup</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Caleb Hansen</a:t>
            </a:r>
          </a:p>
        </p:txBody>
      </p:sp>
      <p:sp>
        <p:nvSpPr>
          <p:cNvPr id="5" name="Rounded Rectangle 4"/>
          <p:cNvSpPr/>
          <p:nvPr/>
        </p:nvSpPr>
        <p:spPr>
          <a:xfrm>
            <a:off x="548640" y="1645920"/>
            <a:ext cx="3566160" cy="201168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83080"/>
            <a:ext cx="3200400" cy="173736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Before</a:t>
            </a:r>
          </a:p>
          <a:p>
            <a:pPr algn="l" marL="201168" indent="-182880">
              <a:spcAft>
                <a:spcPts val="400"/>
              </a:spcAft>
              <a:buFont typeface="Arial"/>
              <a:buChar char="•"/>
            </a:pPr>
            <a:r>
              <a:rPr sz="1400" b="0" i="0">
                <a:solidFill>
                  <a:srgbClr val="1F2933"/>
                </a:solidFill>
                <a:latin typeface="Calibri"/>
              </a:rPr>
              <a:t>Plan was a script that adds export lines to Go functions</a:t>
            </a:r>
          </a:p>
          <a:p>
            <a:pPr algn="l" marL="201168" indent="-182880">
              <a:spcAft>
                <a:spcPts val="400"/>
              </a:spcAft>
              <a:buFont typeface="Arial"/>
              <a:buChar char="•"/>
            </a:pPr>
            <a:r>
              <a:rPr sz="1400" b="0" i="0">
                <a:solidFill>
                  <a:srgbClr val="1F2933"/>
                </a:solidFill>
                <a:latin typeface="Calibri"/>
              </a:rPr>
              <a:t>Build a shared library and call it from Python</a:t>
            </a:r>
          </a:p>
        </p:txBody>
      </p:sp>
      <p:sp>
        <p:nvSpPr>
          <p:cNvPr id="7" name="Rounded Rectangle 6"/>
          <p:cNvSpPr/>
          <p:nvPr/>
        </p:nvSpPr>
        <p:spPr>
          <a:xfrm>
            <a:off x="548640" y="3840480"/>
            <a:ext cx="3566160" cy="242316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977640"/>
            <a:ext cx="3200400" cy="214884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After</a:t>
            </a:r>
          </a:p>
          <a:p>
            <a:pPr algn="l" marL="201168" indent="-182880">
              <a:spcAft>
                <a:spcPts val="400"/>
              </a:spcAft>
              <a:buFont typeface="Arial"/>
              <a:buChar char="•"/>
            </a:pPr>
            <a:r>
              <a:rPr sz="1400" b="0" i="0">
                <a:solidFill>
                  <a:srgbClr val="1F2933"/>
                </a:solidFill>
                <a:latin typeface="Calibri"/>
              </a:rPr>
              <a:t>Private repo for the Go client</a:t>
            </a:r>
          </a:p>
          <a:p>
            <a:pPr algn="l" marL="201168" indent="-182880">
              <a:spcAft>
                <a:spcPts val="400"/>
              </a:spcAft>
              <a:buFont typeface="Arial"/>
              <a:buChar char="•"/>
            </a:pPr>
            <a:r>
              <a:rPr sz="1400" b="0" i="0">
                <a:solidFill>
                  <a:srgbClr val="1F2933"/>
                </a:solidFill>
                <a:latin typeface="Calibri"/>
              </a:rPr>
              <a:t>Claude skills to speed up onboarding</a:t>
            </a:r>
          </a:p>
          <a:p>
            <a:pPr algn="l" marL="201168" indent="-182880">
              <a:spcAft>
                <a:spcPts val="400"/>
              </a:spcAft>
              <a:buFont typeface="Arial"/>
              <a:buChar char="•"/>
            </a:pPr>
            <a:r>
              <a:rPr sz="1400" b="0" i="0">
                <a:solidFill>
                  <a:srgbClr val="1F2933"/>
                </a:solidFill>
                <a:latin typeface="Calibri"/>
              </a:rPr>
              <a:t>Pitfalls written up and confirmed by the prototype</a:t>
            </a:r>
          </a:p>
        </p:txBody>
      </p:sp>
      <p:sp>
        <p:nvSpPr>
          <p:cNvPr id="9" name="TextBox 8"/>
          <p:cNvSpPr txBox="1"/>
          <p:nvPr/>
        </p:nvSpPr>
        <p:spPr>
          <a:xfrm>
            <a:off x="4389120" y="1600200"/>
            <a:ext cx="7315200" cy="36576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Why the export script does not work for this client</a:t>
            </a:r>
          </a:p>
        </p:txBody>
      </p:sp>
      <p:sp>
        <p:nvSpPr>
          <p:cNvPr id="10" name="Rounded Rectangle 9"/>
          <p:cNvSpPr/>
          <p:nvPr/>
        </p:nvSpPr>
        <p:spPr>
          <a:xfrm>
            <a:off x="4389120" y="2057400"/>
            <a:ext cx="7269480" cy="7315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26280" y="2176272"/>
            <a:ext cx="493776" cy="49377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1B2A41"/>
                </a:solidFill>
                <a:latin typeface="Cambria"/>
              </a:rPr>
              <a:t>1</a:t>
            </a:r>
          </a:p>
        </p:txBody>
      </p:sp>
      <p:sp>
        <p:nvSpPr>
          <p:cNvPr id="12" name="TextBox 11"/>
          <p:cNvSpPr txBox="1"/>
          <p:nvPr/>
        </p:nvSpPr>
        <p:spPr>
          <a:xfrm>
            <a:off x="5166360" y="2130552"/>
            <a:ext cx="1463040" cy="585216"/>
          </a:xfrm>
          <a:prstGeom prst="rect">
            <a:avLst/>
          </a:prstGeom>
          <a:noFill/>
        </p:spPr>
        <p:txBody>
          <a:bodyPr wrap="square" anchor="ctr" lIns="0" rIns="0" tIns="0" bIns="0">
            <a:spAutoFit/>
          </a:bodyPr>
          <a:lstStyle/>
          <a:p>
            <a:pPr algn="l">
              <a:spcAft>
                <a:spcPts val="600"/>
              </a:spcAft>
            </a:pPr>
            <a:r>
              <a:rPr sz="1500" b="1" i="0">
                <a:solidFill>
                  <a:srgbClr val="1B2A41"/>
                </a:solidFill>
                <a:latin typeface="Cambria"/>
              </a:rPr>
              <a:t>Runtime</a:t>
            </a:r>
          </a:p>
        </p:txBody>
      </p:sp>
      <p:sp>
        <p:nvSpPr>
          <p:cNvPr id="13" name="TextBox 12"/>
          <p:cNvSpPr txBox="1"/>
          <p:nvPr/>
        </p:nvSpPr>
        <p:spPr>
          <a:xfrm>
            <a:off x="6583680" y="2130552"/>
            <a:ext cx="4983480" cy="585216"/>
          </a:xfrm>
          <a:prstGeom prst="rect">
            <a:avLst/>
          </a:prstGeom>
          <a:noFill/>
        </p:spPr>
        <p:txBody>
          <a:bodyPr wrap="square" anchor="ctr" lIns="0" rIns="0" tIns="0" bIns="0">
            <a:spAutoFit/>
          </a:bodyPr>
          <a:lstStyle/>
          <a:p>
            <a:pPr algn="l">
              <a:spcAft>
                <a:spcPts val="600"/>
              </a:spcAft>
            </a:pPr>
            <a:r>
              <a:rPr sz="1400" b="0" i="0">
                <a:solidFill>
                  <a:srgbClr val="1F2933"/>
                </a:solidFill>
                <a:latin typeface="Calibri"/>
              </a:rPr>
              <a:t>The whole Go runtime loads into Python with its own threads</a:t>
            </a:r>
          </a:p>
        </p:txBody>
      </p:sp>
      <p:sp>
        <p:nvSpPr>
          <p:cNvPr id="14" name="Rounded Rectangle 13"/>
          <p:cNvSpPr/>
          <p:nvPr/>
        </p:nvSpPr>
        <p:spPr>
          <a:xfrm>
            <a:off x="4389120" y="2907792"/>
            <a:ext cx="7269480" cy="7315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26280" y="3026664"/>
            <a:ext cx="493776" cy="49377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1B2A41"/>
                </a:solidFill>
                <a:latin typeface="Cambria"/>
              </a:rPr>
              <a:t>2</a:t>
            </a:r>
          </a:p>
        </p:txBody>
      </p:sp>
      <p:sp>
        <p:nvSpPr>
          <p:cNvPr id="16" name="TextBox 15"/>
          <p:cNvSpPr txBox="1"/>
          <p:nvPr/>
        </p:nvSpPr>
        <p:spPr>
          <a:xfrm>
            <a:off x="5166360" y="2980944"/>
            <a:ext cx="1463040" cy="585216"/>
          </a:xfrm>
          <a:prstGeom prst="rect">
            <a:avLst/>
          </a:prstGeom>
          <a:noFill/>
        </p:spPr>
        <p:txBody>
          <a:bodyPr wrap="square" anchor="ctr" lIns="0" rIns="0" tIns="0" bIns="0">
            <a:spAutoFit/>
          </a:bodyPr>
          <a:lstStyle/>
          <a:p>
            <a:pPr algn="l">
              <a:spcAft>
                <a:spcPts val="600"/>
              </a:spcAft>
            </a:pPr>
            <a:r>
              <a:rPr sz="1500" b="1" i="0">
                <a:solidFill>
                  <a:srgbClr val="1B2A41"/>
                </a:solidFill>
                <a:latin typeface="Cambria"/>
              </a:rPr>
              <a:t>Generics</a:t>
            </a:r>
          </a:p>
        </p:txBody>
      </p:sp>
      <p:sp>
        <p:nvSpPr>
          <p:cNvPr id="17" name="TextBox 16"/>
          <p:cNvSpPr txBox="1"/>
          <p:nvPr/>
        </p:nvSpPr>
        <p:spPr>
          <a:xfrm>
            <a:off x="6583680" y="2980944"/>
            <a:ext cx="4983480" cy="585216"/>
          </a:xfrm>
          <a:prstGeom prst="rect">
            <a:avLst/>
          </a:prstGeom>
          <a:noFill/>
        </p:spPr>
        <p:txBody>
          <a:bodyPr wrap="square" anchor="ctr" lIns="0" rIns="0" tIns="0" bIns="0">
            <a:spAutoFit/>
          </a:bodyPr>
          <a:lstStyle/>
          <a:p>
            <a:pPr algn="l">
              <a:spcAft>
                <a:spcPts val="600"/>
              </a:spcAft>
            </a:pPr>
            <a:r>
              <a:rPr sz="1400" b="0" i="0">
                <a:solidFill>
                  <a:srgbClr val="1F2933"/>
                </a:solidFill>
                <a:latin typeface="Calibri"/>
              </a:rPr>
              <a:t>Generic functions cannot be exported, so every type needs its own entry point</a:t>
            </a:r>
          </a:p>
        </p:txBody>
      </p:sp>
      <p:sp>
        <p:nvSpPr>
          <p:cNvPr id="18" name="Rounded Rectangle 17"/>
          <p:cNvSpPr/>
          <p:nvPr/>
        </p:nvSpPr>
        <p:spPr>
          <a:xfrm>
            <a:off x="4389120" y="3758184"/>
            <a:ext cx="7269480" cy="7315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26280" y="3877056"/>
            <a:ext cx="493776" cy="49377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1B2A41"/>
                </a:solidFill>
                <a:latin typeface="Cambria"/>
              </a:rPr>
              <a:t>3</a:t>
            </a:r>
          </a:p>
        </p:txBody>
      </p:sp>
      <p:sp>
        <p:nvSpPr>
          <p:cNvPr id="20" name="TextBox 19"/>
          <p:cNvSpPr txBox="1"/>
          <p:nvPr/>
        </p:nvSpPr>
        <p:spPr>
          <a:xfrm>
            <a:off x="5166360" y="3831336"/>
            <a:ext cx="1463040" cy="585216"/>
          </a:xfrm>
          <a:prstGeom prst="rect">
            <a:avLst/>
          </a:prstGeom>
          <a:noFill/>
        </p:spPr>
        <p:txBody>
          <a:bodyPr wrap="square" anchor="ctr" lIns="0" rIns="0" tIns="0" bIns="0">
            <a:spAutoFit/>
          </a:bodyPr>
          <a:lstStyle/>
          <a:p>
            <a:pPr algn="l">
              <a:spcAft>
                <a:spcPts val="600"/>
              </a:spcAft>
            </a:pPr>
            <a:r>
              <a:rPr sz="1500" b="1" i="0">
                <a:solidFill>
                  <a:srgbClr val="1B2A41"/>
                </a:solidFill>
                <a:latin typeface="Cambria"/>
              </a:rPr>
              <a:t>Callbacks</a:t>
            </a:r>
          </a:p>
        </p:txBody>
      </p:sp>
      <p:sp>
        <p:nvSpPr>
          <p:cNvPr id="21" name="TextBox 20"/>
          <p:cNvSpPr txBox="1"/>
          <p:nvPr/>
        </p:nvSpPr>
        <p:spPr>
          <a:xfrm>
            <a:off x="6583680" y="3831336"/>
            <a:ext cx="4983480" cy="585216"/>
          </a:xfrm>
          <a:prstGeom prst="rect">
            <a:avLst/>
          </a:prstGeom>
          <a:noFill/>
        </p:spPr>
        <p:txBody>
          <a:bodyPr wrap="square" anchor="ctr" lIns="0" rIns="0" tIns="0" bIns="0">
            <a:spAutoFit/>
          </a:bodyPr>
          <a:lstStyle/>
          <a:p>
            <a:pPr algn="l">
              <a:spcAft>
                <a:spcPts val="600"/>
              </a:spcAft>
            </a:pPr>
            <a:r>
              <a:rPr sz="1400" b="0" i="0">
                <a:solidFill>
                  <a:srgbClr val="1F2933"/>
                </a:solidFill>
                <a:latin typeface="Calibri"/>
              </a:rPr>
              <a:t>Go threads need the GIL to call Python, which can stall or deadlock</a:t>
            </a:r>
          </a:p>
        </p:txBody>
      </p:sp>
      <p:sp>
        <p:nvSpPr>
          <p:cNvPr id="22" name="Rounded Rectangle 21"/>
          <p:cNvSpPr/>
          <p:nvPr/>
        </p:nvSpPr>
        <p:spPr>
          <a:xfrm>
            <a:off x="4389120" y="4608576"/>
            <a:ext cx="7269480" cy="7315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526280" y="4727448"/>
            <a:ext cx="493776" cy="49377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1B2A41"/>
                </a:solidFill>
                <a:latin typeface="Cambria"/>
              </a:rPr>
              <a:t>4</a:t>
            </a:r>
          </a:p>
        </p:txBody>
      </p:sp>
      <p:sp>
        <p:nvSpPr>
          <p:cNvPr id="24" name="TextBox 23"/>
          <p:cNvSpPr txBox="1"/>
          <p:nvPr/>
        </p:nvSpPr>
        <p:spPr>
          <a:xfrm>
            <a:off x="5166360" y="4681728"/>
            <a:ext cx="1463040" cy="585216"/>
          </a:xfrm>
          <a:prstGeom prst="rect">
            <a:avLst/>
          </a:prstGeom>
          <a:noFill/>
        </p:spPr>
        <p:txBody>
          <a:bodyPr wrap="square" anchor="ctr" lIns="0" rIns="0" tIns="0" bIns="0">
            <a:spAutoFit/>
          </a:bodyPr>
          <a:lstStyle/>
          <a:p>
            <a:pPr algn="l">
              <a:spcAft>
                <a:spcPts val="600"/>
              </a:spcAft>
            </a:pPr>
            <a:r>
              <a:rPr sz="1500" b="1" i="0">
                <a:solidFill>
                  <a:srgbClr val="1B2A41"/>
                </a:solidFill>
                <a:latin typeface="Cambria"/>
              </a:rPr>
              <a:t>Lifetimes</a:t>
            </a:r>
          </a:p>
        </p:txBody>
      </p:sp>
      <p:sp>
        <p:nvSpPr>
          <p:cNvPr id="25" name="TextBox 24"/>
          <p:cNvSpPr txBox="1"/>
          <p:nvPr/>
        </p:nvSpPr>
        <p:spPr>
          <a:xfrm>
            <a:off x="6583680" y="4681728"/>
            <a:ext cx="4983480" cy="585216"/>
          </a:xfrm>
          <a:prstGeom prst="rect">
            <a:avLst/>
          </a:prstGeom>
          <a:noFill/>
        </p:spPr>
        <p:txBody>
          <a:bodyPr wrap="square" anchor="ctr" lIns="0" rIns="0" tIns="0" bIns="0">
            <a:spAutoFit/>
          </a:bodyPr>
          <a:lstStyle/>
          <a:p>
            <a:pPr algn="l">
              <a:spcAft>
                <a:spcPts val="600"/>
              </a:spcAft>
            </a:pPr>
            <a:r>
              <a:rPr sz="1400" b="0" i="0">
                <a:solidFill>
                  <a:srgbClr val="1F2933"/>
                </a:solidFill>
                <a:latin typeface="Calibri"/>
              </a:rPr>
              <a:t>Go objects cannot be handed to Python, so handles are tracked by hand</a:t>
            </a:r>
          </a:p>
        </p:txBody>
      </p:sp>
      <p:sp>
        <p:nvSpPr>
          <p:cNvPr id="26" name="Rounded Rectangle 25"/>
          <p:cNvSpPr/>
          <p:nvPr/>
        </p:nvSpPr>
        <p:spPr>
          <a:xfrm>
            <a:off x="4389120" y="5458968"/>
            <a:ext cx="7269480" cy="7315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26280" y="5577840"/>
            <a:ext cx="493776" cy="493776"/>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1B2A41"/>
                </a:solidFill>
                <a:latin typeface="Cambria"/>
              </a:rPr>
              <a:t>5</a:t>
            </a:r>
          </a:p>
        </p:txBody>
      </p:sp>
      <p:sp>
        <p:nvSpPr>
          <p:cNvPr id="28" name="TextBox 27"/>
          <p:cNvSpPr txBox="1"/>
          <p:nvPr/>
        </p:nvSpPr>
        <p:spPr>
          <a:xfrm>
            <a:off x="5166360" y="5532120"/>
            <a:ext cx="1463040" cy="585216"/>
          </a:xfrm>
          <a:prstGeom prst="rect">
            <a:avLst/>
          </a:prstGeom>
          <a:noFill/>
        </p:spPr>
        <p:txBody>
          <a:bodyPr wrap="square" anchor="ctr" lIns="0" rIns="0" tIns="0" bIns="0">
            <a:spAutoFit/>
          </a:bodyPr>
          <a:lstStyle/>
          <a:p>
            <a:pPr algn="l">
              <a:spcAft>
                <a:spcPts val="600"/>
              </a:spcAft>
            </a:pPr>
            <a:r>
              <a:rPr sz="1500" b="1" i="0">
                <a:solidFill>
                  <a:srgbClr val="1B2A41"/>
                </a:solidFill>
                <a:latin typeface="Cambria"/>
              </a:rPr>
              <a:t>Panics</a:t>
            </a:r>
          </a:p>
        </p:txBody>
      </p:sp>
      <p:sp>
        <p:nvSpPr>
          <p:cNvPr id="29" name="TextBox 28"/>
          <p:cNvSpPr txBox="1"/>
          <p:nvPr/>
        </p:nvSpPr>
        <p:spPr>
          <a:xfrm>
            <a:off x="6583680" y="5532120"/>
            <a:ext cx="4983480" cy="585216"/>
          </a:xfrm>
          <a:prstGeom prst="rect">
            <a:avLst/>
          </a:prstGeom>
          <a:noFill/>
        </p:spPr>
        <p:txBody>
          <a:bodyPr wrap="square" anchor="ctr" lIns="0" rIns="0" tIns="0" bIns="0">
            <a:spAutoFit/>
          </a:bodyPr>
          <a:lstStyle/>
          <a:p>
            <a:pPr algn="l">
              <a:spcAft>
                <a:spcPts val="600"/>
              </a:spcAft>
            </a:pPr>
            <a:r>
              <a:rPr sz="1400" b="0" i="0">
                <a:solidFill>
                  <a:srgbClr val="1F2933"/>
                </a:solidFill>
                <a:latin typeface="Calibri"/>
              </a:rPr>
              <a:t>A Go panic aborts the Python interpreter with no traceback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3</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Feature 3  |  Python Bridge Prototype</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Lucas Phillips</a:t>
            </a:r>
          </a:p>
        </p:txBody>
      </p:sp>
      <p:sp>
        <p:nvSpPr>
          <p:cNvPr id="5" name="Rounded Rectangle 4"/>
          <p:cNvSpPr/>
          <p:nvPr/>
        </p:nvSpPr>
        <p:spPr>
          <a:xfrm>
            <a:off x="548640" y="1645920"/>
            <a:ext cx="3566160" cy="214884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83080"/>
            <a:ext cx="3200400" cy="187452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Before</a:t>
            </a:r>
          </a:p>
          <a:p>
            <a:pPr algn="l" marL="201168" indent="-182880">
              <a:spcAft>
                <a:spcPts val="400"/>
              </a:spcAft>
              <a:buFont typeface="Arial"/>
              <a:buChar char="•"/>
            </a:pPr>
            <a:r>
              <a:rPr sz="1400" b="0" i="0">
                <a:solidFill>
                  <a:srgbClr val="1F2933"/>
                </a:solidFill>
                <a:latin typeface="Calibri"/>
              </a:rPr>
              <a:t>Only a COMTRADE wrapper from Sprint 3</a:t>
            </a:r>
          </a:p>
          <a:p>
            <a:pPr algn="l" marL="201168" indent="-182880">
              <a:spcAft>
                <a:spcPts val="400"/>
              </a:spcAft>
              <a:buFont typeface="Arial"/>
              <a:buChar char="•"/>
            </a:pPr>
            <a:r>
              <a:rPr sz="1400" b="0" i="0">
                <a:solidFill>
                  <a:srgbClr val="1F2933"/>
                </a:solidFill>
                <a:latin typeface="Calibri"/>
              </a:rPr>
              <a:t>No evidence on which approach holds up for the real client</a:t>
            </a:r>
          </a:p>
        </p:txBody>
      </p:sp>
      <p:sp>
        <p:nvSpPr>
          <p:cNvPr id="7" name="Rounded Rectangle 6"/>
          <p:cNvSpPr/>
          <p:nvPr/>
        </p:nvSpPr>
        <p:spPr>
          <a:xfrm>
            <a:off x="548640" y="3977639"/>
            <a:ext cx="3566160" cy="2286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114800"/>
            <a:ext cx="3200400" cy="201168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After</a:t>
            </a:r>
          </a:p>
          <a:p>
            <a:pPr algn="l" marL="201168" indent="-182880">
              <a:spcAft>
                <a:spcPts val="400"/>
              </a:spcAft>
              <a:buFont typeface="Arial"/>
              <a:buChar char="•"/>
            </a:pPr>
            <a:r>
              <a:rPr sz="1400" b="0" i="0">
                <a:solidFill>
                  <a:srgbClr val="1F2933"/>
                </a:solidFill>
                <a:latin typeface="Calibri"/>
              </a:rPr>
              <a:t>One Python API over three transports</a:t>
            </a:r>
          </a:p>
          <a:p>
            <a:pPr algn="l" marL="201168" indent="-182880">
              <a:spcAft>
                <a:spcPts val="400"/>
              </a:spcAft>
              <a:buFont typeface="Arial"/>
              <a:buChar char="•"/>
            </a:pPr>
            <a:r>
              <a:rPr sz="1400" b="0" i="0">
                <a:solidFill>
                  <a:srgbClr val="1F2933"/>
                </a:solidFill>
                <a:latin typeface="Calibri"/>
              </a:rPr>
              <a:t>Fake Signal Hub for testing</a:t>
            </a:r>
          </a:p>
          <a:p>
            <a:pPr algn="l" marL="201168" indent="-182880">
              <a:spcAft>
                <a:spcPts val="400"/>
              </a:spcAft>
              <a:buFont typeface="Arial"/>
              <a:buChar char="•"/>
            </a:pPr>
            <a:r>
              <a:rPr sz="1400" b="0" i="0">
                <a:solidFill>
                  <a:srgbClr val="1F2933"/>
                </a:solidFill>
                <a:latin typeface="Calibri"/>
              </a:rPr>
              <a:t>Publish, subscribe, history, and discovery working</a:t>
            </a:r>
          </a:p>
        </p:txBody>
      </p:sp>
      <p:graphicFrame>
        <p:nvGraphicFramePr>
          <p:cNvPr id="9" name="Table 8"/>
          <p:cNvGraphicFramePr>
            <a:graphicFrameLocks noGrp="1"/>
          </p:cNvGraphicFramePr>
          <p:nvPr/>
        </p:nvGraphicFramePr>
        <p:xfrm>
          <a:off x="4389120" y="1645920"/>
          <a:ext cx="7269480" cy="4617718"/>
        </p:xfrm>
        <a:graphic>
          <a:graphicData uri="http://schemas.openxmlformats.org/drawingml/2006/table">
            <a:tbl>
              <a:tblPr firstRow="1" bandRow="1">
                <a:tableStyleId>{5940675A-B579-460E-94D1-54222C63F5DA}</a:tableStyleId>
              </a:tblPr>
              <a:tblGrid>
                <a:gridCol w="2148840"/>
                <a:gridCol w="1645920"/>
                <a:gridCol w="1645920"/>
                <a:gridCol w="1828800"/>
              </a:tblGrid>
              <a:tr h="659674">
                <a:tc>
                  <a:txBody>
                    <a:bodyPr wrap="square"/>
                    <a:lstStyle/>
                    <a:p>
                      <a:r>
                        <a:rPr sz="1400" b="1" i="0">
                          <a:solidFill>
                            <a:srgbClr val="FFFFFF"/>
                          </a:solidFill>
                          <a:latin typeface="Calibri"/>
                        </a:rPr>
                        <a:t/>
                      </a:r>
                    </a:p>
                  </a:txBody>
                  <a:tcPr marL="73152" marR="73152" marT="36576" marB="36576" anchor="ctr">
                    <a:solidFill>
                      <a:srgbClr val="1B2A41"/>
                    </a:solidFill>
                  </a:tcPr>
                </a:tc>
                <a:tc>
                  <a:txBody>
                    <a:bodyPr wrap="square"/>
                    <a:lstStyle/>
                    <a:p>
                      <a:r>
                        <a:rPr sz="1400" b="1" i="0">
                          <a:solidFill>
                            <a:srgbClr val="FFFFFF"/>
                          </a:solidFill>
                          <a:latin typeface="Calibri"/>
                        </a:rPr>
                        <a:t>ctypes</a:t>
                      </a:r>
                    </a:p>
                  </a:txBody>
                  <a:tcPr marL="73152" marR="73152" marT="36576" marB="36576" anchor="ctr">
                    <a:solidFill>
                      <a:srgbClr val="1B2A41"/>
                    </a:solidFill>
                  </a:tcPr>
                </a:tc>
                <a:tc>
                  <a:txBody>
                    <a:bodyPr wrap="square"/>
                    <a:lstStyle/>
                    <a:p>
                      <a:r>
                        <a:rPr sz="1400" b="1" i="0">
                          <a:solidFill>
                            <a:srgbClr val="FFFFFF"/>
                          </a:solidFill>
                          <a:latin typeface="Calibri"/>
                        </a:rPr>
                        <a:t>cffi</a:t>
                      </a:r>
                    </a:p>
                  </a:txBody>
                  <a:tcPr marL="73152" marR="73152" marT="36576" marB="36576" anchor="ctr">
                    <a:solidFill>
                      <a:srgbClr val="1B2A41"/>
                    </a:solidFill>
                  </a:tcPr>
                </a:tc>
                <a:tc>
                  <a:txBody>
                    <a:bodyPr wrap="square"/>
                    <a:lstStyle/>
                    <a:p>
                      <a:r>
                        <a:rPr sz="1400" b="1" i="0">
                          <a:solidFill>
                            <a:srgbClr val="FFFFFF"/>
                          </a:solidFill>
                          <a:latin typeface="Calibri"/>
                        </a:rPr>
                        <a:t>gRPC bridge</a:t>
                      </a:r>
                    </a:p>
                  </a:txBody>
                  <a:tcPr marL="73152" marR="73152" marT="36576" marB="36576" anchor="ctr">
                    <a:solidFill>
                      <a:srgbClr val="1B2A41"/>
                    </a:solidFill>
                  </a:tcPr>
                </a:tc>
              </a:tr>
              <a:tr h="659674">
                <a:tc>
                  <a:txBody>
                    <a:bodyPr wrap="square"/>
                    <a:lstStyle/>
                    <a:p>
                      <a:r>
                        <a:rPr sz="1400" b="1" i="0">
                          <a:solidFill>
                            <a:srgbClr val="1F2933"/>
                          </a:solidFill>
                          <a:latin typeface="Calibri"/>
                        </a:rPr>
                        <a:t>Common operations</a:t>
                      </a:r>
                    </a:p>
                  </a:txBody>
                  <a:tcPr marL="73152" marR="73152" marT="36576" marB="36576" anchor="ctr">
                    <a:solidFill>
                      <a:srgbClr val="FFFFFF"/>
                    </a:solidFill>
                  </a:tcPr>
                </a:tc>
                <a:tc>
                  <a:txBody>
                    <a:bodyPr wrap="square"/>
                    <a:lstStyle/>
                    <a:p>
                      <a:r>
                        <a:rPr sz="1400" b="0" i="0">
                          <a:solidFill>
                            <a:srgbClr val="2E7D32"/>
                          </a:solidFill>
                          <a:latin typeface="Calibri"/>
                        </a:rPr>
                        <a:t>Work</a:t>
                      </a:r>
                    </a:p>
                  </a:txBody>
                  <a:tcPr marL="73152" marR="73152" marT="36576" marB="36576" anchor="ctr">
                    <a:solidFill>
                      <a:srgbClr val="FFFFFF"/>
                    </a:solidFill>
                  </a:tcPr>
                </a:tc>
                <a:tc>
                  <a:txBody>
                    <a:bodyPr wrap="square"/>
                    <a:lstStyle/>
                    <a:p>
                      <a:r>
                        <a:rPr sz="1400" b="0" i="0">
                          <a:solidFill>
                            <a:srgbClr val="2E7D32"/>
                          </a:solidFill>
                          <a:latin typeface="Calibri"/>
                        </a:rPr>
                        <a:t>Work</a:t>
                      </a:r>
                    </a:p>
                  </a:txBody>
                  <a:tcPr marL="73152" marR="73152" marT="36576" marB="36576" anchor="ctr">
                    <a:solidFill>
                      <a:srgbClr val="FFFFFF"/>
                    </a:solidFill>
                  </a:tcPr>
                </a:tc>
                <a:tc>
                  <a:txBody>
                    <a:bodyPr wrap="square"/>
                    <a:lstStyle/>
                    <a:p>
                      <a:r>
                        <a:rPr sz="1400" b="0" i="0">
                          <a:solidFill>
                            <a:srgbClr val="2E7D32"/>
                          </a:solidFill>
                          <a:latin typeface="Calibri"/>
                        </a:rPr>
                        <a:t>Work</a:t>
                      </a:r>
                    </a:p>
                  </a:txBody>
                  <a:tcPr marL="73152" marR="73152" marT="36576" marB="36576" anchor="ctr">
                    <a:solidFill>
                      <a:srgbClr val="FFFFFF"/>
                    </a:solidFill>
                  </a:tcPr>
                </a:tc>
              </a:tr>
              <a:tr h="659674">
                <a:tc>
                  <a:txBody>
                    <a:bodyPr wrap="square"/>
                    <a:lstStyle/>
                    <a:p>
                      <a:r>
                        <a:rPr sz="1400" b="1" i="0">
                          <a:solidFill>
                            <a:srgbClr val="1F2933"/>
                          </a:solidFill>
                          <a:latin typeface="Calibri"/>
                        </a:rPr>
                        <a:t>Go crash or exit</a:t>
                      </a:r>
                    </a:p>
                  </a:txBody>
                  <a:tcPr marL="73152" marR="73152" marT="36576" marB="36576" anchor="ctr">
                    <a:solidFill>
                      <a:srgbClr val="EEF2F6"/>
                    </a:solidFill>
                  </a:tcPr>
                </a:tc>
                <a:tc>
                  <a:txBody>
                    <a:bodyPr wrap="square"/>
                    <a:lstStyle/>
                    <a:p>
                      <a:r>
                        <a:rPr sz="1400" b="0" i="0">
                          <a:solidFill>
                            <a:srgbClr val="B23A2E"/>
                          </a:solidFill>
                          <a:latin typeface="Calibri"/>
                        </a:rPr>
                        <a:t>Python dies</a:t>
                      </a:r>
                    </a:p>
                  </a:txBody>
                  <a:tcPr marL="73152" marR="73152" marT="36576" marB="36576" anchor="ctr">
                    <a:solidFill>
                      <a:srgbClr val="EEF2F6"/>
                    </a:solidFill>
                  </a:tcPr>
                </a:tc>
                <a:tc>
                  <a:txBody>
                    <a:bodyPr wrap="square"/>
                    <a:lstStyle/>
                    <a:p>
                      <a:r>
                        <a:rPr sz="1400" b="0" i="0">
                          <a:solidFill>
                            <a:srgbClr val="B23A2E"/>
                          </a:solidFill>
                          <a:latin typeface="Calibri"/>
                        </a:rPr>
                        <a:t>Python dies</a:t>
                      </a:r>
                    </a:p>
                  </a:txBody>
                  <a:tcPr marL="73152" marR="73152" marT="36576" marB="36576" anchor="ctr">
                    <a:solidFill>
                      <a:srgbClr val="EEF2F6"/>
                    </a:solidFill>
                  </a:tcPr>
                </a:tc>
                <a:tc>
                  <a:txBody>
                    <a:bodyPr wrap="square"/>
                    <a:lstStyle/>
                    <a:p>
                      <a:r>
                        <a:rPr sz="1400" b="0" i="0">
                          <a:solidFill>
                            <a:srgbClr val="2E7D32"/>
                          </a:solidFill>
                          <a:latin typeface="Calibri"/>
                        </a:rPr>
                        <a:t>Python error</a:t>
                      </a:r>
                    </a:p>
                  </a:txBody>
                  <a:tcPr marL="73152" marR="73152" marT="36576" marB="36576" anchor="ctr">
                    <a:solidFill>
                      <a:srgbClr val="EEF2F6"/>
                    </a:solidFill>
                  </a:tcPr>
                </a:tc>
              </a:tr>
              <a:tr h="659674">
                <a:tc>
                  <a:txBody>
                    <a:bodyPr wrap="square"/>
                    <a:lstStyle/>
                    <a:p>
                      <a:r>
                        <a:rPr sz="1400" b="1" i="0">
                          <a:solidFill>
                            <a:srgbClr val="1F2933"/>
                          </a:solidFill>
                          <a:latin typeface="Calibri"/>
                        </a:rPr>
                        <a:t>Fork worker pools</a:t>
                      </a:r>
                    </a:p>
                  </a:txBody>
                  <a:tcPr marL="73152" marR="73152" marT="36576" marB="36576" anchor="ctr">
                    <a:solidFill>
                      <a:srgbClr val="FFFFFF"/>
                    </a:solidFill>
                  </a:tcPr>
                </a:tc>
                <a:tc>
                  <a:txBody>
                    <a:bodyPr wrap="square"/>
                    <a:lstStyle/>
                    <a:p>
                      <a:r>
                        <a:rPr sz="1400" b="0" i="0">
                          <a:solidFill>
                            <a:srgbClr val="B23A2E"/>
                          </a:solidFill>
                          <a:latin typeface="Calibri"/>
                        </a:rPr>
                        <a:t>Hang</a:t>
                      </a:r>
                    </a:p>
                  </a:txBody>
                  <a:tcPr marL="73152" marR="73152" marT="36576" marB="36576" anchor="ctr">
                    <a:solidFill>
                      <a:srgbClr val="FFFFFF"/>
                    </a:solidFill>
                  </a:tcPr>
                </a:tc>
                <a:tc>
                  <a:txBody>
                    <a:bodyPr wrap="square"/>
                    <a:lstStyle/>
                    <a:p>
                      <a:r>
                        <a:rPr sz="1400" b="0" i="0">
                          <a:solidFill>
                            <a:srgbClr val="B23A2E"/>
                          </a:solidFill>
                          <a:latin typeface="Calibri"/>
                        </a:rPr>
                        <a:t>Hang</a:t>
                      </a:r>
                    </a:p>
                  </a:txBody>
                  <a:tcPr marL="73152" marR="73152" marT="36576" marB="36576" anchor="ctr">
                    <a:solidFill>
                      <a:srgbClr val="FFFFFF"/>
                    </a:solidFill>
                  </a:tcPr>
                </a:tc>
                <a:tc>
                  <a:txBody>
                    <a:bodyPr wrap="square"/>
                    <a:lstStyle/>
                    <a:p>
                      <a:r>
                        <a:rPr sz="1400" b="0" i="0">
                          <a:solidFill>
                            <a:srgbClr val="2E7D32"/>
                          </a:solidFill>
                          <a:latin typeface="Calibri"/>
                        </a:rPr>
                        <a:t>Work</a:t>
                      </a:r>
                    </a:p>
                  </a:txBody>
                  <a:tcPr marL="73152" marR="73152" marT="36576" marB="36576" anchor="ctr">
                    <a:solidFill>
                      <a:srgbClr val="FFFFFF"/>
                    </a:solidFill>
                  </a:tcPr>
                </a:tc>
              </a:tr>
              <a:tr h="659674">
                <a:tc>
                  <a:txBody>
                    <a:bodyPr wrap="square"/>
                    <a:lstStyle/>
                    <a:p>
                      <a:r>
                        <a:rPr sz="1400" b="1" i="0">
                          <a:solidFill>
                            <a:srgbClr val="1F2933"/>
                          </a:solidFill>
                          <a:latin typeface="Calibri"/>
                        </a:rPr>
                        <a:t>Cost per call</a:t>
                      </a:r>
                    </a:p>
                  </a:txBody>
                  <a:tcPr marL="73152" marR="73152" marT="36576" marB="36576" anchor="ctr">
                    <a:solidFill>
                      <a:srgbClr val="EEF2F6"/>
                    </a:solidFill>
                  </a:tcPr>
                </a:tc>
                <a:tc>
                  <a:txBody>
                    <a:bodyPr wrap="square"/>
                    <a:lstStyle/>
                    <a:p>
                      <a:r>
                        <a:rPr sz="1400" b="0" i="0">
                          <a:solidFill>
                            <a:srgbClr val="1F2933"/>
                          </a:solidFill>
                          <a:latin typeface="Calibri"/>
                        </a:rPr>
                        <a:t>2 us</a:t>
                      </a:r>
                    </a:p>
                  </a:txBody>
                  <a:tcPr marL="73152" marR="73152" marT="36576" marB="36576" anchor="ctr">
                    <a:solidFill>
                      <a:srgbClr val="EEF2F6"/>
                    </a:solidFill>
                  </a:tcPr>
                </a:tc>
                <a:tc>
                  <a:txBody>
                    <a:bodyPr wrap="square"/>
                    <a:lstStyle/>
                    <a:p>
                      <a:r>
                        <a:rPr sz="1400" b="0" i="0">
                          <a:solidFill>
                            <a:srgbClr val="1F2933"/>
                          </a:solidFill>
                          <a:latin typeface="Calibri"/>
                        </a:rPr>
                        <a:t>1.5 us</a:t>
                      </a:r>
                    </a:p>
                  </a:txBody>
                  <a:tcPr marL="73152" marR="73152" marT="36576" marB="36576" anchor="ctr">
                    <a:solidFill>
                      <a:srgbClr val="EEF2F6"/>
                    </a:solidFill>
                  </a:tcPr>
                </a:tc>
                <a:tc>
                  <a:txBody>
                    <a:bodyPr wrap="square"/>
                    <a:lstStyle/>
                    <a:p>
                      <a:r>
                        <a:rPr sz="1400" b="0" i="0">
                          <a:solidFill>
                            <a:srgbClr val="1F2933"/>
                          </a:solidFill>
                          <a:latin typeface="Calibri"/>
                        </a:rPr>
                        <a:t>17 us</a:t>
                      </a:r>
                    </a:p>
                  </a:txBody>
                  <a:tcPr marL="73152" marR="73152" marT="36576" marB="36576" anchor="ctr">
                    <a:solidFill>
                      <a:srgbClr val="EEF2F6"/>
                    </a:solidFill>
                  </a:tcPr>
                </a:tc>
              </a:tr>
              <a:tr h="659674">
                <a:tc>
                  <a:txBody>
                    <a:bodyPr wrap="square"/>
                    <a:lstStyle/>
                    <a:p>
                      <a:r>
                        <a:rPr sz="1400" b="1" i="0">
                          <a:solidFill>
                            <a:srgbClr val="1F2933"/>
                          </a:solidFill>
                          <a:latin typeface="Calibri"/>
                        </a:rPr>
                        <a:t>Declarations</a:t>
                      </a:r>
                    </a:p>
                  </a:txBody>
                  <a:tcPr marL="73152" marR="73152" marT="36576" marB="36576" anchor="ctr">
                    <a:solidFill>
                      <a:srgbClr val="FFFFFF"/>
                    </a:solidFill>
                  </a:tcPr>
                </a:tc>
                <a:tc>
                  <a:txBody>
                    <a:bodyPr wrap="square"/>
                    <a:lstStyle/>
                    <a:p>
                      <a:r>
                        <a:rPr sz="1400" b="0" i="0">
                          <a:solidFill>
                            <a:srgbClr val="1F2933"/>
                          </a:solidFill>
                          <a:latin typeface="Calibri"/>
                        </a:rPr>
                        <a:t>By hand</a:t>
                      </a:r>
                    </a:p>
                  </a:txBody>
                  <a:tcPr marL="73152" marR="73152" marT="36576" marB="36576" anchor="ctr">
                    <a:solidFill>
                      <a:srgbClr val="FFFFFF"/>
                    </a:solidFill>
                  </a:tcPr>
                </a:tc>
                <a:tc>
                  <a:txBody>
                    <a:bodyPr wrap="square"/>
                    <a:lstStyle/>
                    <a:p>
                      <a:r>
                        <a:rPr sz="1400" b="0" i="0">
                          <a:solidFill>
                            <a:srgbClr val="1F2933"/>
                          </a:solidFill>
                          <a:latin typeface="Calibri"/>
                        </a:rPr>
                        <a:t>From header</a:t>
                      </a:r>
                    </a:p>
                  </a:txBody>
                  <a:tcPr marL="73152" marR="73152" marT="36576" marB="36576" anchor="ctr">
                    <a:solidFill>
                      <a:srgbClr val="FFFFFF"/>
                    </a:solidFill>
                  </a:tcPr>
                </a:tc>
                <a:tc>
                  <a:txBody>
                    <a:bodyPr wrap="square"/>
                    <a:lstStyle/>
                    <a:p>
                      <a:r>
                        <a:rPr sz="1400" b="0" i="0">
                          <a:solidFill>
                            <a:srgbClr val="1F2933"/>
                          </a:solidFill>
                          <a:latin typeface="Calibri"/>
                        </a:rPr>
                        <a:t>From .proto</a:t>
                      </a:r>
                    </a:p>
                  </a:txBody>
                  <a:tcPr marL="73152" marR="73152" marT="36576" marB="36576" anchor="ctr">
                    <a:solidFill>
                      <a:srgbClr val="FFFFFF"/>
                    </a:solidFill>
                  </a:tcPr>
                </a:tc>
              </a:tr>
              <a:tr h="659674">
                <a:tc>
                  <a:txBody>
                    <a:bodyPr wrap="square"/>
                    <a:lstStyle/>
                    <a:p>
                      <a:r>
                        <a:rPr sz="1400" b="1" i="0">
                          <a:solidFill>
                            <a:srgbClr val="1F2933"/>
                          </a:solidFill>
                          <a:latin typeface="Calibri"/>
                        </a:rPr>
                        <a:t>Go changes needed</a:t>
                      </a:r>
                    </a:p>
                  </a:txBody>
                  <a:tcPr marL="73152" marR="73152" marT="36576" marB="36576" anchor="ctr">
                    <a:solidFill>
                      <a:srgbClr val="EEF2F6"/>
                    </a:solidFill>
                  </a:tcPr>
                </a:tc>
                <a:tc>
                  <a:txBody>
                    <a:bodyPr wrap="square"/>
                    <a:lstStyle/>
                    <a:p>
                      <a:r>
                        <a:rPr sz="1400" b="0" i="0">
                          <a:solidFill>
                            <a:srgbClr val="1F2933"/>
                          </a:solidFill>
                          <a:latin typeface="Calibri"/>
                        </a:rPr>
                        <a:t>Exit hook</a:t>
                      </a:r>
                    </a:p>
                  </a:txBody>
                  <a:tcPr marL="73152" marR="73152" marT="36576" marB="36576" anchor="ctr">
                    <a:solidFill>
                      <a:srgbClr val="EEF2F6"/>
                    </a:solidFill>
                  </a:tcPr>
                </a:tc>
                <a:tc>
                  <a:txBody>
                    <a:bodyPr wrap="square"/>
                    <a:lstStyle/>
                    <a:p>
                      <a:r>
                        <a:rPr sz="1400" b="0" i="0">
                          <a:solidFill>
                            <a:srgbClr val="1F2933"/>
                          </a:solidFill>
                          <a:latin typeface="Calibri"/>
                        </a:rPr>
                        <a:t>Exit hook</a:t>
                      </a:r>
                    </a:p>
                  </a:txBody>
                  <a:tcPr marL="73152" marR="73152" marT="36576" marB="36576" anchor="ctr">
                    <a:solidFill>
                      <a:srgbClr val="EEF2F6"/>
                    </a:solidFill>
                  </a:tcPr>
                </a:tc>
                <a:tc>
                  <a:txBody>
                    <a:bodyPr wrap="square"/>
                    <a:lstStyle/>
                    <a:p>
                      <a:r>
                        <a:rPr sz="1400" b="0" i="0">
                          <a:solidFill>
                            <a:srgbClr val="2E7D32"/>
                          </a:solidFill>
                          <a:latin typeface="Calibri"/>
                        </a:rPr>
                        <a:t>None</a:t>
                      </a:r>
                    </a:p>
                  </a:txBody>
                  <a:tcPr marL="73152" marR="73152" marT="36576" marB="36576" anchor="ctr">
                    <a:solidFill>
                      <a:srgbClr val="EEF2F6"/>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3</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Feature 3 Demo  |  Prototype Running</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Quickstart script against the fake Signal Hub, then the full test run</a:t>
            </a:r>
          </a:p>
        </p:txBody>
      </p:sp>
      <p:pic>
        <p:nvPicPr>
          <p:cNvPr id="5" name="Picture 4" descr="term_quickstart.png"/>
          <p:cNvPicPr>
            <a:picLocks noChangeAspect="1"/>
          </p:cNvPicPr>
          <p:nvPr/>
        </p:nvPicPr>
        <p:blipFill>
          <a:blip r:embed="rId2"/>
          <a:stretch>
            <a:fillRect/>
          </a:stretch>
        </p:blipFill>
        <p:spPr>
          <a:xfrm>
            <a:off x="548640" y="1554480"/>
            <a:ext cx="7315200" cy="1828800"/>
          </a:xfrm>
          <a:prstGeom prst="rect">
            <a:avLst/>
          </a:prstGeom>
        </p:spPr>
      </p:pic>
      <p:sp>
        <p:nvSpPr>
          <p:cNvPr id="6" name="TextBox 5"/>
          <p:cNvSpPr txBox="1"/>
          <p:nvPr/>
        </p:nvSpPr>
        <p:spPr>
          <a:xfrm>
            <a:off x="548640" y="3429000"/>
            <a:ext cx="7315200" cy="640080"/>
          </a:xfrm>
          <a:prstGeom prst="rect">
            <a:avLst/>
          </a:prstGeom>
          <a:noFill/>
        </p:spPr>
        <p:txBody>
          <a:bodyPr wrap="square" anchor="t" lIns="0" rIns="0" tIns="0" bIns="0">
            <a:spAutoFit/>
          </a:bodyPr>
          <a:lstStyle/>
          <a:p>
            <a:pPr algn="l">
              <a:spcAft>
                <a:spcPts val="600"/>
              </a:spcAft>
            </a:pPr>
            <a:r>
              <a:rPr sz="1300" b="0" i="0">
                <a:solidFill>
                  <a:srgbClr val="5B6B7A"/>
                </a:solidFill>
                <a:latin typeface="Calibri"/>
              </a:rPr>
              <a:t>An engineer's script publishes two phases, fetches history as numpy, reads a time-aligned view, gets the latest sample, and gets a normal Python exception for bad input.</a:t>
            </a:r>
          </a:p>
        </p:txBody>
      </p:sp>
      <p:pic>
        <p:nvPicPr>
          <p:cNvPr id="7" name="Picture 6" descr="term_tests.png"/>
          <p:cNvPicPr>
            <a:picLocks noChangeAspect="1"/>
          </p:cNvPicPr>
          <p:nvPr/>
        </p:nvPicPr>
        <p:blipFill>
          <a:blip r:embed="rId3"/>
          <a:stretch>
            <a:fillRect/>
          </a:stretch>
        </p:blipFill>
        <p:spPr>
          <a:xfrm>
            <a:off x="548640" y="4170541"/>
            <a:ext cx="5760720" cy="2083076"/>
          </a:xfrm>
          <a:prstGeom prst="rect">
            <a:avLst/>
          </a:prstGeom>
        </p:spPr>
      </p:pic>
      <p:sp>
        <p:nvSpPr>
          <p:cNvPr id="8" name="TextBox 7"/>
          <p:cNvSpPr txBox="1"/>
          <p:nvPr/>
        </p:nvSpPr>
        <p:spPr>
          <a:xfrm>
            <a:off x="6446520" y="4160520"/>
            <a:ext cx="1463040" cy="2103120"/>
          </a:xfrm>
          <a:prstGeom prst="rect">
            <a:avLst/>
          </a:prstGeom>
          <a:noFill/>
        </p:spPr>
        <p:txBody>
          <a:bodyPr wrap="square" anchor="ctr" lIns="0" rIns="0" tIns="0" bIns="0">
            <a:spAutoFit/>
          </a:bodyPr>
          <a:lstStyle/>
          <a:p>
            <a:pPr algn="l">
              <a:spcAft>
                <a:spcPts val="600"/>
              </a:spcAft>
            </a:pPr>
            <a:r>
              <a:rPr sz="1300" b="0" i="0">
                <a:solidFill>
                  <a:srgbClr val="5B6B7A"/>
                </a:solidFill>
                <a:latin typeface="Calibri"/>
              </a:rPr>
              <a:t>Full suite on September 29. Every transport passes.</a:t>
            </a:r>
          </a:p>
        </p:txBody>
      </p:sp>
      <p:sp>
        <p:nvSpPr>
          <p:cNvPr id="9" name="Rounded Rectangle 8"/>
          <p:cNvSpPr/>
          <p:nvPr/>
        </p:nvSpPr>
        <p:spPr>
          <a:xfrm>
            <a:off x="8183879" y="1554480"/>
            <a:ext cx="3474720" cy="14173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1600200"/>
            <a:ext cx="1600200" cy="1325880"/>
          </a:xfrm>
          <a:prstGeom prst="rect">
            <a:avLst/>
          </a:prstGeom>
          <a:noFill/>
        </p:spPr>
        <p:txBody>
          <a:bodyPr wrap="square" anchor="ctr" lIns="0" rIns="0" tIns="0" bIns="0">
            <a:spAutoFit/>
          </a:bodyPr>
          <a:lstStyle/>
          <a:p>
            <a:pPr algn="l">
              <a:spcAft>
                <a:spcPts val="600"/>
              </a:spcAft>
            </a:pPr>
            <a:r>
              <a:rPr sz="3600" b="1" i="0">
                <a:solidFill>
                  <a:srgbClr val="1B2A41"/>
                </a:solidFill>
                <a:latin typeface="Cambria"/>
              </a:rPr>
              <a:t>2,155</a:t>
            </a:r>
          </a:p>
        </p:txBody>
      </p:sp>
      <p:sp>
        <p:nvSpPr>
          <p:cNvPr id="11" name="TextBox 10"/>
          <p:cNvSpPr txBox="1"/>
          <p:nvPr/>
        </p:nvSpPr>
        <p:spPr>
          <a:xfrm>
            <a:off x="9966960" y="1600200"/>
            <a:ext cx="1600200" cy="1325880"/>
          </a:xfrm>
          <a:prstGeom prst="rect">
            <a:avLst/>
          </a:prstGeom>
          <a:noFill/>
        </p:spPr>
        <p:txBody>
          <a:bodyPr wrap="square" anchor="ctr" lIns="0" rIns="0" tIns="0" bIns="0">
            <a:spAutoFit/>
          </a:bodyPr>
          <a:lstStyle/>
          <a:p>
            <a:pPr algn="l">
              <a:spcAft>
                <a:spcPts val="600"/>
              </a:spcAft>
            </a:pPr>
            <a:r>
              <a:rPr sz="1500" b="0" i="0">
                <a:solidFill>
                  <a:srgbClr val="1F2933"/>
                </a:solidFill>
                <a:latin typeface="Calibri"/>
              </a:rPr>
              <a:t>tests passing</a:t>
            </a:r>
          </a:p>
        </p:txBody>
      </p:sp>
      <p:sp>
        <p:nvSpPr>
          <p:cNvPr id="12" name="Rounded Rectangle 11"/>
          <p:cNvSpPr/>
          <p:nvPr/>
        </p:nvSpPr>
        <p:spPr>
          <a:xfrm>
            <a:off x="8183879" y="3154680"/>
            <a:ext cx="3474720" cy="14173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3200400"/>
            <a:ext cx="1600200" cy="1325880"/>
          </a:xfrm>
          <a:prstGeom prst="rect">
            <a:avLst/>
          </a:prstGeom>
          <a:noFill/>
        </p:spPr>
        <p:txBody>
          <a:bodyPr wrap="square" anchor="ctr" lIns="0" rIns="0" tIns="0" bIns="0">
            <a:spAutoFit/>
          </a:bodyPr>
          <a:lstStyle/>
          <a:p>
            <a:pPr algn="l">
              <a:spcAft>
                <a:spcPts val="600"/>
              </a:spcAft>
            </a:pPr>
            <a:r>
              <a:rPr sz="3600" b="1" i="0">
                <a:solidFill>
                  <a:srgbClr val="1B2A41"/>
                </a:solidFill>
                <a:latin typeface="Cambria"/>
              </a:rPr>
              <a:t>16</a:t>
            </a:r>
          </a:p>
        </p:txBody>
      </p:sp>
      <p:sp>
        <p:nvSpPr>
          <p:cNvPr id="14" name="TextBox 13"/>
          <p:cNvSpPr txBox="1"/>
          <p:nvPr/>
        </p:nvSpPr>
        <p:spPr>
          <a:xfrm>
            <a:off x="9966960" y="3200400"/>
            <a:ext cx="1600200" cy="1325880"/>
          </a:xfrm>
          <a:prstGeom prst="rect">
            <a:avLst/>
          </a:prstGeom>
          <a:noFill/>
        </p:spPr>
        <p:txBody>
          <a:bodyPr wrap="square" anchor="ctr" lIns="0" rIns="0" tIns="0" bIns="0">
            <a:spAutoFit/>
          </a:bodyPr>
          <a:lstStyle/>
          <a:p>
            <a:pPr algn="l">
              <a:spcAft>
                <a:spcPts val="600"/>
              </a:spcAft>
            </a:pPr>
            <a:r>
              <a:rPr sz="1500" b="0" i="0">
                <a:solidFill>
                  <a:srgbClr val="1F2933"/>
                </a:solidFill>
                <a:latin typeface="Calibri"/>
              </a:rPr>
              <a:t>sample encodings covered</a:t>
            </a:r>
          </a:p>
        </p:txBody>
      </p:sp>
      <p:sp>
        <p:nvSpPr>
          <p:cNvPr id="15" name="Rounded Rectangle 14"/>
          <p:cNvSpPr/>
          <p:nvPr/>
        </p:nvSpPr>
        <p:spPr>
          <a:xfrm>
            <a:off x="8183879" y="4754880"/>
            <a:ext cx="3474720" cy="14173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4800600"/>
            <a:ext cx="1600200" cy="1325880"/>
          </a:xfrm>
          <a:prstGeom prst="rect">
            <a:avLst/>
          </a:prstGeom>
          <a:noFill/>
        </p:spPr>
        <p:txBody>
          <a:bodyPr wrap="square" anchor="ctr" lIns="0" rIns="0" tIns="0" bIns="0">
            <a:spAutoFit/>
          </a:bodyPr>
          <a:lstStyle/>
          <a:p>
            <a:pPr algn="l">
              <a:spcAft>
                <a:spcPts val="600"/>
              </a:spcAft>
            </a:pPr>
            <a:r>
              <a:rPr sz="3600" b="1" i="0">
                <a:solidFill>
                  <a:srgbClr val="1B2A41"/>
                </a:solidFill>
                <a:latin typeface="Cambria"/>
              </a:rPr>
              <a:t>0</a:t>
            </a:r>
          </a:p>
        </p:txBody>
      </p:sp>
      <p:sp>
        <p:nvSpPr>
          <p:cNvPr id="17" name="TextBox 16"/>
          <p:cNvSpPr txBox="1"/>
          <p:nvPr/>
        </p:nvSpPr>
        <p:spPr>
          <a:xfrm>
            <a:off x="9966960" y="4800600"/>
            <a:ext cx="1600200" cy="1325880"/>
          </a:xfrm>
          <a:prstGeom prst="rect">
            <a:avLst/>
          </a:prstGeom>
          <a:noFill/>
        </p:spPr>
        <p:txBody>
          <a:bodyPr wrap="square" anchor="ctr" lIns="0" rIns="0" tIns="0" bIns="0">
            <a:spAutoFit/>
          </a:bodyPr>
          <a:lstStyle/>
          <a:p>
            <a:pPr algn="l">
              <a:spcAft>
                <a:spcPts val="600"/>
              </a:spcAft>
            </a:pPr>
            <a:r>
              <a:rPr sz="1500" b="0" i="0">
                <a:solidFill>
                  <a:srgbClr val="1F2933"/>
                </a:solidFill>
                <a:latin typeface="Calibri"/>
              </a:rPr>
              <a:t>changes to the Go client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3</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Feature 3  |  Performance and Failure Results</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About 30 seconds per transport, two runs, float32 at a synthetic 1 MHz rate</a:t>
            </a:r>
          </a:p>
        </p:txBody>
      </p:sp>
      <p:graphicFrame>
        <p:nvGraphicFramePr>
          <p:cNvPr id="5" name="Chart 4"/>
          <p:cNvGraphicFramePr>
            <a:graphicFrameLocks noGrp="1"/>
          </p:cNvGraphicFramePr>
          <p:nvPr/>
        </p:nvGraphicFramePr>
        <p:xfrm>
          <a:off x="548640" y="1600200"/>
          <a:ext cx="6583680" cy="3840480"/>
        </p:xfrm>
        <a:graphic>
          <a:graphicData uri="http://schemas.openxmlformats.org/drawingml/2006/chart">
            <c:chart xmlns:c="http://schemas.openxmlformats.org/drawingml/2006/chart" r:id="rId2"/>
          </a:graphicData>
        </a:graphic>
      </p:graphicFrame>
      <p:sp>
        <p:nvSpPr>
          <p:cNvPr id="6" name="TextBox 5"/>
          <p:cNvSpPr txBox="1"/>
          <p:nvPr/>
        </p:nvSpPr>
        <p:spPr>
          <a:xfrm>
            <a:off x="548640" y="5532120"/>
            <a:ext cx="6583680" cy="731520"/>
          </a:xfrm>
          <a:prstGeom prst="rect">
            <a:avLst/>
          </a:prstGeom>
          <a:noFill/>
        </p:spPr>
        <p:txBody>
          <a:bodyPr wrap="square" anchor="t" lIns="0" rIns="0" tIns="0" bIns="0">
            <a:spAutoFit/>
          </a:bodyPr>
          <a:lstStyle/>
          <a:p>
            <a:pPr algn="l">
              <a:spcAft>
                <a:spcPts val="600"/>
              </a:spcAft>
            </a:pPr>
            <a:r>
              <a:rPr sz="1300" b="0" i="0">
                <a:solidFill>
                  <a:srgbClr val="5B6B7A"/>
                </a:solidFill>
                <a:latin typeface="Calibri"/>
              </a:rPr>
              <a:t>Midpoint of the two runs. Latency was about 5 ms at p50 for every transport because the client sends every 10 ms.</a:t>
            </a:r>
          </a:p>
        </p:txBody>
      </p:sp>
      <p:sp>
        <p:nvSpPr>
          <p:cNvPr id="7" name="Rounded Rectangle 6"/>
          <p:cNvSpPr/>
          <p:nvPr/>
        </p:nvSpPr>
        <p:spPr>
          <a:xfrm>
            <a:off x="7406640" y="1600200"/>
            <a:ext cx="4251960" cy="224028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19" y="1737360"/>
            <a:ext cx="3886200" cy="196596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Failure testing</a:t>
            </a:r>
          </a:p>
          <a:p>
            <a:pPr algn="l" marL="201168" indent="-182880">
              <a:spcAft>
                <a:spcPts val="400"/>
              </a:spcAft>
              <a:buFont typeface="Arial"/>
              <a:buChar char="•"/>
            </a:pPr>
            <a:r>
              <a:rPr sz="1400" b="0" i="0">
                <a:solidFill>
                  <a:srgbClr val="1F2933"/>
                </a:solidFill>
                <a:latin typeface="Calibri"/>
              </a:rPr>
              <a:t>Fatal Hub error, panics, fork, Ctrl+C, log floods, killed processes</a:t>
            </a:r>
          </a:p>
          <a:p>
            <a:pPr algn="l" marL="201168" indent="-182880">
              <a:spcAft>
                <a:spcPts val="400"/>
              </a:spcAft>
              <a:buFont typeface="Arial"/>
              <a:buChar char="•"/>
            </a:pPr>
            <a:r>
              <a:rPr sz="1400" b="0" i="0">
                <a:solidFill>
                  <a:srgbClr val="1F2933"/>
                </a:solidFill>
                <a:latin typeface="Calibri"/>
              </a:rPr>
              <a:t>Only the bridge turned every one into a Python exception</a:t>
            </a:r>
          </a:p>
        </p:txBody>
      </p:sp>
      <p:sp>
        <p:nvSpPr>
          <p:cNvPr id="9" name="Rounded Rectangle 8"/>
          <p:cNvSpPr/>
          <p:nvPr/>
        </p:nvSpPr>
        <p:spPr>
          <a:xfrm>
            <a:off x="7406640" y="4023360"/>
            <a:ext cx="4251960" cy="224028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19" y="4160520"/>
            <a:ext cx="3886200" cy="196596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Recommendation</a:t>
            </a:r>
          </a:p>
          <a:p>
            <a:pPr algn="l" marL="201168" indent="-182880">
              <a:spcAft>
                <a:spcPts val="400"/>
              </a:spcAft>
              <a:buFont typeface="Arial"/>
              <a:buChar char="•"/>
            </a:pPr>
            <a:r>
              <a:rPr sz="1400" b="0" i="0">
                <a:solidFill>
                  <a:srgbClr val="1F2933"/>
                </a:solidFill>
                <a:latin typeface="Calibri"/>
              </a:rPr>
              <a:t>Evaluate C# with Python.NET first in Sprint 5</a:t>
            </a:r>
          </a:p>
          <a:p>
            <a:pPr algn="l" marL="201168" indent="-182880">
              <a:spcAft>
                <a:spcPts val="400"/>
              </a:spcAft>
              <a:buFont typeface="Arial"/>
              <a:buChar char="•"/>
            </a:pPr>
            <a:r>
              <a:rPr sz="1400" b="0" i="0">
                <a:solidFill>
                  <a:srgbClr val="1F2933"/>
                </a:solidFill>
                <a:latin typeface="Calibri"/>
              </a:rPr>
              <a:t>If Go stays, build on the bridge</a:t>
            </a:r>
          </a:p>
          <a:p>
            <a:pPr algn="l" marL="201168" indent="-182880">
              <a:spcAft>
                <a:spcPts val="400"/>
              </a:spcAft>
              <a:buFont typeface="Arial"/>
              <a:buChar char="•"/>
            </a:pPr>
            <a:r>
              <a:rPr sz="1400" b="0" i="0">
                <a:solidFill>
                  <a:srgbClr val="1F2933"/>
                </a:solidFill>
                <a:latin typeface="Calibri"/>
              </a:rPr>
              <a:t>Keep the API, fake Hub, and tests either 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3</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Feature 3  |  Proposed Architecture</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Only the transport layer changes between approaches</a:t>
            </a:r>
          </a:p>
        </p:txBody>
      </p:sp>
      <p:sp>
        <p:nvSpPr>
          <p:cNvPr id="5" name="Rounded Rectangle 4"/>
          <p:cNvSpPr/>
          <p:nvPr/>
        </p:nvSpPr>
        <p:spPr>
          <a:xfrm>
            <a:off x="548640" y="1645920"/>
            <a:ext cx="6400800" cy="804672"/>
          </a:xfrm>
          <a:prstGeom prst="roundRect">
            <a:avLst>
              <a:gd name="adj" fmla="val 6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00784"/>
            <a:ext cx="2103120" cy="694944"/>
          </a:xfrm>
          <a:prstGeom prst="rect">
            <a:avLst/>
          </a:prstGeom>
          <a:noFill/>
        </p:spPr>
        <p:txBody>
          <a:bodyPr wrap="square" anchor="ctr" lIns="0" rIns="0" tIns="0" bIns="0">
            <a:spAutoFit/>
          </a:bodyPr>
          <a:lstStyle/>
          <a:p>
            <a:pPr algn="l">
              <a:spcAft>
                <a:spcPts val="600"/>
              </a:spcAft>
            </a:pPr>
            <a:r>
              <a:rPr sz="1600" b="1" i="0">
                <a:solidFill>
                  <a:srgbClr val="1B2A41"/>
                </a:solidFill>
                <a:latin typeface="Cambria"/>
              </a:rPr>
              <a:t>Python API</a:t>
            </a:r>
          </a:p>
        </p:txBody>
      </p:sp>
      <p:sp>
        <p:nvSpPr>
          <p:cNvPr id="7" name="TextBox 6"/>
          <p:cNvSpPr txBox="1"/>
          <p:nvPr/>
        </p:nvSpPr>
        <p:spPr>
          <a:xfrm>
            <a:off x="2926080" y="1700784"/>
            <a:ext cx="3886200" cy="694944"/>
          </a:xfrm>
          <a:prstGeom prst="rect">
            <a:avLst/>
          </a:prstGeom>
          <a:noFill/>
        </p:spPr>
        <p:txBody>
          <a:bodyPr wrap="square" anchor="ctr" lIns="0" rIns="0" tIns="0" bIns="0">
            <a:spAutoFit/>
          </a:bodyPr>
          <a:lstStyle/>
          <a:p>
            <a:pPr algn="l">
              <a:spcAft>
                <a:spcPts val="600"/>
              </a:spcAft>
            </a:pPr>
            <a:r>
              <a:rPr sz="1300" b="0" i="0">
                <a:solidFill>
                  <a:srgbClr val="1B2A41"/>
                </a:solidFill>
                <a:latin typeface="Calibri"/>
              </a:rPr>
              <a:t>What engineers import. numpy in and out, Python exceptions</a:t>
            </a:r>
          </a:p>
        </p:txBody>
      </p:sp>
      <p:sp>
        <p:nvSpPr>
          <p:cNvPr id="8" name="Rounded Rectangle 7"/>
          <p:cNvSpPr/>
          <p:nvPr/>
        </p:nvSpPr>
        <p:spPr>
          <a:xfrm>
            <a:off x="548640" y="2578608"/>
            <a:ext cx="6400800" cy="804672"/>
          </a:xfrm>
          <a:prstGeom prst="roundRect">
            <a:avLst>
              <a:gd name="adj" fmla="val 6000"/>
            </a:avLst>
          </a:prstGeom>
          <a:solidFill>
            <a:srgbClr val="324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33472"/>
            <a:ext cx="2103120" cy="694944"/>
          </a:xfrm>
          <a:prstGeom prst="rect">
            <a:avLst/>
          </a:prstGeom>
          <a:noFill/>
        </p:spPr>
        <p:txBody>
          <a:bodyPr wrap="square" anchor="ctr" lIns="0" rIns="0" tIns="0" bIns="0">
            <a:spAutoFit/>
          </a:bodyPr>
          <a:lstStyle/>
          <a:p>
            <a:pPr algn="l">
              <a:spcAft>
                <a:spcPts val="600"/>
              </a:spcAft>
            </a:pPr>
            <a:r>
              <a:rPr sz="1600" b="1" i="0">
                <a:solidFill>
                  <a:srgbClr val="FFFFFF"/>
                </a:solidFill>
                <a:latin typeface="Cambria"/>
              </a:rPr>
              <a:t>Transport</a:t>
            </a:r>
          </a:p>
        </p:txBody>
      </p:sp>
      <p:sp>
        <p:nvSpPr>
          <p:cNvPr id="10" name="TextBox 9"/>
          <p:cNvSpPr txBox="1"/>
          <p:nvPr/>
        </p:nvSpPr>
        <p:spPr>
          <a:xfrm>
            <a:off x="2926080" y="2633472"/>
            <a:ext cx="3886200" cy="694944"/>
          </a:xfrm>
          <a:prstGeom prst="rect">
            <a:avLst/>
          </a:prstGeom>
          <a:noFill/>
        </p:spPr>
        <p:txBody>
          <a:bodyPr wrap="square" anchor="ctr" lIns="0" rIns="0" tIns="0" bIns="0">
            <a:spAutoFit/>
          </a:bodyPr>
          <a:lstStyle/>
          <a:p>
            <a:pPr algn="l">
              <a:spcAft>
                <a:spcPts val="600"/>
              </a:spcAft>
            </a:pPr>
            <a:r>
              <a:rPr sz="1300" b="0" i="0">
                <a:solidFill>
                  <a:srgbClr val="FFFFFF"/>
                </a:solidFill>
                <a:latin typeface="Calibri"/>
              </a:rPr>
              <a:t>gRPC bridge recommended. ctypes and cffi kept for comparison</a:t>
            </a:r>
          </a:p>
        </p:txBody>
      </p:sp>
      <p:sp>
        <p:nvSpPr>
          <p:cNvPr id="11" name="Rounded Rectangle 10"/>
          <p:cNvSpPr/>
          <p:nvPr/>
        </p:nvSpPr>
        <p:spPr>
          <a:xfrm>
            <a:off x="548640" y="3511296"/>
            <a:ext cx="6400800" cy="804672"/>
          </a:xfrm>
          <a:prstGeom prst="roundRect">
            <a:avLst>
              <a:gd name="adj" fmla="val 6000"/>
            </a:avLst>
          </a:prstGeom>
          <a:solidFill>
            <a:srgbClr val="324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566160"/>
            <a:ext cx="2103120" cy="694944"/>
          </a:xfrm>
          <a:prstGeom prst="rect">
            <a:avLst/>
          </a:prstGeom>
          <a:noFill/>
        </p:spPr>
        <p:txBody>
          <a:bodyPr wrap="square" anchor="ctr" lIns="0" rIns="0" tIns="0" bIns="0">
            <a:spAutoFit/>
          </a:bodyPr>
          <a:lstStyle/>
          <a:p>
            <a:pPr algn="l">
              <a:spcAft>
                <a:spcPts val="600"/>
              </a:spcAft>
            </a:pPr>
            <a:r>
              <a:rPr sz="1600" b="1" i="0">
                <a:solidFill>
                  <a:srgbClr val="FFFFFF"/>
                </a:solidFill>
                <a:latin typeface="Cambria"/>
              </a:rPr>
              <a:t>Go facade</a:t>
            </a:r>
          </a:p>
        </p:txBody>
      </p:sp>
      <p:sp>
        <p:nvSpPr>
          <p:cNvPr id="13" name="TextBox 12"/>
          <p:cNvSpPr txBox="1"/>
          <p:nvPr/>
        </p:nvSpPr>
        <p:spPr>
          <a:xfrm>
            <a:off x="2926080" y="3566160"/>
            <a:ext cx="3886200" cy="694944"/>
          </a:xfrm>
          <a:prstGeom prst="rect">
            <a:avLst/>
          </a:prstGeom>
          <a:noFill/>
        </p:spPr>
        <p:txBody>
          <a:bodyPr wrap="square" anchor="ctr" lIns="0" rIns="0" tIns="0" bIns="0">
            <a:spAutoFit/>
          </a:bodyPr>
          <a:lstStyle/>
          <a:p>
            <a:pPr algn="l">
              <a:spcAft>
                <a:spcPts val="600"/>
              </a:spcAft>
            </a:pPr>
            <a:r>
              <a:rPr sz="1300" b="0" i="0">
                <a:solidFill>
                  <a:srgbClr val="FFFFFF"/>
                </a:solidFill>
                <a:latin typeface="Calibri"/>
              </a:rPr>
              <a:t>The only code that calls the SEL client. One call per operation, buffers, panic recovery</a:t>
            </a:r>
          </a:p>
        </p:txBody>
      </p:sp>
      <p:sp>
        <p:nvSpPr>
          <p:cNvPr id="14" name="Rounded Rectangle 13"/>
          <p:cNvSpPr/>
          <p:nvPr/>
        </p:nvSpPr>
        <p:spPr>
          <a:xfrm>
            <a:off x="548640" y="4443984"/>
            <a:ext cx="6400800" cy="804672"/>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498848"/>
            <a:ext cx="2103120" cy="694944"/>
          </a:xfrm>
          <a:prstGeom prst="rect">
            <a:avLst/>
          </a:prstGeom>
          <a:noFill/>
        </p:spPr>
        <p:txBody>
          <a:bodyPr wrap="square" anchor="ctr" lIns="0" rIns="0" tIns="0" bIns="0">
            <a:spAutoFit/>
          </a:bodyPr>
          <a:lstStyle/>
          <a:p>
            <a:pPr algn="l">
              <a:spcAft>
                <a:spcPts val="600"/>
              </a:spcAft>
            </a:pPr>
            <a:r>
              <a:rPr sz="1600" b="1" i="0">
                <a:solidFill>
                  <a:srgbClr val="FFFFFF"/>
                </a:solidFill>
                <a:latin typeface="Cambria"/>
              </a:rPr>
              <a:t>SignalHub Go client</a:t>
            </a:r>
          </a:p>
        </p:txBody>
      </p:sp>
      <p:sp>
        <p:nvSpPr>
          <p:cNvPr id="16" name="TextBox 15"/>
          <p:cNvSpPr txBox="1"/>
          <p:nvPr/>
        </p:nvSpPr>
        <p:spPr>
          <a:xfrm>
            <a:off x="2926080" y="4498848"/>
            <a:ext cx="3886200" cy="694944"/>
          </a:xfrm>
          <a:prstGeom prst="rect">
            <a:avLst/>
          </a:prstGeom>
          <a:noFill/>
        </p:spPr>
        <p:txBody>
          <a:bodyPr wrap="square" anchor="ctr" lIns="0" rIns="0" tIns="0" bIns="0">
            <a:spAutoFit/>
          </a:bodyPr>
          <a:lstStyle/>
          <a:p>
            <a:pPr algn="l">
              <a:spcAft>
                <a:spcPts val="600"/>
              </a:spcAft>
            </a:pPr>
            <a:r>
              <a:rPr sz="1300" b="0" i="0">
                <a:solidFill>
                  <a:srgbClr val="FFFFFF"/>
                </a:solidFill>
                <a:latin typeface="Calibri"/>
              </a:rPr>
              <a:t>SEL's client, unchanged</a:t>
            </a:r>
          </a:p>
        </p:txBody>
      </p:sp>
      <p:sp>
        <p:nvSpPr>
          <p:cNvPr id="17" name="Rounded Rectangle 16"/>
          <p:cNvSpPr/>
          <p:nvPr/>
        </p:nvSpPr>
        <p:spPr>
          <a:xfrm>
            <a:off x="548640" y="5376672"/>
            <a:ext cx="6400800" cy="804672"/>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431536"/>
            <a:ext cx="2103120" cy="694944"/>
          </a:xfrm>
          <a:prstGeom prst="rect">
            <a:avLst/>
          </a:prstGeom>
          <a:noFill/>
        </p:spPr>
        <p:txBody>
          <a:bodyPr wrap="square" anchor="ctr" lIns="0" rIns="0" tIns="0" bIns="0">
            <a:spAutoFit/>
          </a:bodyPr>
          <a:lstStyle/>
          <a:p>
            <a:pPr algn="l">
              <a:spcAft>
                <a:spcPts val="600"/>
              </a:spcAft>
            </a:pPr>
            <a:r>
              <a:rPr sz="1600" b="1" i="0">
                <a:solidFill>
                  <a:srgbClr val="FFFFFF"/>
                </a:solidFill>
                <a:latin typeface="Cambria"/>
              </a:rPr>
              <a:t>Signal Hub</a:t>
            </a:r>
          </a:p>
        </p:txBody>
      </p:sp>
      <p:sp>
        <p:nvSpPr>
          <p:cNvPr id="19" name="TextBox 18"/>
          <p:cNvSpPr txBox="1"/>
          <p:nvPr/>
        </p:nvSpPr>
        <p:spPr>
          <a:xfrm>
            <a:off x="2926080" y="5431536"/>
            <a:ext cx="3886200" cy="694944"/>
          </a:xfrm>
          <a:prstGeom prst="rect">
            <a:avLst/>
          </a:prstGeom>
          <a:noFill/>
        </p:spPr>
        <p:txBody>
          <a:bodyPr wrap="square" anchor="ctr" lIns="0" rIns="0" tIns="0" bIns="0">
            <a:spAutoFit/>
          </a:bodyPr>
          <a:lstStyle/>
          <a:p>
            <a:pPr algn="l">
              <a:spcAft>
                <a:spcPts val="600"/>
              </a:spcAft>
            </a:pPr>
            <a:r>
              <a:rPr sz="1300" b="0" i="0">
                <a:solidFill>
                  <a:srgbClr val="FFFFFF"/>
                </a:solidFill>
                <a:latin typeface="Calibri"/>
              </a:rPr>
              <a:t>Real server in deployment, fake Signal Hub in tests</a:t>
            </a:r>
          </a:p>
        </p:txBody>
      </p:sp>
      <p:sp>
        <p:nvSpPr>
          <p:cNvPr id="20" name="Rounded Rectangle 19"/>
          <p:cNvSpPr/>
          <p:nvPr/>
        </p:nvSpPr>
        <p:spPr>
          <a:xfrm>
            <a:off x="7223760" y="1645920"/>
            <a:ext cx="4434840" cy="4572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0" y="1783080"/>
            <a:ext cx="4069079" cy="429768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Design rules that fixed most problems</a:t>
            </a:r>
          </a:p>
          <a:p>
            <a:pPr algn="l" marL="201168" indent="-182880">
              <a:spcAft>
                <a:spcPts val="400"/>
              </a:spcAft>
              <a:buFont typeface="Arial"/>
              <a:buChar char="•"/>
            </a:pPr>
            <a:r>
              <a:rPr sz="1400" b="0" i="0">
                <a:solidFill>
                  <a:srgbClr val="1F2933"/>
                </a:solidFill>
                <a:latin typeface="Calibri"/>
              </a:rPr>
              <a:t>Go never calls into Python. Data is buffered in Go and Python pulls it in batches.</a:t>
            </a:r>
          </a:p>
          <a:p>
            <a:pPr algn="l" marL="201168" indent="-182880">
              <a:spcAft>
                <a:spcPts val="400"/>
              </a:spcAft>
              <a:buFont typeface="Arial"/>
              <a:buChar char="•"/>
            </a:pPr>
            <a:r>
              <a:rPr sz="1400" b="0" i="0">
                <a:solidFill>
                  <a:srgbClr val="1F2933"/>
                </a:solidFill>
                <a:latin typeface="Calibri"/>
              </a:rPr>
              <a:t>User callbacks run on a Python thread.</a:t>
            </a:r>
          </a:p>
          <a:p>
            <a:pPr algn="l" marL="201168" indent="-182880">
              <a:spcAft>
                <a:spcPts val="400"/>
              </a:spcAft>
              <a:buFont typeface="Arial"/>
              <a:buChar char="•"/>
            </a:pPr>
            <a:r>
              <a:rPr sz="1400" b="0" i="0">
                <a:solidFill>
                  <a:srgbClr val="1F2933"/>
                </a:solidFill>
                <a:latin typeface="Calibri"/>
              </a:rPr>
              <a:t>Control info travels as structured messages and samples as raw binary records.</a:t>
            </a:r>
          </a:p>
          <a:p>
            <a:pPr algn="l" marL="201168" indent="-182880">
              <a:spcAft>
                <a:spcPts val="400"/>
              </a:spcAft>
              <a:buFont typeface="Arial"/>
              <a:buChar char="•"/>
            </a:pPr>
            <a:r>
              <a:rPr sz="1400" b="0" i="0">
                <a:solidFill>
                  <a:srgbClr val="1F2933"/>
                </a:solidFill>
                <a:latin typeface="Calibri"/>
              </a:rPr>
              <a:t>No call blocks more than 250 ms at a time, so Ctrl+C works in about half a second.</a:t>
            </a:r>
          </a:p>
          <a:p>
            <a:pPr algn="l" marL="201168" indent="-182880">
              <a:spcAft>
                <a:spcPts val="400"/>
              </a:spcAft>
              <a:buFont typeface="Arial"/>
              <a:buChar char="•"/>
            </a:pPr>
            <a:r>
              <a:rPr sz="1400" b="0" i="0">
                <a:solidFill>
                  <a:srgbClr val="1F2933"/>
                </a:solidFill>
                <a:latin typeface="Calibri"/>
              </a:rPr>
              <a:t>Every Go call recovers panics and returns an error.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3</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Feature 4  |  Documentation and Extensibility</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Darron Li</a:t>
            </a:r>
          </a:p>
        </p:txBody>
      </p:sp>
      <p:sp>
        <p:nvSpPr>
          <p:cNvPr id="5" name="Rounded Rectangle 4"/>
          <p:cNvSpPr/>
          <p:nvPr/>
        </p:nvSpPr>
        <p:spPr>
          <a:xfrm>
            <a:off x="548640" y="1645920"/>
            <a:ext cx="4754880" cy="461772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4389120" cy="4389120"/>
          </a:xfrm>
          <a:prstGeom prst="rect">
            <a:avLst/>
          </a:prstGeom>
          <a:noFill/>
        </p:spPr>
        <p:txBody>
          <a:bodyPr wrap="square" anchor="t" lIns="0" rIns="0" tIns="0" bIns="0">
            <a:spAutoFit/>
          </a:bodyPr>
          <a:lstStyle/>
          <a:p>
            <a:pPr algn="l">
              <a:spcAft>
                <a:spcPts val="0"/>
              </a:spcAft>
            </a:pPr>
            <a:r>
              <a:rPr sz="1300" b="0" i="0">
                <a:solidFill>
                  <a:srgbClr val="F2A541"/>
                </a:solidFill>
                <a:latin typeface="Courier New"/>
              </a:rPr>
              <a:t>docs/</a:t>
            </a:r>
          </a:p>
          <a:p>
            <a:pPr algn="l">
              <a:spcAft>
                <a:spcPts val="0"/>
              </a:spcAft>
            </a:pPr>
            <a:r>
              <a:rPr sz="1300" b="0" i="0">
                <a:solidFill>
                  <a:srgbClr val="FFFFFF"/>
                </a:solidFill>
                <a:latin typeface="Courier New"/>
              </a:rPr>
              <a:t>  index.md</a:t>
            </a:r>
          </a:p>
          <a:p>
            <a:pPr algn="l">
              <a:spcAft>
                <a:spcPts val="0"/>
              </a:spcAft>
            </a:pPr>
            <a:r>
              <a:rPr sz="1300" b="0" i="0">
                <a:solidFill>
                  <a:srgbClr val="F2A541"/>
                </a:solidFill>
                <a:latin typeface="Courier New"/>
              </a:rPr>
              <a:t>  getting-started/</a:t>
            </a:r>
          </a:p>
          <a:p>
            <a:pPr algn="l">
              <a:spcAft>
                <a:spcPts val="0"/>
              </a:spcAft>
            </a:pPr>
            <a:r>
              <a:rPr sz="1300" b="0" i="0">
                <a:solidFill>
                  <a:srgbClr val="FFFFFF"/>
                </a:solidFill>
                <a:latin typeface="Courier New"/>
              </a:rPr>
              <a:t>    installation.md</a:t>
            </a:r>
          </a:p>
          <a:p>
            <a:pPr algn="l">
              <a:spcAft>
                <a:spcPts val="0"/>
              </a:spcAft>
            </a:pPr>
            <a:r>
              <a:rPr sz="1300" b="0" i="0">
                <a:solidFill>
                  <a:srgbClr val="FFFFFF"/>
                </a:solidFill>
                <a:latin typeface="Courier New"/>
              </a:rPr>
              <a:t>    quickstart.md</a:t>
            </a:r>
          </a:p>
          <a:p>
            <a:pPr algn="l">
              <a:spcAft>
                <a:spcPts val="0"/>
              </a:spcAft>
            </a:pPr>
            <a:r>
              <a:rPr sz="1300" b="0" i="0">
                <a:solidFill>
                  <a:srgbClr val="F2A541"/>
                </a:solidFill>
                <a:latin typeface="Courier New"/>
              </a:rPr>
              <a:t>  user-guide/</a:t>
            </a:r>
          </a:p>
          <a:p>
            <a:pPr algn="l">
              <a:spcAft>
                <a:spcPts val="0"/>
              </a:spcAft>
            </a:pPr>
            <a:r>
              <a:rPr sz="1300" b="0" i="0">
                <a:solidFill>
                  <a:srgbClr val="FFFFFF"/>
                </a:solidFill>
                <a:latin typeface="Courier New"/>
              </a:rPr>
              <a:t>    signals, publishing, subscribing</a:t>
            </a:r>
          </a:p>
          <a:p>
            <a:pPr algn="l">
              <a:spcAft>
                <a:spcPts val="0"/>
              </a:spcAft>
            </a:pPr>
            <a:r>
              <a:rPr sz="1300" b="0" i="0">
                <a:solidFill>
                  <a:srgbClr val="FFFFFF"/>
                </a:solidFill>
                <a:latin typeface="Courier New"/>
              </a:rPr>
              <a:t>    history, discovery, time</a:t>
            </a:r>
          </a:p>
          <a:p>
            <a:pPr algn="l">
              <a:spcAft>
                <a:spcPts val="0"/>
              </a:spcAft>
            </a:pPr>
            <a:r>
              <a:rPr sz="1300" b="0" i="0">
                <a:solidFill>
                  <a:srgbClr val="FFFFFF"/>
                </a:solidFill>
                <a:latin typeface="Courier New"/>
              </a:rPr>
              <a:t>    threads-and-processes, errors</a:t>
            </a:r>
          </a:p>
          <a:p>
            <a:pPr algn="l">
              <a:spcAft>
                <a:spcPts val="0"/>
              </a:spcAft>
            </a:pPr>
            <a:r>
              <a:rPr sz="1300" b="0" i="0">
                <a:solidFill>
                  <a:srgbClr val="FFFFFF"/>
                </a:solidFill>
                <a:latin typeface="Courier New"/>
              </a:rPr>
              <a:t>  reference/   (generated)</a:t>
            </a:r>
          </a:p>
          <a:p>
            <a:pPr algn="l">
              <a:spcAft>
                <a:spcPts val="0"/>
              </a:spcAft>
            </a:pPr>
            <a:r>
              <a:rPr sz="1300" b="0" i="0">
                <a:solidFill>
                  <a:srgbClr val="F2A541"/>
                </a:solidFill>
                <a:latin typeface="Courier New"/>
              </a:rPr>
              <a:t>  maintainers/</a:t>
            </a:r>
          </a:p>
          <a:p>
            <a:pPr algn="l">
              <a:spcAft>
                <a:spcPts val="0"/>
              </a:spcAft>
            </a:pPr>
            <a:r>
              <a:rPr sz="1300" b="0" i="0">
                <a:solidFill>
                  <a:srgbClr val="FFFFFF"/>
                </a:solidFill>
                <a:latin typeface="Courier New"/>
              </a:rPr>
              <a:t>    architecture, building</a:t>
            </a:r>
          </a:p>
          <a:p>
            <a:pPr algn="l">
              <a:spcAft>
                <a:spcPts val="0"/>
              </a:spcAft>
            </a:pPr>
            <a:r>
              <a:rPr sz="1300" b="0" i="0">
                <a:solidFill>
                  <a:srgbClr val="FFFFFF"/>
                </a:solidFill>
                <a:latin typeface="Courier New"/>
              </a:rPr>
              <a:t>    adding-a-function</a:t>
            </a:r>
          </a:p>
          <a:p>
            <a:pPr algn="l">
              <a:spcAft>
                <a:spcPts val="0"/>
              </a:spcAft>
            </a:pPr>
            <a:r>
              <a:rPr sz="1300" b="0" i="0">
                <a:solidFill>
                  <a:srgbClr val="FFFFFF"/>
                </a:solidFill>
                <a:latin typeface="Courier New"/>
              </a:rPr>
              <a:t>    client-updates, releasing</a:t>
            </a:r>
          </a:p>
          <a:p>
            <a:pPr algn="l">
              <a:spcAft>
                <a:spcPts val="0"/>
              </a:spcAft>
            </a:pPr>
            <a:r>
              <a:rPr sz="1300" b="0" i="0">
                <a:solidFill>
                  <a:srgbClr val="FFFFFF"/>
                </a:solidFill>
                <a:latin typeface="Courier New"/>
              </a:rPr>
              <a:t>  limitations.md</a:t>
            </a:r>
          </a:p>
          <a:p>
            <a:pPr algn="l">
              <a:spcAft>
                <a:spcPts val="0"/>
              </a:spcAft>
            </a:pPr>
            <a:r>
              <a:rPr sz="1300" b="0" i="0">
                <a:solidFill>
                  <a:srgbClr val="FFFFFF"/>
                </a:solidFill>
                <a:latin typeface="Courier New"/>
              </a:rPr>
              <a:t>  changelog.md</a:t>
            </a:r>
          </a:p>
        </p:txBody>
      </p:sp>
      <p:sp>
        <p:nvSpPr>
          <p:cNvPr id="7" name="Rounded Rectangle 6"/>
          <p:cNvSpPr/>
          <p:nvPr/>
        </p:nvSpPr>
        <p:spPr>
          <a:xfrm>
            <a:off x="5577840" y="1645920"/>
            <a:ext cx="2971800" cy="2286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0" y="1783080"/>
            <a:ext cx="2606040" cy="201168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Tooling</a:t>
            </a:r>
          </a:p>
          <a:p>
            <a:pPr algn="l" marL="201168" indent="-182880">
              <a:spcAft>
                <a:spcPts val="400"/>
              </a:spcAft>
              <a:buFont typeface="Arial"/>
              <a:buChar char="•"/>
            </a:pPr>
            <a:r>
              <a:rPr sz="1300" b="0" i="0">
                <a:solidFill>
                  <a:srgbClr val="1F2933"/>
                </a:solidFill>
                <a:latin typeface="Calibri"/>
              </a:rPr>
              <a:t>MkDocs with mkdocstrings</a:t>
            </a:r>
          </a:p>
          <a:p>
            <a:pPr algn="l" marL="201168" indent="-182880">
              <a:spcAft>
                <a:spcPts val="400"/>
              </a:spcAft>
              <a:buFont typeface="Arial"/>
              <a:buChar char="•"/>
            </a:pPr>
            <a:r>
              <a:rPr sz="1300" b="0" i="0">
                <a:solidFill>
                  <a:srgbClr val="1F2933"/>
                </a:solidFill>
                <a:latin typeface="Calibri"/>
              </a:rPr>
              <a:t>NumPy style docstrings</a:t>
            </a:r>
          </a:p>
          <a:p>
            <a:pPr algn="l" marL="201168" indent="-182880">
              <a:spcAft>
                <a:spcPts val="400"/>
              </a:spcAft>
              <a:buFont typeface="Arial"/>
              <a:buChar char="•"/>
            </a:pPr>
            <a:r>
              <a:rPr sz="1300" b="0" i="0">
                <a:solidFill>
                  <a:srgbClr val="1F2933"/>
                </a:solidFill>
                <a:latin typeface="Calibri"/>
              </a:rPr>
              <a:t>Type hints and .pyi stubs</a:t>
            </a:r>
          </a:p>
          <a:p>
            <a:pPr algn="l" marL="201168" indent="-182880">
              <a:spcAft>
                <a:spcPts val="400"/>
              </a:spcAft>
              <a:buFont typeface="Arial"/>
              <a:buChar char="•"/>
            </a:pPr>
            <a:r>
              <a:rPr sz="1300" b="0" i="0">
                <a:solidFill>
                  <a:srgbClr val="1F2933"/>
                </a:solidFill>
                <a:latin typeface="Calibri"/>
              </a:rPr>
              <a:t>Examples run as tests</a:t>
            </a:r>
          </a:p>
        </p:txBody>
      </p:sp>
      <p:sp>
        <p:nvSpPr>
          <p:cNvPr id="9" name="Rounded Rectangle 8"/>
          <p:cNvSpPr/>
          <p:nvPr/>
        </p:nvSpPr>
        <p:spPr>
          <a:xfrm>
            <a:off x="8686800" y="1645920"/>
            <a:ext cx="2971800" cy="2286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0" y="1783080"/>
            <a:ext cx="2606040" cy="201168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Conventions</a:t>
            </a:r>
          </a:p>
          <a:p>
            <a:pPr algn="l" marL="201168" indent="-182880">
              <a:spcAft>
                <a:spcPts val="400"/>
              </a:spcAft>
              <a:buFont typeface="Arial"/>
              <a:buChar char="•"/>
            </a:pPr>
            <a:r>
              <a:rPr sz="1300" b="0" i="0">
                <a:solidFill>
                  <a:srgbClr val="1F2933"/>
                </a:solidFill>
                <a:latin typeface="Calibri"/>
              </a:rPr>
              <a:t>Python names, not Go names</a:t>
            </a:r>
          </a:p>
          <a:p>
            <a:pPr algn="l" marL="201168" indent="-182880">
              <a:spcAft>
                <a:spcPts val="400"/>
              </a:spcAft>
              <a:buFont typeface="Arial"/>
              <a:buChar char="•"/>
            </a:pPr>
            <a:r>
              <a:rPr sz="1300" b="0" i="0">
                <a:solidFill>
                  <a:srgbClr val="1F2933"/>
                </a:solidFill>
                <a:latin typeface="Calibri"/>
              </a:rPr>
              <a:t>Timestamps always int64 ns</a:t>
            </a:r>
          </a:p>
          <a:p>
            <a:pPr algn="l" marL="201168" indent="-182880">
              <a:spcAft>
                <a:spcPts val="400"/>
              </a:spcAft>
              <a:buFont typeface="Arial"/>
              <a:buChar char="•"/>
            </a:pPr>
            <a:r>
              <a:rPr sz="1300" b="0" i="0">
                <a:solidFill>
                  <a:srgbClr val="1F2933"/>
                </a:solidFill>
                <a:latin typeface="Calibri"/>
              </a:rPr>
              <a:t>Docs ship with the code change</a:t>
            </a:r>
          </a:p>
        </p:txBody>
      </p:sp>
      <p:sp>
        <p:nvSpPr>
          <p:cNvPr id="11" name="Rounded Rectangle 10"/>
          <p:cNvSpPr/>
          <p:nvPr/>
        </p:nvSpPr>
        <p:spPr>
          <a:xfrm>
            <a:off x="5577840" y="4114800"/>
            <a:ext cx="6080760" cy="214884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4251960"/>
            <a:ext cx="5715000" cy="187452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Adding a function</a:t>
            </a:r>
          </a:p>
          <a:p>
            <a:pPr algn="l" marL="201168" indent="-182880">
              <a:spcAft>
                <a:spcPts val="400"/>
              </a:spcAft>
              <a:buFont typeface="Arial"/>
              <a:buChar char="•"/>
            </a:pPr>
            <a:r>
              <a:rPr sz="1400" b="0" i="0">
                <a:solidFill>
                  <a:srgbClr val="1F2933"/>
                </a:solidFill>
                <a:latin typeface="Calibri"/>
              </a:rPr>
              <a:t>Today about six steps and 40 to 60 lines, mostly mechanical</a:t>
            </a:r>
          </a:p>
          <a:p>
            <a:pPr algn="l" marL="201168" indent="-182880">
              <a:spcAft>
                <a:spcPts val="400"/>
              </a:spcAft>
              <a:buFont typeface="Arial"/>
              <a:buChar char="•"/>
            </a:pPr>
            <a:r>
              <a:rPr sz="1400" b="0" i="0">
                <a:solidFill>
                  <a:srgbClr val="1F2933"/>
                </a:solidFill>
                <a:latin typeface="Calibri"/>
              </a:rPr>
              <a:t>With the planned generator, one entry in a list and a rebuild</a:t>
            </a:r>
          </a:p>
          <a:p>
            <a:pPr algn="l" marL="201168" indent="-182880">
              <a:spcAft>
                <a:spcPts val="400"/>
              </a:spcAft>
              <a:buFont typeface="Arial"/>
              <a:buChar char="•"/>
            </a:pPr>
            <a:r>
              <a:rPr sz="1400" b="0" i="0">
                <a:solidFill>
                  <a:srgbClr val="1F2933"/>
                </a:solidFill>
                <a:latin typeface="Calibri"/>
              </a:rPr>
              <a:t>API snapshot and canary tests catch client changes in CI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3</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Testing and Validation</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Testing and development process plan, with the suite built for the prototype</a:t>
            </a:r>
          </a:p>
        </p:txBody>
      </p:sp>
      <p:sp>
        <p:nvSpPr>
          <p:cNvPr id="5" name="Rounded Rectangle 4"/>
          <p:cNvSpPr/>
          <p:nvPr/>
        </p:nvSpPr>
        <p:spPr>
          <a:xfrm>
            <a:off x="548640" y="1645920"/>
            <a:ext cx="2240280" cy="1143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55648"/>
            <a:ext cx="1965960" cy="960120"/>
          </a:xfrm>
          <a:prstGeom prst="rect">
            <a:avLst/>
          </a:prstGeom>
          <a:noFill/>
        </p:spPr>
        <p:txBody>
          <a:bodyPr wrap="square" anchor="t" lIns="0" rIns="0" tIns="0" bIns="0">
            <a:spAutoFit/>
          </a:bodyPr>
          <a:lstStyle/>
          <a:p>
            <a:pPr algn="l">
              <a:spcAft>
                <a:spcPts val="200"/>
              </a:spcAft>
            </a:pPr>
            <a:r>
              <a:rPr sz="1500" b="1" i="0">
                <a:solidFill>
                  <a:srgbClr val="1B2A41"/>
                </a:solidFill>
                <a:latin typeface="Cambria"/>
              </a:rPr>
              <a:t>Unit</a:t>
            </a:r>
          </a:p>
          <a:p>
            <a:pPr algn="l">
              <a:spcAft>
                <a:spcPts val="600"/>
              </a:spcAft>
            </a:pPr>
            <a:r>
              <a:rPr sz="1200" b="0" i="0">
                <a:solidFill>
                  <a:srgbClr val="1F2933"/>
                </a:solidFill>
                <a:latin typeface="Calibri"/>
              </a:rPr>
              <a:t>API input, dtypes, rate math</a:t>
            </a:r>
          </a:p>
        </p:txBody>
      </p:sp>
      <p:sp>
        <p:nvSpPr>
          <p:cNvPr id="7" name="Rounded Rectangle 6"/>
          <p:cNvSpPr/>
          <p:nvPr/>
        </p:nvSpPr>
        <p:spPr>
          <a:xfrm>
            <a:off x="2926080" y="1645920"/>
            <a:ext cx="2240280" cy="1143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3240" y="1755648"/>
            <a:ext cx="1965960" cy="960120"/>
          </a:xfrm>
          <a:prstGeom prst="rect">
            <a:avLst/>
          </a:prstGeom>
          <a:noFill/>
        </p:spPr>
        <p:txBody>
          <a:bodyPr wrap="square" anchor="t" lIns="0" rIns="0" tIns="0" bIns="0">
            <a:spAutoFit/>
          </a:bodyPr>
          <a:lstStyle/>
          <a:p>
            <a:pPr algn="l">
              <a:spcAft>
                <a:spcPts val="200"/>
              </a:spcAft>
            </a:pPr>
            <a:r>
              <a:rPr sz="1500" b="1" i="0">
                <a:solidFill>
                  <a:srgbClr val="1B2A41"/>
                </a:solidFill>
                <a:latin typeface="Cambria"/>
              </a:rPr>
              <a:t>Transport</a:t>
            </a:r>
          </a:p>
          <a:p>
            <a:pPr algn="l">
              <a:spcAft>
                <a:spcPts val="600"/>
              </a:spcAft>
            </a:pPr>
            <a:r>
              <a:rPr sz="1200" b="0" i="0">
                <a:solidFill>
                  <a:srgbClr val="1F2933"/>
                </a:solidFill>
                <a:latin typeface="Calibri"/>
              </a:rPr>
              <a:t>Each transport on its own</a:t>
            </a:r>
          </a:p>
        </p:txBody>
      </p:sp>
      <p:sp>
        <p:nvSpPr>
          <p:cNvPr id="9" name="Rounded Rectangle 8"/>
          <p:cNvSpPr/>
          <p:nvPr/>
        </p:nvSpPr>
        <p:spPr>
          <a:xfrm>
            <a:off x="5303520" y="1645920"/>
            <a:ext cx="2240280" cy="1143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40680" y="1755648"/>
            <a:ext cx="1965960" cy="960120"/>
          </a:xfrm>
          <a:prstGeom prst="rect">
            <a:avLst/>
          </a:prstGeom>
          <a:noFill/>
        </p:spPr>
        <p:txBody>
          <a:bodyPr wrap="square" anchor="t" lIns="0" rIns="0" tIns="0" bIns="0">
            <a:spAutoFit/>
          </a:bodyPr>
          <a:lstStyle/>
          <a:p>
            <a:pPr algn="l">
              <a:spcAft>
                <a:spcPts val="200"/>
              </a:spcAft>
            </a:pPr>
            <a:r>
              <a:rPr sz="1500" b="1" i="0">
                <a:solidFill>
                  <a:srgbClr val="1B2A41"/>
                </a:solidFill>
                <a:latin typeface="Cambria"/>
              </a:rPr>
              <a:t>Integration</a:t>
            </a:r>
          </a:p>
          <a:p>
            <a:pPr algn="l">
              <a:spcAft>
                <a:spcPts val="600"/>
              </a:spcAft>
            </a:pPr>
            <a:r>
              <a:rPr sz="1200" b="0" i="0">
                <a:solidFill>
                  <a:srgbClr val="1F2933"/>
                </a:solidFill>
                <a:latin typeface="Calibri"/>
              </a:rPr>
              <a:t>Python to Go to Hub and back</a:t>
            </a:r>
          </a:p>
        </p:txBody>
      </p:sp>
      <p:sp>
        <p:nvSpPr>
          <p:cNvPr id="11" name="Rounded Rectangle 10"/>
          <p:cNvSpPr/>
          <p:nvPr/>
        </p:nvSpPr>
        <p:spPr>
          <a:xfrm>
            <a:off x="548640" y="2926080"/>
            <a:ext cx="2240280" cy="1143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035808"/>
            <a:ext cx="1965960" cy="960120"/>
          </a:xfrm>
          <a:prstGeom prst="rect">
            <a:avLst/>
          </a:prstGeom>
          <a:noFill/>
        </p:spPr>
        <p:txBody>
          <a:bodyPr wrap="square" anchor="t" lIns="0" rIns="0" tIns="0" bIns="0">
            <a:spAutoFit/>
          </a:bodyPr>
          <a:lstStyle/>
          <a:p>
            <a:pPr algn="l">
              <a:spcAft>
                <a:spcPts val="200"/>
              </a:spcAft>
            </a:pPr>
            <a:r>
              <a:rPr sz="1500" b="1" i="0">
                <a:solidFill>
                  <a:srgbClr val="1B2A41"/>
                </a:solidFill>
                <a:latin typeface="Cambria"/>
              </a:rPr>
              <a:t>Interop</a:t>
            </a:r>
          </a:p>
          <a:p>
            <a:pPr algn="l">
              <a:spcAft>
                <a:spcPts val="600"/>
              </a:spcAft>
            </a:pPr>
            <a:r>
              <a:rPr sz="1200" b="0" i="0">
                <a:solidFill>
                  <a:srgbClr val="1F2933"/>
                </a:solidFill>
                <a:latin typeface="Calibri"/>
              </a:rPr>
              <a:t>All 16 encodings, bit-exact</a:t>
            </a:r>
          </a:p>
        </p:txBody>
      </p:sp>
      <p:sp>
        <p:nvSpPr>
          <p:cNvPr id="13" name="Rounded Rectangle 12"/>
          <p:cNvSpPr/>
          <p:nvPr/>
        </p:nvSpPr>
        <p:spPr>
          <a:xfrm>
            <a:off x="2926080" y="2926080"/>
            <a:ext cx="2240280" cy="1143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63240" y="3035808"/>
            <a:ext cx="1965960" cy="960120"/>
          </a:xfrm>
          <a:prstGeom prst="rect">
            <a:avLst/>
          </a:prstGeom>
          <a:noFill/>
        </p:spPr>
        <p:txBody>
          <a:bodyPr wrap="square" anchor="t" lIns="0" rIns="0" tIns="0" bIns="0">
            <a:spAutoFit/>
          </a:bodyPr>
          <a:lstStyle/>
          <a:p>
            <a:pPr algn="l">
              <a:spcAft>
                <a:spcPts val="200"/>
              </a:spcAft>
            </a:pPr>
            <a:r>
              <a:rPr sz="1500" b="1" i="0">
                <a:solidFill>
                  <a:srgbClr val="1B2A41"/>
                </a:solidFill>
                <a:latin typeface="Cambria"/>
              </a:rPr>
              <a:t>Concurrency</a:t>
            </a:r>
          </a:p>
          <a:p>
            <a:pPr algn="l">
              <a:spcAft>
                <a:spcPts val="600"/>
              </a:spcAft>
            </a:pPr>
            <a:r>
              <a:rPr sz="1200" b="0" i="0">
                <a:solidFill>
                  <a:srgbClr val="1F2933"/>
                </a:solidFill>
                <a:latin typeface="Calibri"/>
              </a:rPr>
              <a:t>40 subs and 40 pubs on one client</a:t>
            </a:r>
          </a:p>
        </p:txBody>
      </p:sp>
      <p:sp>
        <p:nvSpPr>
          <p:cNvPr id="15" name="Rounded Rectangle 14"/>
          <p:cNvSpPr/>
          <p:nvPr/>
        </p:nvSpPr>
        <p:spPr>
          <a:xfrm>
            <a:off x="5303520" y="2926080"/>
            <a:ext cx="2240280" cy="1143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40680" y="3035808"/>
            <a:ext cx="1965960" cy="960120"/>
          </a:xfrm>
          <a:prstGeom prst="rect">
            <a:avLst/>
          </a:prstGeom>
          <a:noFill/>
        </p:spPr>
        <p:txBody>
          <a:bodyPr wrap="square" anchor="t" lIns="0" rIns="0" tIns="0" bIns="0">
            <a:spAutoFit/>
          </a:bodyPr>
          <a:lstStyle/>
          <a:p>
            <a:pPr algn="l">
              <a:spcAft>
                <a:spcPts val="200"/>
              </a:spcAft>
            </a:pPr>
            <a:r>
              <a:rPr sz="1500" b="1" i="0">
                <a:solidFill>
                  <a:srgbClr val="1B2A41"/>
                </a:solidFill>
                <a:latin typeface="Cambria"/>
              </a:rPr>
              <a:t>Failure</a:t>
            </a:r>
          </a:p>
          <a:p>
            <a:pPr algn="l">
              <a:spcAft>
                <a:spcPts val="600"/>
              </a:spcAft>
            </a:pPr>
            <a:r>
              <a:rPr sz="1200" b="0" i="0">
                <a:solidFill>
                  <a:srgbClr val="1F2933"/>
                </a:solidFill>
                <a:latin typeface="Calibri"/>
              </a:rPr>
              <a:t>Fatal errors, drops, fork, Ctrl+C</a:t>
            </a:r>
          </a:p>
        </p:txBody>
      </p:sp>
      <p:sp>
        <p:nvSpPr>
          <p:cNvPr id="17" name="Rounded Rectangle 16"/>
          <p:cNvSpPr/>
          <p:nvPr/>
        </p:nvSpPr>
        <p:spPr>
          <a:xfrm>
            <a:off x="548640" y="4206240"/>
            <a:ext cx="2240280" cy="1143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15968"/>
            <a:ext cx="1965960" cy="960120"/>
          </a:xfrm>
          <a:prstGeom prst="rect">
            <a:avLst/>
          </a:prstGeom>
          <a:noFill/>
        </p:spPr>
        <p:txBody>
          <a:bodyPr wrap="square" anchor="t" lIns="0" rIns="0" tIns="0" bIns="0">
            <a:spAutoFit/>
          </a:bodyPr>
          <a:lstStyle/>
          <a:p>
            <a:pPr algn="l">
              <a:spcAft>
                <a:spcPts val="200"/>
              </a:spcAft>
            </a:pPr>
            <a:r>
              <a:rPr sz="1500" b="1" i="0">
                <a:solidFill>
                  <a:srgbClr val="1B2A41"/>
                </a:solidFill>
                <a:latin typeface="Cambria"/>
              </a:rPr>
              <a:t>Large data</a:t>
            </a:r>
          </a:p>
          <a:p>
            <a:pPr algn="l">
              <a:spcAft>
                <a:spcPts val="600"/>
              </a:spcAft>
            </a:pPr>
            <a:r>
              <a:rPr sz="1200" b="0" i="0">
                <a:solidFill>
                  <a:srgbClr val="1F2933"/>
                </a:solidFill>
                <a:latin typeface="Calibri"/>
              </a:rPr>
              <a:t>1 million sample round trips</a:t>
            </a:r>
          </a:p>
        </p:txBody>
      </p:sp>
      <p:sp>
        <p:nvSpPr>
          <p:cNvPr id="19" name="Rounded Rectangle 18"/>
          <p:cNvSpPr/>
          <p:nvPr/>
        </p:nvSpPr>
        <p:spPr>
          <a:xfrm>
            <a:off x="2926080" y="4206240"/>
            <a:ext cx="2240280" cy="1143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63240" y="4315968"/>
            <a:ext cx="1965960" cy="960120"/>
          </a:xfrm>
          <a:prstGeom prst="rect">
            <a:avLst/>
          </a:prstGeom>
          <a:noFill/>
        </p:spPr>
        <p:txBody>
          <a:bodyPr wrap="square" anchor="t" lIns="0" rIns="0" tIns="0" bIns="0">
            <a:spAutoFit/>
          </a:bodyPr>
          <a:lstStyle/>
          <a:p>
            <a:pPr algn="l">
              <a:spcAft>
                <a:spcPts val="200"/>
              </a:spcAft>
            </a:pPr>
            <a:r>
              <a:rPr sz="1500" b="1" i="0">
                <a:solidFill>
                  <a:srgbClr val="1B2A41"/>
                </a:solidFill>
                <a:latin typeface="Cambria"/>
              </a:rPr>
              <a:t>Cross-platform</a:t>
            </a:r>
          </a:p>
          <a:p>
            <a:pPr algn="l">
              <a:spcAft>
                <a:spcPts val="600"/>
              </a:spcAft>
            </a:pPr>
            <a:r>
              <a:rPr sz="1200" b="0" i="0">
                <a:solidFill>
                  <a:srgbClr val="1F2933"/>
                </a:solidFill>
                <a:latin typeface="Calibri"/>
              </a:rPr>
              <a:t>Linux now, Windows planned</a:t>
            </a:r>
          </a:p>
        </p:txBody>
      </p:sp>
      <p:sp>
        <p:nvSpPr>
          <p:cNvPr id="21" name="Rounded Rectangle 20"/>
          <p:cNvSpPr/>
          <p:nvPr/>
        </p:nvSpPr>
        <p:spPr>
          <a:xfrm>
            <a:off x="5303520" y="4206240"/>
            <a:ext cx="2240280" cy="11430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40680" y="4315968"/>
            <a:ext cx="1965960" cy="960120"/>
          </a:xfrm>
          <a:prstGeom prst="rect">
            <a:avLst/>
          </a:prstGeom>
          <a:noFill/>
        </p:spPr>
        <p:txBody>
          <a:bodyPr wrap="square" anchor="t" lIns="0" rIns="0" tIns="0" bIns="0">
            <a:spAutoFit/>
          </a:bodyPr>
          <a:lstStyle/>
          <a:p>
            <a:pPr algn="l">
              <a:spcAft>
                <a:spcPts val="200"/>
              </a:spcAft>
            </a:pPr>
            <a:r>
              <a:rPr sz="1500" b="1" i="0">
                <a:solidFill>
                  <a:srgbClr val="1B2A41"/>
                </a:solidFill>
                <a:latin typeface="Cambria"/>
              </a:rPr>
              <a:t>Performance</a:t>
            </a:r>
          </a:p>
          <a:p>
            <a:pPr algn="l">
              <a:spcAft>
                <a:spcPts val="600"/>
              </a:spcAft>
            </a:pPr>
            <a:r>
              <a:rPr sz="1200" b="0" i="0">
                <a:solidFill>
                  <a:srgbClr val="1F2933"/>
                </a:solidFill>
                <a:latin typeface="Calibri"/>
              </a:rPr>
              <a:t>Throughput, latency, memory</a:t>
            </a:r>
          </a:p>
        </p:txBody>
      </p:sp>
      <p:sp>
        <p:nvSpPr>
          <p:cNvPr id="23" name="Rounded Rectangle 22"/>
          <p:cNvSpPr/>
          <p:nvPr/>
        </p:nvSpPr>
        <p:spPr>
          <a:xfrm>
            <a:off x="7772400" y="1645920"/>
            <a:ext cx="3886200" cy="23317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5279" y="1783080"/>
            <a:ext cx="3520440" cy="205740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Validation rule</a:t>
            </a:r>
          </a:p>
          <a:p>
            <a:pPr algn="l" marL="201168" indent="-182880">
              <a:spcAft>
                <a:spcPts val="400"/>
              </a:spcAft>
              <a:buFont typeface="Arial"/>
              <a:buChar char="•"/>
            </a:pPr>
            <a:r>
              <a:rPr sz="1300" b="0" i="0">
                <a:solidFill>
                  <a:srgbClr val="1F2933"/>
                </a:solidFill>
                <a:latin typeface="Calibri"/>
              </a:rPr>
              <a:t>The SEL client is the source of truth</a:t>
            </a:r>
          </a:p>
          <a:p>
            <a:pPr algn="l" marL="201168" indent="-182880">
              <a:spcAft>
                <a:spcPts val="400"/>
              </a:spcAft>
              <a:buFont typeface="Arial"/>
              <a:buChar char="•"/>
            </a:pPr>
            <a:r>
              <a:rPr sz="1300" b="0" i="0">
                <a:solidFill>
                  <a:srgbClr val="1F2933"/>
                </a:solidFill>
                <a:latin typeface="Calibri"/>
              </a:rPr>
              <a:t>A test that disagrees with it is wrong, or it found a behavior to design around</a:t>
            </a:r>
          </a:p>
          <a:p>
            <a:pPr algn="l" marL="201168" indent="-182880">
              <a:spcAft>
                <a:spcPts val="400"/>
              </a:spcAft>
              <a:buFont typeface="Arial"/>
              <a:buChar char="•"/>
            </a:pPr>
            <a:r>
              <a:rPr sz="1300" b="0" i="0">
                <a:solidFill>
                  <a:srgbClr val="1F2933"/>
                </a:solidFill>
                <a:latin typeface="Calibri"/>
              </a:rPr>
              <a:t>Wrapper bugs stay as expected failures until fixed</a:t>
            </a:r>
          </a:p>
        </p:txBody>
      </p:sp>
      <p:sp>
        <p:nvSpPr>
          <p:cNvPr id="25" name="Rounded Rectangle 24"/>
          <p:cNvSpPr/>
          <p:nvPr/>
        </p:nvSpPr>
        <p:spPr>
          <a:xfrm>
            <a:off x="7772400" y="4160520"/>
            <a:ext cx="3886200" cy="21031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79" y="4297680"/>
            <a:ext cx="3520440" cy="1828799"/>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Results so far</a:t>
            </a:r>
          </a:p>
          <a:p>
            <a:pPr algn="l" marL="201168" indent="-182880">
              <a:spcAft>
                <a:spcPts val="400"/>
              </a:spcAft>
              <a:buFont typeface="Arial"/>
              <a:buChar char="•"/>
            </a:pPr>
            <a:r>
              <a:rPr sz="1300" b="0" i="0">
                <a:solidFill>
                  <a:srgbClr val="1F2933"/>
                </a:solidFill>
                <a:latin typeface="Calibri"/>
              </a:rPr>
              <a:t>2,155 of 2,155 passing</a:t>
            </a:r>
          </a:p>
          <a:p>
            <a:pPr algn="l" marL="201168" indent="-182880">
              <a:spcAft>
                <a:spcPts val="400"/>
              </a:spcAft>
              <a:buFont typeface="Arial"/>
              <a:buChar char="•"/>
            </a:pPr>
            <a:r>
              <a:rPr sz="1300" b="0" i="0">
                <a:solidFill>
                  <a:srgbClr val="1F2933"/>
                </a:solidFill>
                <a:latin typeface="Calibri"/>
              </a:rPr>
              <a:t>Four wrapper bugs found and fixed</a:t>
            </a:r>
          </a:p>
          <a:p>
            <a:pPr algn="l" marL="201168" indent="-182880">
              <a:spcAft>
                <a:spcPts val="400"/>
              </a:spcAft>
              <a:buFont typeface="Arial"/>
              <a:buChar char="•"/>
            </a:pPr>
            <a:r>
              <a:rPr sz="1300" b="0" i="0">
                <a:solidFill>
                  <a:srgbClr val="1F2933"/>
                </a:solidFill>
                <a:latin typeface="Calibri"/>
              </a:rPr>
              <a:t>Not yet run on a real Hub or Windows</a:t>
            </a:r>
          </a:p>
        </p:txBody>
      </p:sp>
      <p:sp>
        <p:nvSpPr>
          <p:cNvPr id="27" name="TextBox 26"/>
          <p:cNvSpPr txBox="1"/>
          <p:nvPr/>
        </p:nvSpPr>
        <p:spPr>
          <a:xfrm>
            <a:off x="548640" y="5577840"/>
            <a:ext cx="7040880" cy="685800"/>
          </a:xfrm>
          <a:prstGeom prst="rect">
            <a:avLst/>
          </a:prstGeom>
          <a:noFill/>
        </p:spPr>
        <p:txBody>
          <a:bodyPr wrap="square" anchor="t" lIns="0" rIns="0" tIns="0" bIns="0">
            <a:spAutoFit/>
          </a:bodyPr>
          <a:lstStyle/>
          <a:p>
            <a:pPr algn="l">
              <a:spcAft>
                <a:spcPts val="600"/>
              </a:spcAft>
            </a:pPr>
            <a:r>
              <a:rPr sz="1300" b="0" i="0">
                <a:solidFill>
                  <a:srgbClr val="5B6B7A"/>
                </a:solidFill>
                <a:latin typeface="Calibri"/>
              </a:rPr>
              <a:t>Workflow for Sprints 5 and 6 is one issue per task with story points, a feature branch, a reviewed pull request, and tests before merge.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4</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Kanban Overview and Team Contributions</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Sprint 4 and 5 issues on the project board</a:t>
            </a:r>
          </a:p>
        </p:txBody>
      </p:sp>
      <p:pic>
        <p:nvPicPr>
          <p:cNvPr id="5" name="Picture 4" descr="kanban_crop.png"/>
          <p:cNvPicPr>
            <a:picLocks noChangeAspect="1"/>
          </p:cNvPicPr>
          <p:nvPr/>
        </p:nvPicPr>
        <p:blipFill>
          <a:blip r:embed="rId2"/>
          <a:stretch>
            <a:fillRect/>
          </a:stretch>
        </p:blipFill>
        <p:spPr>
          <a:xfrm>
            <a:off x="557648" y="1554480"/>
            <a:ext cx="7297182" cy="4114800"/>
          </a:xfrm>
          <a:prstGeom prst="rect">
            <a:avLst/>
          </a:prstGeom>
          <a:ln w="12700">
            <a:solidFill>
              <a:srgbClr val="C9D3DE"/>
            </a:solidFill>
          </a:ln>
        </p:spPr>
      </p:pic>
      <p:sp>
        <p:nvSpPr>
          <p:cNvPr id="6" name="TextBox 5"/>
          <p:cNvSpPr txBox="1"/>
          <p:nvPr/>
        </p:nvSpPr>
        <p:spPr>
          <a:xfrm>
            <a:off x="548640" y="5760720"/>
            <a:ext cx="7315200" cy="548640"/>
          </a:xfrm>
          <a:prstGeom prst="rect">
            <a:avLst/>
          </a:prstGeom>
          <a:noFill/>
        </p:spPr>
        <p:txBody>
          <a:bodyPr wrap="square" anchor="t" lIns="0" rIns="0" tIns="0" bIns="0">
            <a:spAutoFit/>
          </a:bodyPr>
          <a:lstStyle/>
          <a:p>
            <a:pPr algn="l">
              <a:spcAft>
                <a:spcPts val="600"/>
              </a:spcAft>
            </a:pPr>
            <a:r>
              <a:rPr sz="1300" b="0" i="0">
                <a:solidFill>
                  <a:srgbClr val="5B6B7A"/>
                </a:solidFill>
                <a:latin typeface="Calibri"/>
              </a:rPr>
              <a:t>11 of 12 Sprint 4 issues closed. Each issue has an owner, a story point label, and a comment splitting the points.</a:t>
            </a:r>
          </a:p>
        </p:txBody>
      </p:sp>
      <p:sp>
        <p:nvSpPr>
          <p:cNvPr id="7" name="Rounded Rectangle 6"/>
          <p:cNvSpPr/>
          <p:nvPr/>
        </p:nvSpPr>
        <p:spPr>
          <a:xfrm>
            <a:off x="8092440" y="1554480"/>
            <a:ext cx="3566160" cy="1005839"/>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609344"/>
            <a:ext cx="3337560" cy="932688"/>
          </a:xfrm>
          <a:prstGeom prst="rect">
            <a:avLst/>
          </a:prstGeom>
          <a:noFill/>
        </p:spPr>
        <p:txBody>
          <a:bodyPr wrap="square" anchor="t" lIns="0" rIns="0" tIns="0" bIns="0">
            <a:spAutoFit/>
          </a:bodyPr>
          <a:lstStyle/>
          <a:p>
            <a:pPr algn="l">
              <a:spcAft>
                <a:spcPts val="200"/>
              </a:spcAft>
            </a:pPr>
            <a:r>
              <a:rPr sz="1300" b="1" i="0">
                <a:solidFill>
                  <a:srgbClr val="1B2A41"/>
                </a:solidFill>
                <a:latin typeface="Cambria"/>
              </a:rPr>
              <a:t>Genevieve Kochel  </a:t>
            </a:r>
            <a:r>
              <a:rPr sz="1100" b="1" i="0">
                <a:solidFill>
                  <a:srgbClr val="324A5F"/>
                </a:solidFill>
                <a:latin typeface="Calibri"/>
              </a:rPr>
              <a:t>#30 #31 #32 #34</a:t>
            </a:r>
          </a:p>
          <a:p>
            <a:pPr algn="l">
              <a:spcAft>
                <a:spcPts val="600"/>
              </a:spcAft>
            </a:pPr>
            <a:r>
              <a:rPr sz="1150" b="0" i="0">
                <a:solidFill>
                  <a:srgbClr val="1F2933"/>
                </a:solidFill>
                <a:latin typeface="Calibri"/>
              </a:rPr>
              <a:t>Source access, Go client extraction, Python.NET research, meeting coordination, testing plan</a:t>
            </a:r>
          </a:p>
        </p:txBody>
      </p:sp>
      <p:sp>
        <p:nvSpPr>
          <p:cNvPr id="9" name="Rounded Rectangle 8"/>
          <p:cNvSpPr/>
          <p:nvPr/>
        </p:nvSpPr>
        <p:spPr>
          <a:xfrm>
            <a:off x="8092440" y="2651760"/>
            <a:ext cx="3566160" cy="1005839"/>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706624"/>
            <a:ext cx="3337560" cy="932688"/>
          </a:xfrm>
          <a:prstGeom prst="rect">
            <a:avLst/>
          </a:prstGeom>
          <a:noFill/>
        </p:spPr>
        <p:txBody>
          <a:bodyPr wrap="square" anchor="t" lIns="0" rIns="0" tIns="0" bIns="0">
            <a:spAutoFit/>
          </a:bodyPr>
          <a:lstStyle/>
          <a:p>
            <a:pPr algn="l">
              <a:spcAft>
                <a:spcPts val="200"/>
              </a:spcAft>
            </a:pPr>
            <a:r>
              <a:rPr sz="1300" b="1" i="0">
                <a:solidFill>
                  <a:srgbClr val="1B2A41"/>
                </a:solidFill>
                <a:latin typeface="Cambria"/>
              </a:rPr>
              <a:t>Caleb Hansen  </a:t>
            </a:r>
            <a:r>
              <a:rPr sz="1100" b="1" i="0">
                <a:solidFill>
                  <a:srgbClr val="324A5F"/>
                </a:solidFill>
                <a:latin typeface="Calibri"/>
              </a:rPr>
              <a:t>#27 #28 #29</a:t>
            </a:r>
          </a:p>
          <a:p>
            <a:pPr algn="l">
              <a:spcAft>
                <a:spcPts val="600"/>
              </a:spcAft>
            </a:pPr>
            <a:r>
              <a:rPr sz="1150" b="0" i="0">
                <a:solidFill>
                  <a:srgbClr val="1F2933"/>
                </a:solidFill>
                <a:latin typeface="Calibri"/>
              </a:rPr>
              <a:t>Private repo, Claude onboarding skills, CGo pitfalls, compatibility plan</a:t>
            </a:r>
          </a:p>
        </p:txBody>
      </p:sp>
      <p:sp>
        <p:nvSpPr>
          <p:cNvPr id="11" name="Rounded Rectangle 10"/>
          <p:cNvSpPr/>
          <p:nvPr/>
        </p:nvSpPr>
        <p:spPr>
          <a:xfrm>
            <a:off x="8092440" y="3749039"/>
            <a:ext cx="3566160" cy="1005839"/>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3803903"/>
            <a:ext cx="3337560" cy="932688"/>
          </a:xfrm>
          <a:prstGeom prst="rect">
            <a:avLst/>
          </a:prstGeom>
          <a:noFill/>
        </p:spPr>
        <p:txBody>
          <a:bodyPr wrap="square" anchor="t" lIns="0" rIns="0" tIns="0" bIns="0">
            <a:spAutoFit/>
          </a:bodyPr>
          <a:lstStyle/>
          <a:p>
            <a:pPr algn="l">
              <a:spcAft>
                <a:spcPts val="200"/>
              </a:spcAft>
            </a:pPr>
            <a:r>
              <a:rPr sz="1300" b="1" i="0">
                <a:solidFill>
                  <a:srgbClr val="1B2A41"/>
                </a:solidFill>
                <a:latin typeface="Cambria"/>
              </a:rPr>
              <a:t>Lucas Phillips  </a:t>
            </a:r>
            <a:r>
              <a:rPr sz="1100" b="1" i="0">
                <a:solidFill>
                  <a:srgbClr val="324A5F"/>
                </a:solidFill>
                <a:latin typeface="Calibri"/>
              </a:rPr>
              <a:t>#25 #26 #32 #35</a:t>
            </a:r>
          </a:p>
          <a:p>
            <a:pPr algn="l">
              <a:spcAft>
                <a:spcPts val="600"/>
              </a:spcAft>
            </a:pPr>
            <a:r>
              <a:rPr sz="1150" b="0" i="0">
                <a:solidFill>
                  <a:srgbClr val="1F2933"/>
                </a:solidFill>
                <a:latin typeface="Calibri"/>
              </a:rPr>
              <a:t>Bridge prototype, test suite, architecture plan, MoMs, report</a:t>
            </a:r>
          </a:p>
        </p:txBody>
      </p:sp>
      <p:sp>
        <p:nvSpPr>
          <p:cNvPr id="13" name="Rounded Rectangle 12"/>
          <p:cNvSpPr/>
          <p:nvPr/>
        </p:nvSpPr>
        <p:spPr>
          <a:xfrm>
            <a:off x="8092440" y="4846320"/>
            <a:ext cx="3566160" cy="1417319"/>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4901183"/>
            <a:ext cx="3337560" cy="1344168"/>
          </a:xfrm>
          <a:prstGeom prst="rect">
            <a:avLst/>
          </a:prstGeom>
          <a:noFill/>
        </p:spPr>
        <p:txBody>
          <a:bodyPr wrap="square" anchor="t" lIns="0" rIns="0" tIns="0" bIns="0">
            <a:spAutoFit/>
          </a:bodyPr>
          <a:lstStyle/>
          <a:p>
            <a:pPr algn="l">
              <a:spcAft>
                <a:spcPts val="200"/>
              </a:spcAft>
            </a:pPr>
            <a:r>
              <a:rPr sz="1300" b="1" i="0">
                <a:solidFill>
                  <a:srgbClr val="1B2A41"/>
                </a:solidFill>
                <a:latin typeface="Cambria"/>
              </a:rPr>
              <a:t>Darron Li  </a:t>
            </a:r>
            <a:r>
              <a:rPr sz="1100" b="1" i="0">
                <a:solidFill>
                  <a:srgbClr val="324A5F"/>
                </a:solidFill>
                <a:latin typeface="Calibri"/>
              </a:rPr>
              <a:t>#33</a:t>
            </a:r>
          </a:p>
          <a:p>
            <a:pPr algn="l">
              <a:spcAft>
                <a:spcPts val="600"/>
              </a:spcAft>
            </a:pPr>
            <a:r>
              <a:rPr sz="1150" b="0" i="0">
                <a:solidFill>
                  <a:srgbClr val="1F2933"/>
                </a:solidFill>
                <a:latin typeface="Calibri"/>
              </a:rPr>
              <a:t>[PLACEHOLDER, replace with actual contribution] Spearheaded cross-functional alignment on documentation strategy and drove stakeholder synergy across the extensibility roadmap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5</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Evidence of Client Meetings</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MoMs are in Sprints/Sprint_4/MoM on GitHub</a:t>
            </a:r>
          </a:p>
        </p:txBody>
      </p:sp>
      <p:sp>
        <p:nvSpPr>
          <p:cNvPr id="5" name="Rounded Rectangle 4"/>
          <p:cNvSpPr/>
          <p:nvPr/>
        </p:nvSpPr>
        <p:spPr>
          <a:xfrm>
            <a:off x="548640" y="1645920"/>
            <a:ext cx="5760720" cy="224028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83080"/>
            <a:ext cx="5394959" cy="196596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September 14  |  Semester kickoff</a:t>
            </a:r>
          </a:p>
          <a:p>
            <a:pPr algn="l" marL="201168" indent="-182880">
              <a:spcAft>
                <a:spcPts val="400"/>
              </a:spcAft>
              <a:buFont typeface="Arial"/>
              <a:buChar char="•"/>
            </a:pPr>
            <a:r>
              <a:rPr sz="1300" b="0" i="0">
                <a:solidFill>
                  <a:srgbClr val="1F2933"/>
                </a:solidFill>
                <a:latin typeface="Calibri"/>
              </a:rPr>
              <a:t>Goal is to find out if a Python wrapper is worth maintaining</a:t>
            </a:r>
          </a:p>
          <a:p>
            <a:pPr algn="l" marL="201168" indent="-182880">
              <a:spcAft>
                <a:spcPts val="400"/>
              </a:spcAft>
              <a:buFont typeface="Arial"/>
              <a:buChar char="•"/>
            </a:pPr>
            <a:r>
              <a:rPr sz="1300" b="0" i="0">
                <a:solidFill>
                  <a:srgbClr val="1F2933"/>
                </a:solidFill>
                <a:latin typeface="Calibri"/>
              </a:rPr>
              <a:t>No double maintenance, docs are a major deliverable</a:t>
            </a:r>
          </a:p>
          <a:p>
            <a:pPr algn="l" marL="201168" indent="-182880">
              <a:spcAft>
                <a:spcPts val="400"/>
              </a:spcAft>
              <a:buFont typeface="Arial"/>
              <a:buChar char="•"/>
            </a:pPr>
            <a:r>
              <a:rPr sz="1300" b="0" i="0">
                <a:solidFill>
                  <a:srgbClr val="1F2933"/>
                </a:solidFill>
                <a:latin typeface="Calibri"/>
              </a:rPr>
              <a:t>Python 3.12 baseline, pub/sub is the main use case</a:t>
            </a:r>
          </a:p>
          <a:p>
            <a:pPr algn="l" marL="201168" indent="-182880">
              <a:spcAft>
                <a:spcPts val="400"/>
              </a:spcAft>
              <a:buFont typeface="Arial"/>
              <a:buChar char="•"/>
            </a:pPr>
            <a:r>
              <a:rPr sz="1300" b="0" i="0">
                <a:solidFill>
                  <a:srgbClr val="1F2933"/>
                </a:solidFill>
                <a:latin typeface="Calibri"/>
              </a:rPr>
              <a:t>AI tools are fine, SEL code stays off the internet</a:t>
            </a:r>
          </a:p>
        </p:txBody>
      </p:sp>
      <p:sp>
        <p:nvSpPr>
          <p:cNvPr id="7" name="Rounded Rectangle 6"/>
          <p:cNvSpPr/>
          <p:nvPr/>
        </p:nvSpPr>
        <p:spPr>
          <a:xfrm>
            <a:off x="548640" y="4023360"/>
            <a:ext cx="5760720" cy="224028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160520"/>
            <a:ext cx="5394959" cy="196596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September 28  |  Go wrapping findings</a:t>
            </a:r>
          </a:p>
          <a:p>
            <a:pPr algn="l" marL="201168" indent="-182880">
              <a:spcAft>
                <a:spcPts val="400"/>
              </a:spcAft>
              <a:buFont typeface="Arial"/>
              <a:buChar char="•"/>
            </a:pPr>
            <a:r>
              <a:rPr sz="1300" b="0" i="0">
                <a:solidFill>
                  <a:srgbClr val="1F2933"/>
                </a:solidFill>
                <a:latin typeface="Calibri"/>
              </a:rPr>
              <a:t>CGo pitfalls and the three-transport prototype</a:t>
            </a:r>
          </a:p>
          <a:p>
            <a:pPr algn="l" marL="201168" indent="-182880">
              <a:spcAft>
                <a:spcPts val="400"/>
              </a:spcAft>
              <a:buFont typeface="Arial"/>
              <a:buChar char="•"/>
            </a:pPr>
            <a:r>
              <a:rPr sz="1300" b="0" i="0">
                <a:solidFill>
                  <a:srgbClr val="1F2933"/>
                </a:solidFill>
                <a:latin typeface="Calibri"/>
              </a:rPr>
              <a:t>In-process approaches are not safe for engineers</a:t>
            </a:r>
          </a:p>
          <a:p>
            <a:pPr algn="l" marL="201168" indent="-182880">
              <a:spcAft>
                <a:spcPts val="400"/>
              </a:spcAft>
              <a:buFont typeface="Arial"/>
              <a:buChar char="•"/>
            </a:pPr>
            <a:r>
              <a:rPr sz="1300" b="0" i="0">
                <a:solidFill>
                  <a:srgbClr val="1F2933"/>
                </a:solidFill>
                <a:latin typeface="Calibri"/>
              </a:rPr>
              <a:t>Bridge if Go stays, but evaluate C# with Python.NET first</a:t>
            </a:r>
          </a:p>
          <a:p>
            <a:pPr algn="l" marL="201168" indent="-182880">
              <a:spcAft>
                <a:spcPts val="400"/>
              </a:spcAft>
              <a:buFont typeface="Arial"/>
              <a:buChar char="•"/>
            </a:pPr>
            <a:r>
              <a:rPr sz="1300" b="0" i="0">
                <a:solidFill>
                  <a:srgbClr val="1F2933"/>
                </a:solidFill>
                <a:latin typeface="Calibri"/>
              </a:rPr>
              <a:t>Prototype code stays in the private repo</a:t>
            </a:r>
          </a:p>
        </p:txBody>
      </p:sp>
      <p:pic>
        <p:nvPicPr>
          <p:cNvPr id="9" name="Picture 8" descr="mom_crop.png"/>
          <p:cNvPicPr>
            <a:picLocks noChangeAspect="1"/>
          </p:cNvPicPr>
          <p:nvPr/>
        </p:nvPicPr>
        <p:blipFill>
          <a:blip r:embed="rId2"/>
          <a:stretch>
            <a:fillRect/>
          </a:stretch>
        </p:blipFill>
        <p:spPr>
          <a:xfrm>
            <a:off x="7133748" y="1554480"/>
            <a:ext cx="3974782" cy="4754880"/>
          </a:xfrm>
          <a:prstGeom prst="rect">
            <a:avLst/>
          </a:prstGeom>
          <a:ln w="12700">
            <a:solidFill>
              <a:srgbClr val="C9D3DE"/>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6</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Documentation of Report</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What was added to the repo this sprint</a:t>
            </a:r>
          </a:p>
        </p:txBody>
      </p:sp>
      <p:pic>
        <p:nvPicPr>
          <p:cNvPr id="5" name="Picture 4" descr="report_crop.png"/>
          <p:cNvPicPr>
            <a:picLocks noChangeAspect="1"/>
          </p:cNvPicPr>
          <p:nvPr/>
        </p:nvPicPr>
        <p:blipFill>
          <a:blip r:embed="rId2"/>
          <a:stretch>
            <a:fillRect/>
          </a:stretch>
        </p:blipFill>
        <p:spPr>
          <a:xfrm>
            <a:off x="1258728" y="1554480"/>
            <a:ext cx="3974782" cy="4754880"/>
          </a:xfrm>
          <a:prstGeom prst="rect">
            <a:avLst/>
          </a:prstGeom>
          <a:ln w="12700">
            <a:solidFill>
              <a:srgbClr val="C9D3DE"/>
            </a:solidFill>
          </a:ln>
        </p:spPr>
      </p:pic>
      <p:sp>
        <p:nvSpPr>
          <p:cNvPr id="6" name="Rounded Rectangle 5"/>
          <p:cNvSpPr/>
          <p:nvPr/>
        </p:nvSpPr>
        <p:spPr>
          <a:xfrm>
            <a:off x="6217920" y="1645920"/>
            <a:ext cx="5440680" cy="82296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355080" y="1801368"/>
            <a:ext cx="512064" cy="512064"/>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1B2A41"/>
                </a:solidFill>
                <a:latin typeface="Cambria"/>
              </a:rPr>
              <a:t>1</a:t>
            </a:r>
          </a:p>
        </p:txBody>
      </p:sp>
      <p:sp>
        <p:nvSpPr>
          <p:cNvPr id="8" name="TextBox 7"/>
          <p:cNvSpPr txBox="1"/>
          <p:nvPr/>
        </p:nvSpPr>
        <p:spPr>
          <a:xfrm>
            <a:off x="6995160" y="1700784"/>
            <a:ext cx="4572000" cy="731520"/>
          </a:xfrm>
          <a:prstGeom prst="rect">
            <a:avLst/>
          </a:prstGeom>
          <a:noFill/>
        </p:spPr>
        <p:txBody>
          <a:bodyPr wrap="square" anchor="ctr" lIns="0" rIns="0" tIns="0" bIns="0">
            <a:spAutoFit/>
          </a:bodyPr>
          <a:lstStyle/>
          <a:p>
            <a:pPr algn="l">
              <a:spcAft>
                <a:spcPts val="100"/>
              </a:spcAft>
            </a:pPr>
            <a:r>
              <a:rPr sz="1500" b="1" i="0">
                <a:solidFill>
                  <a:srgbClr val="1B2A41"/>
                </a:solidFill>
                <a:latin typeface="Cambria"/>
              </a:rPr>
              <a:t>Sprint 4 report</a:t>
            </a:r>
          </a:p>
          <a:p>
            <a:pPr algn="l">
              <a:spcAft>
                <a:spcPts val="600"/>
              </a:spcAft>
            </a:pPr>
            <a:r>
              <a:rPr sz="1200" b="0" i="0">
                <a:solidFill>
                  <a:srgbClr val="1F2933"/>
                </a:solidFill>
                <a:latin typeface="Calibri"/>
              </a:rPr>
              <a:t>Sprints/Sprint_4/Sprint_Report.md, following the course template</a:t>
            </a:r>
          </a:p>
        </p:txBody>
      </p:sp>
      <p:sp>
        <p:nvSpPr>
          <p:cNvPr id="9" name="Rounded Rectangle 8"/>
          <p:cNvSpPr/>
          <p:nvPr/>
        </p:nvSpPr>
        <p:spPr>
          <a:xfrm>
            <a:off x="6217920" y="2578608"/>
            <a:ext cx="5440680" cy="82296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355080" y="2734056"/>
            <a:ext cx="512064" cy="512064"/>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1B2A41"/>
                </a:solidFill>
                <a:latin typeface="Cambria"/>
              </a:rPr>
              <a:t>2</a:t>
            </a:r>
          </a:p>
        </p:txBody>
      </p:sp>
      <p:sp>
        <p:nvSpPr>
          <p:cNvPr id="11" name="TextBox 10"/>
          <p:cNvSpPr txBox="1"/>
          <p:nvPr/>
        </p:nvSpPr>
        <p:spPr>
          <a:xfrm>
            <a:off x="6995160" y="2633472"/>
            <a:ext cx="4572000" cy="731520"/>
          </a:xfrm>
          <a:prstGeom prst="rect">
            <a:avLst/>
          </a:prstGeom>
          <a:noFill/>
        </p:spPr>
        <p:txBody>
          <a:bodyPr wrap="square" anchor="ctr" lIns="0" rIns="0" tIns="0" bIns="0">
            <a:spAutoFit/>
          </a:bodyPr>
          <a:lstStyle/>
          <a:p>
            <a:pPr algn="l">
              <a:spcAft>
                <a:spcPts val="100"/>
              </a:spcAft>
            </a:pPr>
            <a:r>
              <a:rPr sz="1500" b="1" i="0">
                <a:solidFill>
                  <a:srgbClr val="1B2A41"/>
                </a:solidFill>
                <a:latin typeface="Cambria"/>
              </a:rPr>
              <a:t>Four planning documents</a:t>
            </a:r>
          </a:p>
          <a:p>
            <a:pPr algn="l">
              <a:spcAft>
                <a:spcPts val="600"/>
              </a:spcAft>
            </a:pPr>
            <a:r>
              <a:rPr sz="1200" b="0" i="0">
                <a:solidFill>
                  <a:srgbClr val="1F2933"/>
                </a:solidFill>
                <a:latin typeface="Calibri"/>
              </a:rPr>
              <a:t>docs/Sprint4, one per Sprint 4 deliverable in the project plan</a:t>
            </a:r>
          </a:p>
        </p:txBody>
      </p:sp>
      <p:sp>
        <p:nvSpPr>
          <p:cNvPr id="12" name="Rounded Rectangle 11"/>
          <p:cNvSpPr/>
          <p:nvPr/>
        </p:nvSpPr>
        <p:spPr>
          <a:xfrm>
            <a:off x="6217920" y="3511296"/>
            <a:ext cx="5440680" cy="82296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55080" y="3666744"/>
            <a:ext cx="512064" cy="512064"/>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1B2A41"/>
                </a:solidFill>
                <a:latin typeface="Cambria"/>
              </a:rPr>
              <a:t>3</a:t>
            </a:r>
          </a:p>
        </p:txBody>
      </p:sp>
      <p:sp>
        <p:nvSpPr>
          <p:cNvPr id="14" name="TextBox 13"/>
          <p:cNvSpPr txBox="1"/>
          <p:nvPr/>
        </p:nvSpPr>
        <p:spPr>
          <a:xfrm>
            <a:off x="6995160" y="3566160"/>
            <a:ext cx="4572000" cy="731520"/>
          </a:xfrm>
          <a:prstGeom prst="rect">
            <a:avLst/>
          </a:prstGeom>
          <a:noFill/>
        </p:spPr>
        <p:txBody>
          <a:bodyPr wrap="square" anchor="ctr" lIns="0" rIns="0" tIns="0" bIns="0">
            <a:spAutoFit/>
          </a:bodyPr>
          <a:lstStyle/>
          <a:p>
            <a:pPr algn="l">
              <a:spcAft>
                <a:spcPts val="100"/>
              </a:spcAft>
            </a:pPr>
            <a:r>
              <a:rPr sz="1500" b="1" i="0">
                <a:solidFill>
                  <a:srgbClr val="1B2A41"/>
                </a:solidFill>
                <a:latin typeface="Cambria"/>
              </a:rPr>
              <a:t>Two MoMs</a:t>
            </a:r>
          </a:p>
          <a:p>
            <a:pPr algn="l">
              <a:spcAft>
                <a:spcPts val="600"/>
              </a:spcAft>
            </a:pPr>
            <a:r>
              <a:rPr sz="1200" b="0" i="0">
                <a:solidFill>
                  <a:srgbClr val="1F2933"/>
                </a:solidFill>
                <a:latin typeface="Calibri"/>
              </a:rPr>
              <a:t>Sprints/Sprint_4/MoM for September 14 and 28</a:t>
            </a:r>
          </a:p>
        </p:txBody>
      </p:sp>
      <p:sp>
        <p:nvSpPr>
          <p:cNvPr id="15" name="Rounded Rectangle 14"/>
          <p:cNvSpPr/>
          <p:nvPr/>
        </p:nvSpPr>
        <p:spPr>
          <a:xfrm>
            <a:off x="6217920" y="4443984"/>
            <a:ext cx="5440680" cy="82296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55080" y="4599432"/>
            <a:ext cx="512064" cy="512064"/>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1B2A41"/>
                </a:solidFill>
                <a:latin typeface="Cambria"/>
              </a:rPr>
              <a:t>4</a:t>
            </a:r>
          </a:p>
        </p:txBody>
      </p:sp>
      <p:sp>
        <p:nvSpPr>
          <p:cNvPr id="17" name="TextBox 16"/>
          <p:cNvSpPr txBox="1"/>
          <p:nvPr/>
        </p:nvSpPr>
        <p:spPr>
          <a:xfrm>
            <a:off x="6995160" y="4498848"/>
            <a:ext cx="4572000" cy="731520"/>
          </a:xfrm>
          <a:prstGeom prst="rect">
            <a:avLst/>
          </a:prstGeom>
          <a:noFill/>
        </p:spPr>
        <p:txBody>
          <a:bodyPr wrap="square" anchor="ctr" lIns="0" rIns="0" tIns="0" bIns="0">
            <a:spAutoFit/>
          </a:bodyPr>
          <a:lstStyle/>
          <a:p>
            <a:pPr algn="l">
              <a:spcAft>
                <a:spcPts val="100"/>
              </a:spcAft>
            </a:pPr>
            <a:r>
              <a:rPr sz="1500" b="1" i="0">
                <a:solidFill>
                  <a:srgbClr val="1B2A41"/>
                </a:solidFill>
                <a:latin typeface="Cambria"/>
              </a:rPr>
              <a:t>README update</a:t>
            </a:r>
          </a:p>
          <a:p>
            <a:pPr algn="l">
              <a:spcAft>
                <a:spcPts val="600"/>
              </a:spcAft>
            </a:pPr>
            <a:r>
              <a:rPr sz="1200" b="0" i="0">
                <a:solidFill>
                  <a:srgbClr val="1F2933"/>
                </a:solidFill>
                <a:latin typeface="Calibri"/>
              </a:rPr>
              <a:t>Rewritten to the README template with setup, usage, and known problems</a:t>
            </a:r>
          </a:p>
        </p:txBody>
      </p:sp>
      <p:sp>
        <p:nvSpPr>
          <p:cNvPr id="18" name="Rounded Rectangle 17"/>
          <p:cNvSpPr/>
          <p:nvPr/>
        </p:nvSpPr>
        <p:spPr>
          <a:xfrm>
            <a:off x="6217920" y="5376672"/>
            <a:ext cx="5440680" cy="82296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55080" y="5532120"/>
            <a:ext cx="512064" cy="512064"/>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1B2A41"/>
                </a:solidFill>
                <a:latin typeface="Cambria"/>
              </a:rPr>
              <a:t>5</a:t>
            </a:r>
          </a:p>
        </p:txBody>
      </p:sp>
      <p:sp>
        <p:nvSpPr>
          <p:cNvPr id="20" name="TextBox 19"/>
          <p:cNvSpPr txBox="1"/>
          <p:nvPr/>
        </p:nvSpPr>
        <p:spPr>
          <a:xfrm>
            <a:off x="6995160" y="5431536"/>
            <a:ext cx="4572000" cy="731520"/>
          </a:xfrm>
          <a:prstGeom prst="rect">
            <a:avLst/>
          </a:prstGeom>
          <a:noFill/>
        </p:spPr>
        <p:txBody>
          <a:bodyPr wrap="square" anchor="ctr" lIns="0" rIns="0" tIns="0" bIns="0">
            <a:spAutoFit/>
          </a:bodyPr>
          <a:lstStyle/>
          <a:p>
            <a:pPr algn="l">
              <a:spcAft>
                <a:spcPts val="100"/>
              </a:spcAft>
            </a:pPr>
            <a:r>
              <a:rPr sz="1500" b="1" i="0">
                <a:solidFill>
                  <a:srgbClr val="1B2A41"/>
                </a:solidFill>
                <a:latin typeface="Cambria"/>
              </a:rPr>
              <a:t>Prototype code</a:t>
            </a:r>
          </a:p>
          <a:p>
            <a:pPr algn="l">
              <a:spcAft>
                <a:spcPts val="600"/>
              </a:spcAft>
            </a:pPr>
            <a:r>
              <a:rPr sz="1200" b="0" i="0">
                <a:solidFill>
                  <a:srgbClr val="1F2933"/>
                </a:solidFill>
                <a:latin typeface="Calibri"/>
              </a:rPr>
              <a:t>Private gosignals repo, pysdk-research branch, since the client is SEL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7</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Responsible Use of AI</a:t>
            </a:r>
          </a:p>
        </p:txBody>
      </p:sp>
      <p:sp>
        <p:nvSpPr>
          <p:cNvPr id="4" name="TextBox 3"/>
          <p:cNvSpPr txBox="1"/>
          <p:nvPr/>
        </p:nvSpPr>
        <p:spPr>
          <a:xfrm>
            <a:off x="1280160" y="1024128"/>
            <a:ext cx="10332720" cy="411480"/>
          </a:xfrm>
          <a:prstGeom prst="rect">
            <a:avLst/>
          </a:prstGeom>
          <a:noFill/>
        </p:spPr>
        <p:txBody>
          <a:bodyPr wrap="square" anchor="t" lIns="0" rIns="0" tIns="0" bIns="0">
            <a:spAutoFit/>
          </a:bodyPr>
          <a:lstStyle/>
          <a:p>
            <a:pPr algn="l">
              <a:spcAft>
                <a:spcPts val="600"/>
              </a:spcAft>
            </a:pPr>
            <a:r>
              <a:rPr sz="1500" b="0" i="1">
                <a:solidFill>
                  <a:srgbClr val="5B6B7A"/>
                </a:solidFill>
                <a:latin typeface="Calibri"/>
              </a:rPr>
              <a:t>Placeholders to be filled in by the team</a:t>
            </a:r>
          </a:p>
        </p:txBody>
      </p:sp>
      <p:sp>
        <p:nvSpPr>
          <p:cNvPr id="5" name="Rounded Rectangle 4"/>
          <p:cNvSpPr/>
          <p:nvPr/>
        </p:nvSpPr>
        <p:spPr>
          <a:xfrm>
            <a:off x="548640" y="1645920"/>
            <a:ext cx="5486400" cy="46177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83080"/>
            <a:ext cx="5120640" cy="434340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AI usage and impact</a:t>
            </a:r>
          </a:p>
          <a:p>
            <a:pPr algn="l" marL="201168" indent="-182880">
              <a:spcAft>
                <a:spcPts val="400"/>
              </a:spcAft>
              <a:buFont typeface="Arial"/>
              <a:buChar char="•"/>
            </a:pPr>
            <a:r>
              <a:rPr sz="1700" b="0" i="0">
                <a:solidFill>
                  <a:srgbClr val="1F2933"/>
                </a:solidFill>
                <a:latin typeface="Calibri"/>
              </a:rPr>
              <a:t>[PLACEHOLDER] Which tools each member used</a:t>
            </a:r>
          </a:p>
          <a:p>
            <a:pPr algn="l" marL="201168" indent="-182880">
              <a:spcAft>
                <a:spcPts val="400"/>
              </a:spcAft>
              <a:buFont typeface="Arial"/>
              <a:buChar char="•"/>
            </a:pPr>
            <a:r>
              <a:rPr sz="1700" b="0" i="0">
                <a:solidFill>
                  <a:srgbClr val="1F2933"/>
                </a:solidFill>
                <a:latin typeface="Calibri"/>
              </a:rPr>
              <a:t>[PLACEHOLDER] What they were used for (code, docs, research, meeting notes)</a:t>
            </a:r>
          </a:p>
          <a:p>
            <a:pPr algn="l" marL="201168" indent="-182880">
              <a:spcAft>
                <a:spcPts val="400"/>
              </a:spcAft>
              <a:buFont typeface="Arial"/>
              <a:buChar char="•"/>
            </a:pPr>
            <a:r>
              <a:rPr sz="1700" b="0" i="0">
                <a:solidFill>
                  <a:srgbClr val="1F2933"/>
                </a:solidFill>
                <a:latin typeface="Calibri"/>
              </a:rPr>
              <a:t>[PLACEHOLDER] What improved as a result</a:t>
            </a:r>
          </a:p>
        </p:txBody>
      </p:sp>
      <p:sp>
        <p:nvSpPr>
          <p:cNvPr id="7" name="Rounded Rectangle 6"/>
          <p:cNvSpPr/>
          <p:nvPr/>
        </p:nvSpPr>
        <p:spPr>
          <a:xfrm>
            <a:off x="6217920" y="1645920"/>
            <a:ext cx="5440680" cy="46177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5074920" cy="434340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Limitations and accountability</a:t>
            </a:r>
          </a:p>
          <a:p>
            <a:pPr algn="l" marL="201168" indent="-182880">
              <a:spcAft>
                <a:spcPts val="400"/>
              </a:spcAft>
              <a:buFont typeface="Arial"/>
              <a:buChar char="•"/>
            </a:pPr>
            <a:r>
              <a:rPr sz="1700" b="0" i="0">
                <a:solidFill>
                  <a:srgbClr val="1F2933"/>
                </a:solidFill>
                <a:latin typeface="Calibri"/>
              </a:rPr>
              <a:t>[PLACEHOLDER] Errors or limits seen in AI output</a:t>
            </a:r>
          </a:p>
          <a:p>
            <a:pPr algn="l" marL="201168" indent="-182880">
              <a:spcAft>
                <a:spcPts val="400"/>
              </a:spcAft>
              <a:buFont typeface="Arial"/>
              <a:buChar char="•"/>
            </a:pPr>
            <a:r>
              <a:rPr sz="1700" b="0" i="0">
                <a:solidFill>
                  <a:srgbClr val="1F2933"/>
                </a:solidFill>
                <a:latin typeface="Calibri"/>
              </a:rPr>
              <a:t>[PLACEHOLDER] How AI output was checked and corrected</a:t>
            </a:r>
          </a:p>
          <a:p>
            <a:pPr algn="l" marL="201168" indent="-182880">
              <a:spcAft>
                <a:spcPts val="400"/>
              </a:spcAft>
              <a:buFont typeface="Arial"/>
              <a:buChar char="•"/>
            </a:pPr>
            <a:r>
              <a:rPr sz="1700" b="0" i="0">
                <a:solidFill>
                  <a:srgbClr val="1F2933"/>
                </a:solidFill>
                <a:latin typeface="Calibri"/>
              </a:rPr>
              <a:t>[PLACEHOLDER] Confidentiality handling for SEL code</a:t>
            </a:r>
          </a:p>
          <a:p>
            <a:pPr algn="l" marL="201168" indent="-182880">
              <a:spcAft>
                <a:spcPts val="400"/>
              </a:spcAft>
              <a:buFont typeface="Arial"/>
              <a:buChar char="•"/>
            </a:pPr>
            <a:r>
              <a:rPr sz="1700" b="0" i="0">
                <a:solidFill>
                  <a:srgbClr val="1F2933"/>
                </a:solidFill>
                <a:latin typeface="Calibri"/>
              </a:rPr>
              <a:t>All final decisions and deliverables are the team's responsibility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8</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Sprint Achievements and Challenges</a:t>
            </a:r>
          </a:p>
        </p:txBody>
      </p:sp>
      <p:sp>
        <p:nvSpPr>
          <p:cNvPr id="4" name="Rounded Rectangle 3"/>
          <p:cNvSpPr/>
          <p:nvPr/>
        </p:nvSpPr>
        <p:spPr>
          <a:xfrm>
            <a:off x="548640" y="1645920"/>
            <a:ext cx="3657600" cy="46177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83080"/>
            <a:ext cx="3291840" cy="434340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Achievements</a:t>
            </a:r>
          </a:p>
          <a:p>
            <a:pPr algn="l" marL="201168" indent="-182880">
              <a:spcAft>
                <a:spcPts val="400"/>
              </a:spcAft>
              <a:buFont typeface="Arial"/>
              <a:buChar char="•"/>
            </a:pPr>
            <a:r>
              <a:rPr sz="1600" b="0" i="0">
                <a:solidFill>
                  <a:srgbClr val="1F2933"/>
                </a:solidFill>
                <a:latin typeface="Calibri"/>
              </a:rPr>
              <a:t>Access to the client code after two sprints of waiting</a:t>
            </a:r>
          </a:p>
          <a:p>
            <a:pPr algn="l" marL="201168" indent="-182880">
              <a:spcAft>
                <a:spcPts val="400"/>
              </a:spcAft>
              <a:buFont typeface="Arial"/>
              <a:buChar char="•"/>
            </a:pPr>
            <a:r>
              <a:rPr sz="1600" b="0" i="0">
                <a:solidFill>
                  <a:srgbClr val="1F2933"/>
                </a:solidFill>
                <a:latin typeface="Calibri"/>
              </a:rPr>
              <a:t>Three working transports behind one Python API</a:t>
            </a:r>
          </a:p>
          <a:p>
            <a:pPr algn="l" marL="201168" indent="-182880">
              <a:spcAft>
                <a:spcPts val="400"/>
              </a:spcAft>
              <a:buFont typeface="Arial"/>
              <a:buChar char="•"/>
            </a:pPr>
            <a:r>
              <a:rPr sz="1600" b="0" i="0">
                <a:solidFill>
                  <a:srgbClr val="1F2933"/>
                </a:solidFill>
                <a:latin typeface="Calibri"/>
              </a:rPr>
              <a:t>2,155 passing tests and a fake Signal Hub we can keep</a:t>
            </a:r>
          </a:p>
          <a:p>
            <a:pPr algn="l" marL="201168" indent="-182880">
              <a:spcAft>
                <a:spcPts val="400"/>
              </a:spcAft>
              <a:buFont typeface="Arial"/>
              <a:buChar char="•"/>
            </a:pPr>
            <a:r>
              <a:rPr sz="1600" b="0" i="0">
                <a:solidFill>
                  <a:srgbClr val="1F2933"/>
                </a:solidFill>
                <a:latin typeface="Calibri"/>
              </a:rPr>
              <a:t>All four planned documents finished</a:t>
            </a:r>
          </a:p>
        </p:txBody>
      </p:sp>
      <p:sp>
        <p:nvSpPr>
          <p:cNvPr id="6" name="Rounded Rectangle 5"/>
          <p:cNvSpPr/>
          <p:nvPr/>
        </p:nvSpPr>
        <p:spPr>
          <a:xfrm>
            <a:off x="4343400" y="1645920"/>
            <a:ext cx="3657600" cy="46177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783080"/>
            <a:ext cx="3291840" cy="434340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Challenges and solutions</a:t>
            </a:r>
          </a:p>
          <a:p>
            <a:pPr algn="l" marL="201168" indent="-182880">
              <a:spcAft>
                <a:spcPts val="400"/>
              </a:spcAft>
              <a:buFont typeface="Arial"/>
              <a:buChar char="•"/>
            </a:pPr>
            <a:r>
              <a:rPr sz="1600" b="0" i="0">
                <a:solidFill>
                  <a:srgbClr val="1F2933"/>
                </a:solidFill>
                <a:latin typeface="Calibri"/>
              </a:rPr>
              <a:t>The CGo export plan did not work. It was replaced with a shared facade and tested against two other transports.</a:t>
            </a:r>
          </a:p>
          <a:p>
            <a:pPr algn="l" marL="201168" indent="-182880">
              <a:spcAft>
                <a:spcPts val="400"/>
              </a:spcAft>
              <a:buFont typeface="Arial"/>
              <a:buChar char="•"/>
            </a:pPr>
            <a:r>
              <a:rPr sz="1600" b="0" i="0">
                <a:solidFill>
                  <a:srgbClr val="1F2933"/>
                </a:solidFill>
                <a:latin typeface="Calibri"/>
              </a:rPr>
              <a:t>The client is SEL Confidential. Public docs are sanitized and code stays in a private repo.</a:t>
            </a:r>
          </a:p>
          <a:p>
            <a:pPr algn="l" marL="201168" indent="-182880">
              <a:spcAft>
                <a:spcPts val="400"/>
              </a:spcAft>
              <a:buFont typeface="Arial"/>
              <a:buChar char="•"/>
            </a:pPr>
            <a:r>
              <a:rPr sz="1600" b="0" i="0">
                <a:solidFill>
                  <a:srgbClr val="1F2933"/>
                </a:solidFill>
                <a:latin typeface="Calibri"/>
              </a:rPr>
              <a:t>No real Signal Hub outside SEL. A fake one was built for testing.</a:t>
            </a:r>
          </a:p>
        </p:txBody>
      </p:sp>
      <p:sp>
        <p:nvSpPr>
          <p:cNvPr id="8" name="Rounded Rectangle 7"/>
          <p:cNvSpPr/>
          <p:nvPr/>
        </p:nvSpPr>
        <p:spPr>
          <a:xfrm>
            <a:off x="8138160" y="1645920"/>
            <a:ext cx="3520440" cy="46177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783080"/>
            <a:ext cx="3154680" cy="434340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Progress from Sprint 3</a:t>
            </a:r>
          </a:p>
          <a:p>
            <a:pPr algn="l" marL="201168" indent="-182880">
              <a:spcAft>
                <a:spcPts val="400"/>
              </a:spcAft>
              <a:buFont typeface="Arial"/>
              <a:buChar char="•"/>
            </a:pPr>
            <a:r>
              <a:rPr sz="1600" b="0" i="0">
                <a:solidFill>
                  <a:srgbClr val="1F2933"/>
                </a:solidFill>
                <a:latin typeface="Calibri"/>
              </a:rPr>
              <a:t>Sprint 3 wrapped our own COMTRADE code with CGo and subprocess</a:t>
            </a:r>
          </a:p>
          <a:p>
            <a:pPr algn="l" marL="201168" indent="-182880">
              <a:spcAft>
                <a:spcPts val="400"/>
              </a:spcAft>
              <a:buFont typeface="Arial"/>
              <a:buChar char="•"/>
            </a:pPr>
            <a:r>
              <a:rPr sz="1600" b="0" i="0">
                <a:solidFill>
                  <a:srgbClr val="1F2933"/>
                </a:solidFill>
                <a:latin typeface="Calibri"/>
              </a:rPr>
              <a:t>Sprint 4 repeated that comparison on the real client, which is much harder to wrap</a:t>
            </a:r>
          </a:p>
          <a:p>
            <a:pPr algn="l" marL="201168" indent="-182880">
              <a:spcAft>
                <a:spcPts val="400"/>
              </a:spcAft>
              <a:buFont typeface="Arial"/>
              <a:buChar char="•"/>
            </a:pPr>
            <a:r>
              <a:rPr sz="1600" b="0" i="0">
                <a:solidFill>
                  <a:srgbClr val="1F2933"/>
                </a:solidFill>
                <a:latin typeface="Calibri"/>
              </a:rPr>
              <a:t>The access blocker from Sprints 2 and 3 is gone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1B2A41"/>
                </a:solidFill>
                <a:latin typeface="Cambria"/>
              </a:rPr>
              <a:t>9</a:t>
            </a:r>
          </a:p>
        </p:txBody>
      </p:sp>
      <p:sp>
        <p:nvSpPr>
          <p:cNvPr id="3" name="TextBox 2"/>
          <p:cNvSpPr txBox="1"/>
          <p:nvPr/>
        </p:nvSpPr>
        <p:spPr>
          <a:xfrm>
            <a:off x="1280160" y="384048"/>
            <a:ext cx="10332720" cy="731520"/>
          </a:xfrm>
          <a:prstGeom prst="rect">
            <a:avLst/>
          </a:prstGeom>
          <a:noFill/>
        </p:spPr>
        <p:txBody>
          <a:bodyPr wrap="square" anchor="ctr" lIns="0" rIns="0" tIns="0" bIns="0">
            <a:spAutoFit/>
          </a:bodyPr>
          <a:lstStyle/>
          <a:p>
            <a:pPr algn="l">
              <a:spcAft>
                <a:spcPts val="600"/>
              </a:spcAft>
            </a:pPr>
            <a:r>
              <a:rPr sz="3200" b="1" i="0">
                <a:solidFill>
                  <a:srgbClr val="1B2A41"/>
                </a:solidFill>
                <a:latin typeface="Cambria"/>
              </a:rPr>
              <a:t>Next Steps and Sprint Retrospective</a:t>
            </a:r>
          </a:p>
        </p:txBody>
      </p:sp>
      <p:sp>
        <p:nvSpPr>
          <p:cNvPr id="4" name="Rounded Rectangle 3"/>
          <p:cNvSpPr/>
          <p:nvPr/>
        </p:nvSpPr>
        <p:spPr>
          <a:xfrm>
            <a:off x="548640" y="1645920"/>
            <a:ext cx="3657600" cy="46177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83080"/>
            <a:ext cx="3291840" cy="434340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Sprint 5 plan</a:t>
            </a:r>
          </a:p>
          <a:p>
            <a:pPr algn="l" marL="201168" indent="-182880">
              <a:spcAft>
                <a:spcPts val="400"/>
              </a:spcAft>
              <a:buFont typeface="Arial"/>
              <a:buChar char="•"/>
            </a:pPr>
            <a:r>
              <a:rPr sz="1600" b="0" i="0">
                <a:solidFill>
                  <a:srgbClr val="1F2933"/>
                </a:solidFill>
                <a:latin typeface="Calibri"/>
              </a:rPr>
              <a:t>Evaluate the C# client with Python.NET in week one (#36)</a:t>
            </a:r>
          </a:p>
          <a:p>
            <a:pPr algn="l" marL="201168" indent="-182880">
              <a:spcAft>
                <a:spcPts val="400"/>
              </a:spcAft>
              <a:buFont typeface="Arial"/>
              <a:buChar char="•"/>
            </a:pPr>
            <a:r>
              <a:rPr sz="1600" b="0" i="0">
                <a:solidFill>
                  <a:srgbClr val="1F2933"/>
                </a:solidFill>
                <a:latin typeface="Calibri"/>
              </a:rPr>
              <a:t>Build the Python bindings on the chosen base</a:t>
            </a:r>
          </a:p>
          <a:p>
            <a:pPr algn="l" marL="201168" indent="-182880">
              <a:spcAft>
                <a:spcPts val="400"/>
              </a:spcAft>
              <a:buFont typeface="Arial"/>
              <a:buChar char="•"/>
            </a:pPr>
            <a:r>
              <a:rPr sz="1600" b="0" i="0">
                <a:solidFill>
                  <a:srgbClr val="1F2933"/>
                </a:solidFill>
                <a:latin typeface="Calibri"/>
              </a:rPr>
              <a:t>Automated test harness in CI</a:t>
            </a:r>
          </a:p>
          <a:p>
            <a:pPr algn="l" marL="201168" indent="-182880">
              <a:spcAft>
                <a:spcPts val="400"/>
              </a:spcAft>
              <a:buFont typeface="Arial"/>
              <a:buChar char="•"/>
            </a:pPr>
            <a:r>
              <a:rPr sz="1600" b="0" i="0">
                <a:solidFill>
                  <a:srgbClr val="1F2933"/>
                </a:solidFill>
                <a:latin typeface="Calibri"/>
              </a:rPr>
              <a:t>Cross-platform checks on Linux and Windows</a:t>
            </a:r>
          </a:p>
          <a:p>
            <a:pPr algn="l" marL="201168" indent="-182880">
              <a:spcAft>
                <a:spcPts val="400"/>
              </a:spcAft>
              <a:buFont typeface="Arial"/>
              <a:buChar char="•"/>
            </a:pPr>
            <a:r>
              <a:rPr sz="1600" b="0" i="0">
                <a:solidFill>
                  <a:srgbClr val="1F2933"/>
                </a:solidFill>
                <a:latin typeface="Calibri"/>
              </a:rPr>
              <a:t>First user docs and examples</a:t>
            </a:r>
          </a:p>
        </p:txBody>
      </p:sp>
      <p:sp>
        <p:nvSpPr>
          <p:cNvPr id="6" name="Rounded Rectangle 5"/>
          <p:cNvSpPr/>
          <p:nvPr/>
        </p:nvSpPr>
        <p:spPr>
          <a:xfrm>
            <a:off x="4343400" y="1645920"/>
            <a:ext cx="3657600" cy="46177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783080"/>
            <a:ext cx="3291840" cy="434340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Retrospective</a:t>
            </a:r>
          </a:p>
          <a:p>
            <a:pPr algn="l">
              <a:spcAft>
                <a:spcPts val="200"/>
              </a:spcAft>
            </a:pPr>
            <a:r>
              <a:rPr sz="1600" b="1" i="0">
                <a:solidFill>
                  <a:srgbClr val="324A5F"/>
                </a:solidFill>
                <a:latin typeface="Calibri"/>
              </a:rPr>
              <a:t>Went well</a:t>
            </a:r>
          </a:p>
          <a:p>
            <a:pPr algn="l" marL="201168" indent="-182880">
              <a:spcAft>
                <a:spcPts val="400"/>
              </a:spcAft>
              <a:buFont typeface="Arial"/>
              <a:buChar char="•"/>
            </a:pPr>
            <a:r>
              <a:rPr sz="1600" b="0" i="0">
                <a:solidFill>
                  <a:srgbClr val="1F2933"/>
                </a:solidFill>
                <a:latin typeface="Calibri"/>
              </a:rPr>
              <a:t>Access came through and unblocked the team</a:t>
            </a:r>
          </a:p>
          <a:p>
            <a:pPr algn="l" marL="201168" indent="-182880">
              <a:spcAft>
                <a:spcPts val="400"/>
              </a:spcAft>
              <a:buFont typeface="Arial"/>
              <a:buChar char="•"/>
            </a:pPr>
            <a:r>
              <a:rPr sz="1600" b="0" i="0">
                <a:solidFill>
                  <a:srgbClr val="1F2933"/>
                </a:solidFill>
                <a:latin typeface="Calibri"/>
              </a:rPr>
              <a:t>Test results answered Joe's question</a:t>
            </a:r>
          </a:p>
          <a:p>
            <a:pPr algn="l">
              <a:spcAft>
                <a:spcPts val="200"/>
              </a:spcAft>
            </a:pPr>
            <a:r>
              <a:rPr sz="1600" b="1" i="0">
                <a:solidFill>
                  <a:srgbClr val="324A5F"/>
                </a:solidFill>
                <a:latin typeface="Calibri"/>
              </a:rPr>
              <a:t>To improve</a:t>
            </a:r>
          </a:p>
          <a:p>
            <a:pPr algn="l" marL="201168" indent="-182880">
              <a:spcAft>
                <a:spcPts val="400"/>
              </a:spcAft>
              <a:buFont typeface="Arial"/>
              <a:buChar char="•"/>
            </a:pPr>
            <a:r>
              <a:rPr sz="1600" b="0" i="0">
                <a:solidFill>
                  <a:srgbClr val="1F2933"/>
                </a:solidFill>
                <a:latin typeface="Calibri"/>
              </a:rPr>
              <a:t>Test risky assumptions like CGo earlier</a:t>
            </a:r>
          </a:p>
          <a:p>
            <a:pPr algn="l" marL="201168" indent="-182880">
              <a:spcAft>
                <a:spcPts val="400"/>
              </a:spcAft>
              <a:buFont typeface="Arial"/>
              <a:buChar char="•"/>
            </a:pPr>
            <a:r>
              <a:rPr sz="1600" b="0" i="0">
                <a:solidFill>
                  <a:srgbClr val="1F2933"/>
                </a:solidFill>
                <a:latin typeface="Calibri"/>
              </a:rPr>
              <a:t>Push prototype work as it happens</a:t>
            </a:r>
          </a:p>
        </p:txBody>
      </p:sp>
      <p:sp>
        <p:nvSpPr>
          <p:cNvPr id="8" name="Rounded Rectangle 7"/>
          <p:cNvSpPr/>
          <p:nvPr/>
        </p:nvSpPr>
        <p:spPr>
          <a:xfrm>
            <a:off x="8138160" y="1645920"/>
            <a:ext cx="3520440" cy="46177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783080"/>
            <a:ext cx="3154680" cy="4343400"/>
          </a:xfrm>
          <a:prstGeom prst="rect">
            <a:avLst/>
          </a:prstGeom>
          <a:noFill/>
        </p:spPr>
        <p:txBody>
          <a:bodyPr wrap="square" anchor="t" lIns="0" rIns="0" tIns="0" bIns="0">
            <a:spAutoFit/>
          </a:bodyPr>
          <a:lstStyle/>
          <a:p>
            <a:pPr algn="l">
              <a:spcAft>
                <a:spcPts val="600"/>
              </a:spcAft>
            </a:pPr>
            <a:r>
              <a:rPr sz="1600" b="1" i="0">
                <a:solidFill>
                  <a:srgbClr val="1B2A41"/>
                </a:solidFill>
                <a:latin typeface="Cambria"/>
              </a:rPr>
              <a:t>Acting on client feedback</a:t>
            </a:r>
          </a:p>
          <a:p>
            <a:pPr algn="l" marL="201168" indent="-182880">
              <a:spcAft>
                <a:spcPts val="400"/>
              </a:spcAft>
              <a:buFont typeface="Arial"/>
              <a:buChar char="•"/>
            </a:pPr>
            <a:r>
              <a:rPr sz="1600" b="0" i="0">
                <a:solidFill>
                  <a:srgbClr val="1F2933"/>
                </a:solidFill>
                <a:latin typeface="Calibri"/>
              </a:rPr>
              <a:t>No double maintenance drove the wrap-not-port design</a:t>
            </a:r>
          </a:p>
          <a:p>
            <a:pPr algn="l" marL="201168" indent="-182880">
              <a:spcAft>
                <a:spcPts val="400"/>
              </a:spcAft>
              <a:buFont typeface="Arial"/>
              <a:buChar char="•"/>
            </a:pPr>
            <a:r>
              <a:rPr sz="1600" b="0" i="0">
                <a:solidFill>
                  <a:srgbClr val="1F2933"/>
                </a:solidFill>
                <a:latin typeface="Calibri"/>
              </a:rPr>
              <a:t>Pub/sub was built and tested first</a:t>
            </a:r>
          </a:p>
          <a:p>
            <a:pPr algn="l" marL="201168" indent="-182880">
              <a:spcAft>
                <a:spcPts val="400"/>
              </a:spcAft>
              <a:buFont typeface="Arial"/>
              <a:buChar char="•"/>
            </a:pPr>
            <a:r>
              <a:rPr sz="1600" b="0" i="0">
                <a:solidFill>
                  <a:srgbClr val="1F2933"/>
                </a:solidFill>
                <a:latin typeface="Calibri"/>
              </a:rPr>
              <a:t>Python 3.12 is the tested baseline</a:t>
            </a:r>
          </a:p>
          <a:p>
            <a:pPr algn="l" marL="201168" indent="-182880">
              <a:spcAft>
                <a:spcPts val="400"/>
              </a:spcAft>
              <a:buFont typeface="Arial"/>
              <a:buChar char="•"/>
            </a:pPr>
            <a:r>
              <a:rPr sz="1600" b="0" i="0">
                <a:solidFill>
                  <a:srgbClr val="1F2933"/>
                </a:solidFill>
                <a:latin typeface="Calibri"/>
              </a:rPr>
              <a:t>SEL code kept off the public repo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1463040" y="3291840"/>
            <a:ext cx="4754880" cy="4754880"/>
          </a:xfrm>
          <a:prstGeom prst="ellipse">
            <a:avLst/>
          </a:prstGeom>
          <a:solidFill>
            <a:srgbClr val="1B2A41"/>
          </a:solidFill>
          <a:ln w="25400">
            <a:solidFill>
              <a:srgbClr val="32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822960"/>
            <a:ext cx="2926080" cy="2926080"/>
          </a:xfrm>
          <a:prstGeom prst="ellipse">
            <a:avLst/>
          </a:prstGeom>
          <a:solidFill>
            <a:srgbClr val="1B2A41"/>
          </a:solidFill>
          <a:ln w="25400">
            <a:solidFill>
              <a:srgbClr val="324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81360" y="5212080"/>
            <a:ext cx="731520" cy="73152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a:solidFill>
                  <a:srgbClr val="1B2A41"/>
                </a:solidFill>
                <a:latin typeface="Cambria"/>
              </a:rPr>
              <a:t>10</a:t>
            </a:r>
          </a:p>
        </p:txBody>
      </p:sp>
      <p:sp>
        <p:nvSpPr>
          <p:cNvPr id="5" name="TextBox 4"/>
          <p:cNvSpPr txBox="1"/>
          <p:nvPr/>
        </p:nvSpPr>
        <p:spPr>
          <a:xfrm>
            <a:off x="822960" y="822960"/>
            <a:ext cx="10058400" cy="822960"/>
          </a:xfrm>
          <a:prstGeom prst="rect">
            <a:avLst/>
          </a:prstGeom>
          <a:noFill/>
        </p:spPr>
        <p:txBody>
          <a:bodyPr wrap="square" anchor="t" lIns="0" rIns="0" tIns="0" bIns="0">
            <a:spAutoFit/>
          </a:bodyPr>
          <a:lstStyle/>
          <a:p>
            <a:pPr algn="l">
              <a:spcAft>
                <a:spcPts val="600"/>
              </a:spcAft>
            </a:pPr>
            <a:r>
              <a:rPr sz="4000" b="1" i="0">
                <a:solidFill>
                  <a:srgbClr val="FFFFFF"/>
                </a:solidFill>
                <a:latin typeface="Cambria"/>
              </a:rPr>
              <a:t>Conclusion</a:t>
            </a:r>
          </a:p>
        </p:txBody>
      </p:sp>
      <p:sp>
        <p:nvSpPr>
          <p:cNvPr id="6" name="TextBox 5"/>
          <p:cNvSpPr txBox="1"/>
          <p:nvPr/>
        </p:nvSpPr>
        <p:spPr>
          <a:xfrm>
            <a:off x="822960" y="1828800"/>
            <a:ext cx="9601200" cy="2926080"/>
          </a:xfrm>
          <a:prstGeom prst="rect">
            <a:avLst/>
          </a:prstGeom>
          <a:noFill/>
        </p:spPr>
        <p:txBody>
          <a:bodyPr wrap="square" anchor="t" lIns="0" rIns="0" tIns="0" bIns="0">
            <a:spAutoFit/>
          </a:bodyPr>
          <a:lstStyle/>
          <a:p>
            <a:pPr algn="l" marL="201168" indent="-182880">
              <a:spcAft>
                <a:spcPts val="1000"/>
              </a:spcAft>
              <a:buFont typeface="Arial"/>
              <a:buChar char="•"/>
            </a:pPr>
            <a:r>
              <a:rPr sz="2000" b="0" i="0">
                <a:solidFill>
                  <a:srgbClr val="FFFFFF"/>
                </a:solidFill>
                <a:latin typeface="Calibri"/>
              </a:rPr>
              <a:t>Wrapping the Go client works, but only safely out of process, and most of the effort is glue code.</a:t>
            </a:r>
          </a:p>
          <a:p>
            <a:pPr algn="l" marL="201168" indent="-182880">
              <a:spcAft>
                <a:spcPts val="1000"/>
              </a:spcAft>
              <a:buFont typeface="Arial"/>
              <a:buChar char="•"/>
            </a:pPr>
            <a:r>
              <a:rPr sz="2000" b="0" i="0">
                <a:solidFill>
                  <a:srgbClr val="FFFFFF"/>
                </a:solidFill>
                <a:latin typeface="Calibri"/>
              </a:rPr>
              <a:t>The bridge prototype, test suite, and plans are ready to carry into Sprint 5.</a:t>
            </a:r>
          </a:p>
          <a:p>
            <a:pPr algn="l" marL="201168" indent="-182880">
              <a:spcAft>
                <a:spcPts val="1000"/>
              </a:spcAft>
              <a:buFont typeface="Arial"/>
              <a:buChar char="•"/>
            </a:pPr>
            <a:r>
              <a:rPr sz="2000" b="0" i="0">
                <a:solidFill>
                  <a:srgbClr val="FFFFFF"/>
                </a:solidFill>
                <a:latin typeface="Calibri"/>
              </a:rPr>
              <a:t>Next up is the C# check, then building the bindings on whichever base holds up.</a:t>
            </a:r>
          </a:p>
        </p:txBody>
      </p:sp>
      <p:sp>
        <p:nvSpPr>
          <p:cNvPr id="7" name="TextBox 6"/>
          <p:cNvSpPr txBox="1"/>
          <p:nvPr/>
        </p:nvSpPr>
        <p:spPr>
          <a:xfrm>
            <a:off x="822960" y="4937760"/>
            <a:ext cx="9144000" cy="1097280"/>
          </a:xfrm>
          <a:prstGeom prst="rect">
            <a:avLst/>
          </a:prstGeom>
          <a:noFill/>
        </p:spPr>
        <p:txBody>
          <a:bodyPr wrap="square" anchor="t" lIns="0" rIns="0" tIns="0" bIns="0">
            <a:spAutoFit/>
          </a:bodyPr>
          <a:lstStyle/>
          <a:p>
            <a:pPr algn="l">
              <a:spcAft>
                <a:spcPts val="400"/>
              </a:spcAft>
            </a:pPr>
            <a:r>
              <a:rPr sz="2000" b="1" i="0">
                <a:solidFill>
                  <a:srgbClr val="F2A541"/>
                </a:solidFill>
                <a:latin typeface="Calibri"/>
              </a:rPr>
              <a:t>Thank you to Joe Stanley and SEL, and to the course staff.</a:t>
            </a:r>
          </a:p>
          <a:p>
            <a:pPr algn="l">
              <a:spcAft>
                <a:spcPts val="600"/>
              </a:spcAft>
            </a:pPr>
            <a:r>
              <a:rPr sz="1600" b="0" i="0">
                <a:solidFill>
                  <a:srgbClr val="C9D3DE"/>
                </a:solidFill>
                <a:latin typeface="Calibri"/>
              </a:rPr>
              <a:t>Questions and feedback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