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Open the video. Say the project name, the course, and that this is the Sprint 4 walkthrough. Mention that we will go round robin, so each section is presented by a different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Give the one line version of the project. Blueframe, Signal Hub, Python SDK that wraps the existing client. Introduce each person and their role. Then say the Sprint 4 goal was to find out whether wrapping Go is worth it and to settle the plans before building.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Walk through the four objectives from the project plan. Explain that Sprint 4 was scoped as planning and investigation, and that the reason is Joe's concern about double maintenance. End with how this ties into the long-term goal.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Each member presents their own row, then Lucas covers the banner</a:t>
            </a:r>
          </a:p>
          <a:p/>
          <a:p>
            <a:r>
              <a:t>Go round the table, one row each, about 30 seconds per person. Then say the prototype covers every operation in the scope Joe agreed to, which is well over 80 percent of the SDK's planned features. What is left is hardening, packaging, docs, and moving to the C# client.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Start with the Go side, since that is where most of the work was. The facade is the only code that touches SEL's client, and it turns the generic, callback based Go API into plain calls Python can use. The C interface and the bridge are two ways of exposing that same facade. The fake Signal Hub lets everything be tested outside SEL. Then cover the Python side briefly.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If recording live, start the fake hub with ./build/testhub and run examples/quickstart.py with the three ports it prints. Otherwise walk through the captured output. Then show the test summary. Point out that only the bridge keeps Python alive when the Go code fails, and close with Joe's feedback on the test run and the move to 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Show the board filtered to Sprint 4 and 5. Point out the Done column and that the only open item is the C# evaluation, which moved to Sprint 5. Then briefly say what each person contributed.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Open the MoM folder on GitHub. Go through the two meetings. The first set the goals and constraints for the semester. The second was where the team presented the Go findings and agreed on the direction for Sprint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Scroll through the Sprint 4 report on GitHub section by section. Then show the docs/Sprint4 folder and the README. Mention that the prototype code is not in the public repo on purpose because the client is SEL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Placeholder. Fill in once the team has written up its AI usage.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Go through achievements, then the challenges and how each was handled. Finish by connecting back to Sprint 3, where the same comparison was done on simpler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Outline the Sprint 5 plan, starting with the C# evaluation. Then cover what went well and what to improve. End with the specific things done because of Joe's feedback.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Recap the three takeaways. Thank Joe, SEL, and the course staff,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503920" y="-109728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966960" y="3566160"/>
            <a:ext cx="3108960" cy="310896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61320" y="1097280"/>
            <a:ext cx="822960" cy="8229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8686800" cy="1097280"/>
          </a:xfrm>
          <a:prstGeom prst="rect">
            <a:avLst/>
          </a:prstGeom>
          <a:noFill/>
        </p:spPr>
        <p:txBody>
          <a:bodyPr wrap="square" anchor="t" lIns="0" rIns="0" tIns="0" bIns="0">
            <a:spAutoFit/>
          </a:bodyPr>
          <a:lstStyle/>
          <a:p>
            <a:pPr algn="l">
              <a:spcAft>
                <a:spcPts val="600"/>
              </a:spcAft>
            </a:pPr>
            <a:r>
              <a:rPr sz="4800" b="1" i="0">
                <a:solidFill>
                  <a:srgbClr val="FFFFFF"/>
                </a:solidFill>
                <a:latin typeface="Cambria"/>
              </a:rPr>
              <a:t>SEL Blueframe Python SDK</a:t>
            </a:r>
          </a:p>
        </p:txBody>
      </p:sp>
      <p:sp>
        <p:nvSpPr>
          <p:cNvPr id="6" name="TextBox 5"/>
          <p:cNvSpPr txBox="1"/>
          <p:nvPr/>
        </p:nvSpPr>
        <p:spPr>
          <a:xfrm>
            <a:off x="731520" y="2788920"/>
            <a:ext cx="8686800" cy="548640"/>
          </a:xfrm>
          <a:prstGeom prst="rect">
            <a:avLst/>
          </a:prstGeom>
          <a:noFill/>
        </p:spPr>
        <p:txBody>
          <a:bodyPr wrap="square" anchor="t" lIns="0" rIns="0" tIns="0" bIns="0">
            <a:spAutoFit/>
          </a:bodyPr>
          <a:lstStyle/>
          <a:p>
            <a:pPr algn="l">
              <a:spcAft>
                <a:spcPts val="600"/>
              </a:spcAft>
            </a:pPr>
            <a:r>
              <a:rPr sz="2400" b="1" i="0">
                <a:solidFill>
                  <a:srgbClr val="F2A541"/>
                </a:solidFill>
                <a:latin typeface="Calibri"/>
              </a:rPr>
              <a:t>Sprint 4  |  Go Wrapper for Python SDK</a:t>
            </a:r>
          </a:p>
        </p:txBody>
      </p:sp>
      <p:sp>
        <p:nvSpPr>
          <p:cNvPr id="7" name="TextBox 6"/>
          <p:cNvSpPr txBox="1"/>
          <p:nvPr/>
        </p:nvSpPr>
        <p:spPr>
          <a:xfrm>
            <a:off x="731520" y="3749039"/>
            <a:ext cx="8686800" cy="1097280"/>
          </a:xfrm>
          <a:prstGeom prst="rect">
            <a:avLst/>
          </a:prstGeom>
          <a:noFill/>
        </p:spPr>
        <p:txBody>
          <a:bodyPr wrap="square" anchor="t" lIns="0" rIns="0" tIns="0" bIns="0">
            <a:spAutoFit/>
          </a:bodyPr>
          <a:lstStyle/>
          <a:p>
            <a:pPr algn="l">
              <a:spcAft>
                <a:spcPts val="600"/>
              </a:spcAft>
            </a:pPr>
            <a:r>
              <a:rPr sz="2000" b="0" i="0">
                <a:solidFill>
                  <a:srgbClr val="FFFFFF"/>
                </a:solidFill>
                <a:latin typeface="Calibri"/>
              </a:rPr>
              <a:t>Caleb Hansen, Genevieve Kochel, Darron Li, Lucas Phillips</a:t>
            </a:r>
          </a:p>
          <a:p>
            <a:pPr algn="l">
              <a:spcAft>
                <a:spcPts val="600"/>
              </a:spcAft>
            </a:pPr>
            <a:r>
              <a:rPr sz="1500" b="0" i="0">
                <a:solidFill>
                  <a:srgbClr val="C9D3DE"/>
                </a:solidFill>
                <a:latin typeface="Calibri"/>
              </a:rPr>
              <a:t>CptS 423  |  Team 03-SEL-BFSDK  |  Client Joe Stanley, SEL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1</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Introduction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Project, team roles, and what Sprint 4 set out to do</a:t>
            </a:r>
          </a:p>
        </p:txBody>
      </p:sp>
      <p:sp>
        <p:nvSpPr>
          <p:cNvPr id="5" name="TextBox 4"/>
          <p:cNvSpPr txBox="1"/>
          <p:nvPr/>
        </p:nvSpPr>
        <p:spPr>
          <a:xfrm>
            <a:off x="548640" y="1645920"/>
            <a:ext cx="5577840" cy="4480560"/>
          </a:xfrm>
          <a:prstGeom prst="rect">
            <a:avLst/>
          </a:prstGeom>
          <a:noFill/>
        </p:spPr>
        <p:txBody>
          <a:bodyPr wrap="square" anchor="t" lIns="0" rIns="0" tIns="0" bIns="0">
            <a:spAutoFit/>
          </a:bodyPr>
          <a:lstStyle/>
          <a:p>
            <a:pPr algn="l">
              <a:spcAft>
                <a:spcPts val="800"/>
              </a:spcAft>
            </a:pPr>
            <a:r>
              <a:rPr sz="1800" b="1" i="0">
                <a:solidFill>
                  <a:srgbClr val="1B2A41"/>
                </a:solidFill>
                <a:latin typeface="Cambria"/>
              </a:rPr>
              <a:t>The project</a:t>
            </a:r>
          </a:p>
          <a:p>
            <a:pPr algn="l" marL="201168" indent="-182880">
              <a:spcAft>
                <a:spcPts val="800"/>
              </a:spcAft>
              <a:buFont typeface="Arial"/>
              <a:buChar char="•"/>
            </a:pPr>
            <a:r>
              <a:rPr sz="1600" b="0" i="0">
                <a:solidFill>
                  <a:srgbClr val="1F2933"/>
                </a:solidFill>
                <a:latin typeface="Calibri"/>
              </a:rPr>
              <a:t>Blueframe apps move real-time grid data through Signal Hub. SEL has clients for it in Go and C#, but most automation engineers work in Python.</a:t>
            </a:r>
          </a:p>
          <a:p>
            <a:pPr algn="l" marL="201168" indent="-182880">
              <a:spcAft>
                <a:spcPts val="800"/>
              </a:spcAft>
              <a:buFont typeface="Arial"/>
              <a:buChar char="•"/>
            </a:pPr>
            <a:r>
              <a:rPr sz="1600" b="0" i="0">
                <a:solidFill>
                  <a:srgbClr val="1F2933"/>
                </a:solidFill>
                <a:latin typeface="Calibri"/>
              </a:rPr>
              <a:t>We are building a Python SDK that wraps an existing client instead of porting it, so SEL does not end up maintaining a third copy.</a:t>
            </a:r>
          </a:p>
          <a:p>
            <a:pPr algn="l">
              <a:spcAft>
                <a:spcPts val="800"/>
              </a:spcAft>
            </a:pPr>
            <a:r>
              <a:rPr sz="1800" b="1" i="0">
                <a:solidFill>
                  <a:srgbClr val="1B2A41"/>
                </a:solidFill>
                <a:latin typeface="Cambria"/>
              </a:rPr>
              <a:t>Sprint 4 goal</a:t>
            </a:r>
          </a:p>
          <a:p>
            <a:pPr algn="l" marL="201168" indent="-182880">
              <a:spcAft>
                <a:spcPts val="800"/>
              </a:spcAft>
              <a:buFont typeface="Arial"/>
              <a:buChar char="•"/>
            </a:pPr>
            <a:r>
              <a:rPr sz="1600" b="0" i="0">
                <a:solidFill>
                  <a:srgbClr val="1F2933"/>
                </a:solidFill>
                <a:latin typeface="Calibri"/>
              </a:rPr>
              <a:t>Answer the client's main question. Is wrapping the Go client worth it, and how should it be done?</a:t>
            </a:r>
          </a:p>
          <a:p>
            <a:pPr algn="l" marL="201168" indent="-182880">
              <a:spcAft>
                <a:spcPts val="800"/>
              </a:spcAft>
              <a:buFont typeface="Arial"/>
              <a:buChar char="•"/>
            </a:pPr>
            <a:r>
              <a:rPr sz="1600" b="0" i="0">
                <a:solidFill>
                  <a:srgbClr val="1F2933"/>
                </a:solidFill>
                <a:latin typeface="Calibri"/>
              </a:rPr>
              <a:t>Settle the architecture, compatibility, testing, and documentation plans before Sprint 5 builds the bindings.</a:t>
            </a:r>
          </a:p>
        </p:txBody>
      </p:sp>
      <p:sp>
        <p:nvSpPr>
          <p:cNvPr id="6" name="Rounded Rectangle 5"/>
          <p:cNvSpPr/>
          <p:nvPr/>
        </p:nvSpPr>
        <p:spPr>
          <a:xfrm>
            <a:off x="649224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67512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LP</a:t>
            </a:r>
          </a:p>
        </p:txBody>
      </p:sp>
      <p:sp>
        <p:nvSpPr>
          <p:cNvPr id="8" name="TextBox 7"/>
          <p:cNvSpPr txBox="1"/>
          <p:nvPr/>
        </p:nvSpPr>
        <p:spPr>
          <a:xfrm>
            <a:off x="667512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Lucas Phillips</a:t>
            </a:r>
          </a:p>
          <a:p>
            <a:pPr algn="l">
              <a:spcAft>
                <a:spcPts val="600"/>
              </a:spcAft>
            </a:pPr>
            <a:r>
              <a:rPr sz="1300" b="0" i="0">
                <a:solidFill>
                  <a:srgbClr val="1F2933"/>
                </a:solidFill>
                <a:latin typeface="Calibri"/>
              </a:rPr>
              <a:t>Architecture and the Python bridge prototype</a:t>
            </a:r>
          </a:p>
        </p:txBody>
      </p:sp>
      <p:sp>
        <p:nvSpPr>
          <p:cNvPr id="9" name="Rounded Rectangle 8"/>
          <p:cNvSpPr/>
          <p:nvPr/>
        </p:nvSpPr>
        <p:spPr>
          <a:xfrm>
            <a:off x="918972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7260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CH</a:t>
            </a:r>
          </a:p>
        </p:txBody>
      </p:sp>
      <p:sp>
        <p:nvSpPr>
          <p:cNvPr id="11" name="TextBox 10"/>
          <p:cNvSpPr txBox="1"/>
          <p:nvPr/>
        </p:nvSpPr>
        <p:spPr>
          <a:xfrm>
            <a:off x="937260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Caleb Hansen</a:t>
            </a:r>
          </a:p>
          <a:p>
            <a:pPr algn="l">
              <a:spcAft>
                <a:spcPts val="600"/>
              </a:spcAft>
            </a:pPr>
            <a:r>
              <a:rPr sz="1300" b="0" i="0">
                <a:solidFill>
                  <a:srgbClr val="1F2933"/>
                </a:solidFill>
                <a:latin typeface="Calibri"/>
              </a:rPr>
              <a:t>CGo research, repo setup, compatibility and performance</a:t>
            </a:r>
          </a:p>
        </p:txBody>
      </p:sp>
      <p:sp>
        <p:nvSpPr>
          <p:cNvPr id="12" name="Rounded Rectangle 11"/>
          <p:cNvSpPr/>
          <p:nvPr/>
        </p:nvSpPr>
        <p:spPr>
          <a:xfrm>
            <a:off x="649224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GK</a:t>
            </a:r>
          </a:p>
        </p:txBody>
      </p:sp>
      <p:sp>
        <p:nvSpPr>
          <p:cNvPr id="14" name="TextBox 13"/>
          <p:cNvSpPr txBox="1"/>
          <p:nvPr/>
        </p:nvSpPr>
        <p:spPr>
          <a:xfrm>
            <a:off x="667512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Genevieve Kochel</a:t>
            </a:r>
          </a:p>
          <a:p>
            <a:pPr algn="l">
              <a:spcAft>
                <a:spcPts val="600"/>
              </a:spcAft>
            </a:pPr>
            <a:r>
              <a:rPr sz="1300" b="0" i="0">
                <a:solidFill>
                  <a:srgbClr val="1F2933"/>
                </a:solidFill>
                <a:latin typeface="Calibri"/>
              </a:rPr>
              <a:t>Source access, C# research, client meetings, testing plan</a:t>
            </a:r>
          </a:p>
        </p:txBody>
      </p:sp>
      <p:sp>
        <p:nvSpPr>
          <p:cNvPr id="15" name="Rounded Rectangle 14"/>
          <p:cNvSpPr/>
          <p:nvPr/>
        </p:nvSpPr>
        <p:spPr>
          <a:xfrm>
            <a:off x="918972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37260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DL</a:t>
            </a:r>
          </a:p>
        </p:txBody>
      </p:sp>
      <p:sp>
        <p:nvSpPr>
          <p:cNvPr id="17" name="TextBox 16"/>
          <p:cNvSpPr txBox="1"/>
          <p:nvPr/>
        </p:nvSpPr>
        <p:spPr>
          <a:xfrm>
            <a:off x="937260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Darron Li</a:t>
            </a:r>
          </a:p>
          <a:p>
            <a:pPr algn="l">
              <a:spcAft>
                <a:spcPts val="600"/>
              </a:spcAft>
            </a:pPr>
            <a:r>
              <a:rPr sz="1300" b="0" i="0">
                <a:solidFill>
                  <a:srgbClr val="1F2933"/>
                </a:solidFill>
                <a:latin typeface="Calibri"/>
              </a:rPr>
              <a:t>Documentation and extensibility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2</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4 Objectives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From the Sprint 4 to 6 project plan agreed with Joe Stanley on September 14</a:t>
            </a:r>
          </a:p>
        </p:txBody>
      </p:sp>
      <p:sp>
        <p:nvSpPr>
          <p:cNvPr id="5" name="Rounded Rectangle 4"/>
          <p:cNvSpPr/>
          <p:nvPr/>
        </p:nvSpPr>
        <p:spPr>
          <a:xfrm>
            <a:off x="548640"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1</a:t>
            </a:r>
          </a:p>
        </p:txBody>
      </p:sp>
      <p:sp>
        <p:nvSpPr>
          <p:cNvPr id="7" name="TextBox 6"/>
          <p:cNvSpPr txBox="1"/>
          <p:nvPr/>
        </p:nvSpPr>
        <p:spPr>
          <a:xfrm>
            <a:off x="731520"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Architecture plan</a:t>
            </a:r>
          </a:p>
          <a:p>
            <a:pPr algn="l">
              <a:spcAft>
                <a:spcPts val="600"/>
              </a:spcAft>
            </a:pPr>
            <a:r>
              <a:rPr sz="1300" b="0" i="0">
                <a:solidFill>
                  <a:srgbClr val="1F2933"/>
                </a:solidFill>
                <a:latin typeface="Calibri"/>
              </a:rPr>
              <a:t>Proposed Python API, binding approach, errors, data types, what stays hidden</a:t>
            </a:r>
          </a:p>
        </p:txBody>
      </p:sp>
      <p:sp>
        <p:nvSpPr>
          <p:cNvPr id="8" name="Rounded Rectangle 7"/>
          <p:cNvSpPr/>
          <p:nvPr/>
        </p:nvSpPr>
        <p:spPr>
          <a:xfrm>
            <a:off x="3364992"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47872"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2</a:t>
            </a:r>
          </a:p>
        </p:txBody>
      </p:sp>
      <p:sp>
        <p:nvSpPr>
          <p:cNvPr id="10" name="TextBox 9"/>
          <p:cNvSpPr txBox="1"/>
          <p:nvPr/>
        </p:nvSpPr>
        <p:spPr>
          <a:xfrm>
            <a:off x="3547872"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Compatibility, maintenance, performance</a:t>
            </a:r>
          </a:p>
          <a:p>
            <a:pPr algn="l">
              <a:spcAft>
                <a:spcPts val="600"/>
              </a:spcAft>
            </a:pPr>
            <a:r>
              <a:rPr sz="1300" b="0" i="0">
                <a:solidFill>
                  <a:srgbClr val="1F2933"/>
                </a:solidFill>
                <a:latin typeface="Calibri"/>
              </a:rPr>
              <a:t>Python 3.12, OS targets, multithreading, speed, and no double maintenance</a:t>
            </a:r>
          </a:p>
        </p:txBody>
      </p:sp>
      <p:sp>
        <p:nvSpPr>
          <p:cNvPr id="11" name="Rounded Rectangle 10"/>
          <p:cNvSpPr/>
          <p:nvPr/>
        </p:nvSpPr>
        <p:spPr>
          <a:xfrm>
            <a:off x="6181344"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4224"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3</a:t>
            </a:r>
          </a:p>
        </p:txBody>
      </p:sp>
      <p:sp>
        <p:nvSpPr>
          <p:cNvPr id="13" name="TextBox 12"/>
          <p:cNvSpPr txBox="1"/>
          <p:nvPr/>
        </p:nvSpPr>
        <p:spPr>
          <a:xfrm>
            <a:off x="6364224"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Testing and dev process</a:t>
            </a:r>
          </a:p>
          <a:p>
            <a:pPr algn="l">
              <a:spcAft>
                <a:spcPts val="600"/>
              </a:spcAft>
            </a:pPr>
            <a:r>
              <a:rPr sz="1300" b="0" i="0">
                <a:solidFill>
                  <a:srgbClr val="1F2933"/>
                </a:solidFill>
                <a:latin typeface="Calibri"/>
              </a:rPr>
              <a:t>Unit, integration, interop, concurrency, and cross-platform tests plus workflow</a:t>
            </a:r>
          </a:p>
        </p:txBody>
      </p:sp>
      <p:sp>
        <p:nvSpPr>
          <p:cNvPr id="14" name="Rounded Rectangle 13"/>
          <p:cNvSpPr/>
          <p:nvPr/>
        </p:nvSpPr>
        <p:spPr>
          <a:xfrm>
            <a:off x="8997696"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80576"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4</a:t>
            </a:r>
          </a:p>
        </p:txBody>
      </p:sp>
      <p:sp>
        <p:nvSpPr>
          <p:cNvPr id="16" name="TextBox 15"/>
          <p:cNvSpPr txBox="1"/>
          <p:nvPr/>
        </p:nvSpPr>
        <p:spPr>
          <a:xfrm>
            <a:off x="9180576"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Documentation and extensibility</a:t>
            </a:r>
          </a:p>
          <a:p>
            <a:pPr algn="l">
              <a:spcAft>
                <a:spcPts val="600"/>
              </a:spcAft>
            </a:pPr>
            <a:r>
              <a:rPr sz="1300" b="0" i="0">
                <a:solidFill>
                  <a:srgbClr val="1F2933"/>
                </a:solidFill>
                <a:latin typeface="Calibri"/>
              </a:rPr>
              <a:t>Doc structure and conventions, and how someone adds a function later</a:t>
            </a:r>
          </a:p>
        </p:txBody>
      </p:sp>
      <p:sp>
        <p:nvSpPr>
          <p:cNvPr id="17" name="Rounded Rectangle 16"/>
          <p:cNvSpPr/>
          <p:nvPr/>
        </p:nvSpPr>
        <p:spPr>
          <a:xfrm>
            <a:off x="548640" y="4343400"/>
            <a:ext cx="553212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80560"/>
            <a:ext cx="5166359"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these first</a:t>
            </a:r>
          </a:p>
          <a:p>
            <a:pPr algn="l" marL="201168" indent="-182880">
              <a:spcAft>
                <a:spcPts val="400"/>
              </a:spcAft>
              <a:buFont typeface="Arial"/>
              <a:buChar char="•"/>
            </a:pPr>
            <a:r>
              <a:rPr sz="1400" b="0" i="0">
                <a:solidFill>
                  <a:srgbClr val="1F2933"/>
                </a:solidFill>
                <a:latin typeface="Calibri"/>
              </a:rPr>
              <a:t>Joe's top concern is avoiding double maintenance, so the approach had to be proven before any code was written for real.</a:t>
            </a:r>
          </a:p>
          <a:p>
            <a:pPr algn="l" marL="201168" indent="-182880">
              <a:spcAft>
                <a:spcPts val="400"/>
              </a:spcAft>
              <a:buFont typeface="Arial"/>
              <a:buChar char="•"/>
            </a:pPr>
            <a:r>
              <a:rPr sz="1400" b="0" i="0">
                <a:solidFill>
                  <a:srgbClr val="1F2933"/>
                </a:solidFill>
                <a:latin typeface="Calibri"/>
              </a:rPr>
              <a:t>Sprint 5 builds the bindings, so the design needed to be settled now.</a:t>
            </a:r>
          </a:p>
        </p:txBody>
      </p:sp>
      <p:sp>
        <p:nvSpPr>
          <p:cNvPr id="19" name="Rounded Rectangle 18"/>
          <p:cNvSpPr/>
          <p:nvPr/>
        </p:nvSpPr>
        <p:spPr>
          <a:xfrm>
            <a:off x="6263640" y="4343400"/>
            <a:ext cx="539496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480560"/>
            <a:ext cx="5029200"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Connection to the long-term vision</a:t>
            </a:r>
          </a:p>
          <a:p>
            <a:pPr algn="l" marL="201168" indent="-182880">
              <a:spcAft>
                <a:spcPts val="400"/>
              </a:spcAft>
              <a:buFont typeface="Arial"/>
              <a:buChar char="•"/>
            </a:pPr>
            <a:r>
              <a:rPr sz="1400" b="0" i="0">
                <a:solidFill>
                  <a:srgbClr val="1F2933"/>
                </a:solidFill>
                <a:latin typeface="Calibri"/>
              </a:rPr>
              <a:t>Engineers script Signal Hub from Python with numpy in and out.</a:t>
            </a:r>
          </a:p>
          <a:p>
            <a:pPr algn="l" marL="201168" indent="-182880">
              <a:spcAft>
                <a:spcPts val="400"/>
              </a:spcAft>
              <a:buFont typeface="Arial"/>
              <a:buChar char="•"/>
            </a:pPr>
            <a:r>
              <a:rPr sz="1400" b="0" i="0">
                <a:solidFill>
                  <a:srgbClr val="1F2933"/>
                </a:solidFill>
                <a:latin typeface="Calibri"/>
              </a:rPr>
              <a:t>SEL keeps one real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Implementation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Core SDK features built and tested in Go and Python</a:t>
            </a:r>
          </a:p>
        </p:txBody>
      </p:sp>
      <p:sp>
        <p:nvSpPr>
          <p:cNvPr id="5" name="Rounded Rectangle 4"/>
          <p:cNvSpPr/>
          <p:nvPr/>
        </p:nvSpPr>
        <p:spPr>
          <a:xfrm>
            <a:off x="548640" y="1600200"/>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13232" y="1737360"/>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1</a:t>
            </a:r>
          </a:p>
        </p:txBody>
      </p:sp>
      <p:sp>
        <p:nvSpPr>
          <p:cNvPr id="7" name="TextBox 6"/>
          <p:cNvSpPr txBox="1"/>
          <p:nvPr/>
        </p:nvSpPr>
        <p:spPr>
          <a:xfrm>
            <a:off x="1417320" y="1655064"/>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Lucas Phillips</a:t>
            </a:r>
          </a:p>
          <a:p>
            <a:pPr algn="l">
              <a:spcAft>
                <a:spcPts val="600"/>
              </a:spcAft>
            </a:pPr>
            <a:r>
              <a:rPr sz="1200" b="0" i="0">
                <a:solidFill>
                  <a:srgbClr val="5B6B7A"/>
                </a:solidFill>
                <a:latin typeface="Calibri"/>
              </a:rPr>
              <a:t>Python SDK prototype</a:t>
            </a:r>
          </a:p>
        </p:txBody>
      </p:sp>
      <p:sp>
        <p:nvSpPr>
          <p:cNvPr id="8" name="TextBox 7"/>
          <p:cNvSpPr txBox="1"/>
          <p:nvPr/>
        </p:nvSpPr>
        <p:spPr>
          <a:xfrm>
            <a:off x="4663440" y="1655064"/>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Go facade, C interface, gRPC bridge, fake Signal Hub, Python API over three transports</a:t>
            </a:r>
          </a:p>
        </p:txBody>
      </p:sp>
      <p:sp>
        <p:nvSpPr>
          <p:cNvPr id="9" name="TextBox 8"/>
          <p:cNvSpPr txBox="1"/>
          <p:nvPr/>
        </p:nvSpPr>
        <p:spPr>
          <a:xfrm>
            <a:off x="10149840" y="1655064"/>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#25  #26</a:t>
            </a:r>
          </a:p>
        </p:txBody>
      </p:sp>
      <p:sp>
        <p:nvSpPr>
          <p:cNvPr id="10" name="Rounded Rectangle 9"/>
          <p:cNvSpPr/>
          <p:nvPr/>
        </p:nvSpPr>
        <p:spPr>
          <a:xfrm>
            <a:off x="548640" y="2496312"/>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3232" y="2633472"/>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2</a:t>
            </a:r>
          </a:p>
        </p:txBody>
      </p:sp>
      <p:sp>
        <p:nvSpPr>
          <p:cNvPr id="12" name="TextBox 11"/>
          <p:cNvSpPr txBox="1"/>
          <p:nvPr/>
        </p:nvSpPr>
        <p:spPr>
          <a:xfrm>
            <a:off x="1417320" y="2551176"/>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Caleb Hansen</a:t>
            </a:r>
          </a:p>
          <a:p>
            <a:pPr algn="l">
              <a:spcAft>
                <a:spcPts val="600"/>
              </a:spcAft>
            </a:pPr>
            <a:r>
              <a:rPr sz="1200" b="0" i="0">
                <a:solidFill>
                  <a:srgbClr val="5B6B7A"/>
                </a:solidFill>
                <a:latin typeface="Calibri"/>
              </a:rPr>
              <a:t>CGo investigation and repo setup</a:t>
            </a:r>
          </a:p>
        </p:txBody>
      </p:sp>
      <p:sp>
        <p:nvSpPr>
          <p:cNvPr id="13" name="TextBox 12"/>
          <p:cNvSpPr txBox="1"/>
          <p:nvPr/>
        </p:nvSpPr>
        <p:spPr>
          <a:xfrm>
            <a:off x="4663440" y="2551176"/>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Private repo, Claude onboarding skills, CGo pitfalls write-up</a:t>
            </a:r>
          </a:p>
        </p:txBody>
      </p:sp>
      <p:sp>
        <p:nvSpPr>
          <p:cNvPr id="14" name="TextBox 13"/>
          <p:cNvSpPr txBox="1"/>
          <p:nvPr/>
        </p:nvSpPr>
        <p:spPr>
          <a:xfrm>
            <a:off x="10149840" y="2551176"/>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#27  #28  #29</a:t>
            </a:r>
          </a:p>
        </p:txBody>
      </p:sp>
      <p:sp>
        <p:nvSpPr>
          <p:cNvPr id="15" name="Rounded Rectangle 14"/>
          <p:cNvSpPr/>
          <p:nvPr/>
        </p:nvSpPr>
        <p:spPr>
          <a:xfrm>
            <a:off x="548640" y="3392424"/>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29584"/>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3</a:t>
            </a:r>
          </a:p>
        </p:txBody>
      </p:sp>
      <p:sp>
        <p:nvSpPr>
          <p:cNvPr id="17" name="TextBox 16"/>
          <p:cNvSpPr txBox="1"/>
          <p:nvPr/>
        </p:nvSpPr>
        <p:spPr>
          <a:xfrm>
            <a:off x="1417320" y="3447288"/>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Genevieve Kochel</a:t>
            </a:r>
          </a:p>
          <a:p>
            <a:pPr algn="l">
              <a:spcAft>
                <a:spcPts val="600"/>
              </a:spcAft>
            </a:pPr>
            <a:r>
              <a:rPr sz="1200" b="0" i="0">
                <a:solidFill>
                  <a:srgbClr val="5B6B7A"/>
                </a:solidFill>
                <a:latin typeface="Calibri"/>
              </a:rPr>
              <a:t>Source access and the C# option</a:t>
            </a:r>
          </a:p>
        </p:txBody>
      </p:sp>
      <p:sp>
        <p:nvSpPr>
          <p:cNvPr id="18" name="TextBox 17"/>
          <p:cNvSpPr txBox="1"/>
          <p:nvPr/>
        </p:nvSpPr>
        <p:spPr>
          <a:xfrm>
            <a:off x="4663440" y="3447288"/>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C# and C++ access, Go client pulled out of the server code, Python.NET research</a:t>
            </a:r>
          </a:p>
        </p:txBody>
      </p:sp>
      <p:sp>
        <p:nvSpPr>
          <p:cNvPr id="19" name="TextBox 18"/>
          <p:cNvSpPr txBox="1"/>
          <p:nvPr/>
        </p:nvSpPr>
        <p:spPr>
          <a:xfrm>
            <a:off x="10149840" y="3447288"/>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#30  #31  #32</a:t>
            </a:r>
          </a:p>
        </p:txBody>
      </p:sp>
      <p:sp>
        <p:nvSpPr>
          <p:cNvPr id="20" name="Rounded Rectangle 19"/>
          <p:cNvSpPr/>
          <p:nvPr/>
        </p:nvSpPr>
        <p:spPr>
          <a:xfrm>
            <a:off x="548640" y="4288536"/>
            <a:ext cx="11109960" cy="78638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425696"/>
            <a:ext cx="512064" cy="512064"/>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4</a:t>
            </a:r>
          </a:p>
        </p:txBody>
      </p:sp>
      <p:sp>
        <p:nvSpPr>
          <p:cNvPr id="22" name="TextBox 21"/>
          <p:cNvSpPr txBox="1"/>
          <p:nvPr/>
        </p:nvSpPr>
        <p:spPr>
          <a:xfrm>
            <a:off x="1417320" y="4343399"/>
            <a:ext cx="3108960" cy="694944"/>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Darron Li</a:t>
            </a:r>
          </a:p>
          <a:p>
            <a:pPr algn="l">
              <a:spcAft>
                <a:spcPts val="600"/>
              </a:spcAft>
            </a:pPr>
            <a:r>
              <a:rPr sz="1200" b="0" i="0">
                <a:solidFill>
                  <a:srgbClr val="5B6B7A"/>
                </a:solidFill>
                <a:latin typeface="Calibri"/>
              </a:rPr>
              <a:t>Documentation and extensibility plan</a:t>
            </a:r>
          </a:p>
        </p:txBody>
      </p:sp>
      <p:sp>
        <p:nvSpPr>
          <p:cNvPr id="23" name="TextBox 22"/>
          <p:cNvSpPr txBox="1"/>
          <p:nvPr/>
        </p:nvSpPr>
        <p:spPr>
          <a:xfrm>
            <a:off x="4663440" y="4343399"/>
            <a:ext cx="5486400" cy="694944"/>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Doc structure, tooling, conventions, extension steps</a:t>
            </a:r>
          </a:p>
        </p:txBody>
      </p:sp>
      <p:sp>
        <p:nvSpPr>
          <p:cNvPr id="24" name="TextBox 23"/>
          <p:cNvSpPr txBox="1"/>
          <p:nvPr/>
        </p:nvSpPr>
        <p:spPr>
          <a:xfrm>
            <a:off x="10149840" y="4343399"/>
            <a:ext cx="1371600" cy="694944"/>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#33</a:t>
            </a:r>
          </a:p>
        </p:txBody>
      </p:sp>
      <p:sp>
        <p:nvSpPr>
          <p:cNvPr id="25" name="Rounded Rectangle 24"/>
          <p:cNvSpPr/>
          <p:nvPr/>
        </p:nvSpPr>
        <p:spPr>
          <a:xfrm>
            <a:off x="548640" y="5257800"/>
            <a:ext cx="11109960" cy="100584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321808"/>
            <a:ext cx="2011680" cy="877824"/>
          </a:xfrm>
          <a:prstGeom prst="rect">
            <a:avLst/>
          </a:prstGeom>
          <a:noFill/>
        </p:spPr>
        <p:txBody>
          <a:bodyPr wrap="square" anchor="ctr" lIns="0" rIns="0" tIns="0" bIns="0">
            <a:spAutoFit/>
          </a:bodyPr>
          <a:lstStyle/>
          <a:p>
            <a:pPr algn="l">
              <a:spcAft>
                <a:spcPts val="600"/>
              </a:spcAft>
            </a:pPr>
            <a:r>
              <a:rPr sz="4000" b="1" i="0">
                <a:solidFill>
                  <a:srgbClr val="F2A541"/>
                </a:solidFill>
                <a:latin typeface="Cambria"/>
              </a:rPr>
              <a:t>80%+</a:t>
            </a:r>
          </a:p>
        </p:txBody>
      </p:sp>
      <p:sp>
        <p:nvSpPr>
          <p:cNvPr id="27" name="TextBox 26"/>
          <p:cNvSpPr txBox="1"/>
          <p:nvPr/>
        </p:nvSpPr>
        <p:spPr>
          <a:xfrm>
            <a:off x="2743200" y="5321808"/>
            <a:ext cx="8732520" cy="877824"/>
          </a:xfrm>
          <a:prstGeom prst="rect">
            <a:avLst/>
          </a:prstGeom>
          <a:noFill/>
        </p:spPr>
        <p:txBody>
          <a:bodyPr wrap="square" anchor="ctr" lIns="0" rIns="0" tIns="0" bIns="0">
            <a:spAutoFit/>
          </a:bodyPr>
          <a:lstStyle/>
          <a:p>
            <a:pPr algn="l">
              <a:spcAft>
                <a:spcPts val="200"/>
              </a:spcAft>
            </a:pPr>
            <a:r>
              <a:rPr sz="1600" b="1" i="0">
                <a:solidFill>
                  <a:srgbClr val="FFFFFF"/>
                </a:solidFill>
                <a:latin typeface="Calibri"/>
              </a:rPr>
              <a:t>Every operation in the agreed scope works end to end from Python</a:t>
            </a:r>
          </a:p>
          <a:p>
            <a:pPr algn="l">
              <a:spcAft>
                <a:spcPts val="600"/>
              </a:spcAft>
            </a:pPr>
            <a:r>
              <a:rPr sz="1300" b="0" i="0">
                <a:solidFill>
                  <a:srgbClr val="C9D3DE"/>
                </a:solidFill>
                <a:latin typeface="Calibri"/>
              </a:rPr>
              <a:t>Connect, three kinds of publishing, four kinds of subscriptions, history, discovery, and rate helpers. Left for later are hardening, packaging, and the move to 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What We Built in Go and Python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Lucas Phillips</a:t>
            </a:r>
          </a:p>
        </p:txBody>
      </p:sp>
      <p:sp>
        <p:nvSpPr>
          <p:cNvPr id="5" name="TextBox 4"/>
          <p:cNvSpPr txBox="1"/>
          <p:nvPr/>
        </p:nvSpPr>
        <p:spPr>
          <a:xfrm>
            <a:off x="548640" y="1554480"/>
            <a:ext cx="5486400" cy="365760"/>
          </a:xfrm>
          <a:prstGeom prst="rect">
            <a:avLst/>
          </a:prstGeom>
          <a:noFill/>
        </p:spPr>
        <p:txBody>
          <a:bodyPr wrap="square" anchor="t" lIns="0" rIns="0" tIns="0" bIns="0">
            <a:spAutoFit/>
          </a:bodyPr>
          <a:lstStyle/>
          <a:p>
            <a:pPr algn="l">
              <a:spcAft>
                <a:spcPts val="600"/>
              </a:spcAft>
            </a:pPr>
            <a:r>
              <a:rPr sz="1800" b="1" i="0">
                <a:solidFill>
                  <a:srgbClr val="1B2A41"/>
                </a:solidFill>
                <a:latin typeface="Cambria"/>
              </a:rPr>
              <a:t>Go code</a:t>
            </a:r>
          </a:p>
        </p:txBody>
      </p:sp>
      <p:sp>
        <p:nvSpPr>
          <p:cNvPr id="6" name="Rounded Rectangle 5"/>
          <p:cNvSpPr/>
          <p:nvPr/>
        </p:nvSpPr>
        <p:spPr>
          <a:xfrm>
            <a:off x="548640" y="1965960"/>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39112"/>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Go facade</a:t>
            </a:r>
          </a:p>
        </p:txBody>
      </p:sp>
      <p:sp>
        <p:nvSpPr>
          <p:cNvPr id="8" name="TextBox 7"/>
          <p:cNvSpPr txBox="1"/>
          <p:nvPr/>
        </p:nvSpPr>
        <p:spPr>
          <a:xfrm>
            <a:off x="2331720" y="2039112"/>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Only code that calls SEL's client. One plain call per operation, 16 entry type table, buffers, panics become errors</a:t>
            </a:r>
          </a:p>
        </p:txBody>
      </p:sp>
      <p:sp>
        <p:nvSpPr>
          <p:cNvPr id="9" name="TextBox 8"/>
          <p:cNvSpPr txBox="1"/>
          <p:nvPr/>
        </p:nvSpPr>
        <p:spPr>
          <a:xfrm>
            <a:off x="5166360" y="2039112"/>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964 lines</a:t>
            </a:r>
          </a:p>
        </p:txBody>
      </p:sp>
      <p:sp>
        <p:nvSpPr>
          <p:cNvPr id="10" name="Rounded Rectangle 9"/>
          <p:cNvSpPr/>
          <p:nvPr/>
        </p:nvSpPr>
        <p:spPr>
          <a:xfrm>
            <a:off x="548640" y="3044952"/>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18104"/>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C interface</a:t>
            </a:r>
          </a:p>
        </p:txBody>
      </p:sp>
      <p:sp>
        <p:nvSpPr>
          <p:cNvPr id="12" name="TextBox 11"/>
          <p:cNvSpPr txBox="1"/>
          <p:nvPr/>
        </p:nvSpPr>
        <p:spPr>
          <a:xfrm>
            <a:off x="2331720" y="3118104"/>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23 C functions so ctypes and cffi can load it</a:t>
            </a:r>
          </a:p>
        </p:txBody>
      </p:sp>
      <p:sp>
        <p:nvSpPr>
          <p:cNvPr id="13" name="TextBox 12"/>
          <p:cNvSpPr txBox="1"/>
          <p:nvPr/>
        </p:nvSpPr>
        <p:spPr>
          <a:xfrm>
            <a:off x="5166360" y="3118104"/>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352 lines</a:t>
            </a:r>
          </a:p>
        </p:txBody>
      </p:sp>
      <p:sp>
        <p:nvSpPr>
          <p:cNvPr id="14" name="Rounded Rectangle 13"/>
          <p:cNvSpPr/>
          <p:nvPr/>
        </p:nvSpPr>
        <p:spPr>
          <a:xfrm>
            <a:off x="548640" y="4123944"/>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197096"/>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gRPC bridge</a:t>
            </a:r>
          </a:p>
        </p:txBody>
      </p:sp>
      <p:sp>
        <p:nvSpPr>
          <p:cNvPr id="16" name="TextBox 15"/>
          <p:cNvSpPr txBox="1"/>
          <p:nvPr/>
        </p:nvSpPr>
        <p:spPr>
          <a:xfrm>
            <a:off x="2331720" y="4197096"/>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Standalone Go program with 21 calls on localhost. Stubs generated from one .proto</a:t>
            </a:r>
          </a:p>
        </p:txBody>
      </p:sp>
      <p:sp>
        <p:nvSpPr>
          <p:cNvPr id="17" name="TextBox 16"/>
          <p:cNvSpPr txBox="1"/>
          <p:nvPr/>
        </p:nvSpPr>
        <p:spPr>
          <a:xfrm>
            <a:off x="5166360" y="4197096"/>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496 lines</a:t>
            </a:r>
          </a:p>
        </p:txBody>
      </p:sp>
      <p:sp>
        <p:nvSpPr>
          <p:cNvPr id="18" name="Rounded Rectangle 17"/>
          <p:cNvSpPr/>
          <p:nvPr/>
        </p:nvSpPr>
        <p:spPr>
          <a:xfrm>
            <a:off x="548640" y="5202936"/>
            <a:ext cx="5669280" cy="969264"/>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276088"/>
            <a:ext cx="1600200" cy="822960"/>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Fake Signal Hub</a:t>
            </a:r>
          </a:p>
        </p:txBody>
      </p:sp>
      <p:sp>
        <p:nvSpPr>
          <p:cNvPr id="20" name="TextBox 19"/>
          <p:cNvSpPr txBox="1"/>
          <p:nvPr/>
        </p:nvSpPr>
        <p:spPr>
          <a:xfrm>
            <a:off x="2331720" y="5276088"/>
            <a:ext cx="2834640" cy="822960"/>
          </a:xfrm>
          <a:prstGeom prst="rect">
            <a:avLst/>
          </a:prstGeom>
          <a:noFill/>
        </p:spPr>
        <p:txBody>
          <a:bodyPr wrap="square" anchor="ctr" lIns="0" rIns="0" tIns="0" bIns="0">
            <a:spAutoFit/>
          </a:bodyPr>
          <a:lstStyle/>
          <a:p>
            <a:pPr algn="l">
              <a:spcAft>
                <a:spcPts val="600"/>
              </a:spcAft>
            </a:pPr>
            <a:r>
              <a:rPr sz="1200" b="0" i="0">
                <a:solidFill>
                  <a:srgbClr val="1F2933"/>
                </a:solidFill>
                <a:latin typeface="Calibri"/>
              </a:rPr>
              <a:t>Hub, signal directory, and message bus in one process, with fault hooks for testing</a:t>
            </a:r>
          </a:p>
        </p:txBody>
      </p:sp>
      <p:sp>
        <p:nvSpPr>
          <p:cNvPr id="21" name="TextBox 20"/>
          <p:cNvSpPr txBox="1"/>
          <p:nvPr/>
        </p:nvSpPr>
        <p:spPr>
          <a:xfrm>
            <a:off x="5166360" y="5276088"/>
            <a:ext cx="914400" cy="822960"/>
          </a:xfrm>
          <a:prstGeom prst="rect">
            <a:avLst/>
          </a:prstGeom>
          <a:noFill/>
        </p:spPr>
        <p:txBody>
          <a:bodyPr wrap="square" anchor="ctr" lIns="0" rIns="0" tIns="0" bIns="0">
            <a:spAutoFit/>
          </a:bodyPr>
          <a:lstStyle/>
          <a:p>
            <a:pPr algn="r">
              <a:spcAft>
                <a:spcPts val="600"/>
              </a:spcAft>
            </a:pPr>
            <a:r>
              <a:rPr sz="1200" b="1" i="0">
                <a:solidFill>
                  <a:srgbClr val="324A5F"/>
                </a:solidFill>
                <a:latin typeface="Calibri"/>
              </a:rPr>
              <a:t>test tool</a:t>
            </a:r>
          </a:p>
        </p:txBody>
      </p:sp>
      <p:sp>
        <p:nvSpPr>
          <p:cNvPr id="22" name="TextBox 21"/>
          <p:cNvSpPr txBox="1"/>
          <p:nvPr/>
        </p:nvSpPr>
        <p:spPr>
          <a:xfrm>
            <a:off x="6492240" y="1554480"/>
            <a:ext cx="5120640" cy="365760"/>
          </a:xfrm>
          <a:prstGeom prst="rect">
            <a:avLst/>
          </a:prstGeom>
          <a:noFill/>
        </p:spPr>
        <p:txBody>
          <a:bodyPr wrap="square" anchor="t" lIns="0" rIns="0" tIns="0" bIns="0">
            <a:spAutoFit/>
          </a:bodyPr>
          <a:lstStyle/>
          <a:p>
            <a:pPr algn="l">
              <a:spcAft>
                <a:spcPts val="600"/>
              </a:spcAft>
            </a:pPr>
            <a:r>
              <a:rPr sz="1800" b="1" i="0">
                <a:solidFill>
                  <a:srgbClr val="1B2A41"/>
                </a:solidFill>
                <a:latin typeface="Cambria"/>
              </a:rPr>
              <a:t>Python code</a:t>
            </a:r>
          </a:p>
        </p:txBody>
      </p:sp>
      <p:sp>
        <p:nvSpPr>
          <p:cNvPr id="23" name="Rounded Rectangle 22"/>
          <p:cNvSpPr/>
          <p:nvPr/>
        </p:nvSpPr>
        <p:spPr>
          <a:xfrm>
            <a:off x="6492240" y="1965960"/>
            <a:ext cx="516636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2103120"/>
            <a:ext cx="4800600" cy="17373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Python API  |  710 lines</a:t>
            </a:r>
          </a:p>
          <a:p>
            <a:pPr algn="l" marL="201168" indent="-182880">
              <a:spcAft>
                <a:spcPts val="400"/>
              </a:spcAft>
              <a:buFont typeface="Arial"/>
              <a:buChar char="•"/>
            </a:pPr>
            <a:r>
              <a:rPr sz="1300" b="0" i="0">
                <a:solidFill>
                  <a:srgbClr val="1F2933"/>
                </a:solidFill>
                <a:latin typeface="Calibri"/>
              </a:rPr>
              <a:t>connect, signals, publishers, subscriptions, history, discovery, rate helpers</a:t>
            </a:r>
          </a:p>
          <a:p>
            <a:pPr algn="l" marL="201168" indent="-182880">
              <a:spcAft>
                <a:spcPts val="400"/>
              </a:spcAft>
              <a:buFont typeface="Arial"/>
              <a:buChar char="•"/>
            </a:pPr>
            <a:r>
              <a:rPr sz="1300" b="0" i="0">
                <a:solidFill>
                  <a:srgbClr val="1F2933"/>
                </a:solidFill>
                <a:latin typeface="Calibri"/>
              </a:rPr>
              <a:t>numpy in and out, Python exceptions for every error</a:t>
            </a:r>
          </a:p>
        </p:txBody>
      </p:sp>
      <p:sp>
        <p:nvSpPr>
          <p:cNvPr id="25" name="Rounded Rectangle 24"/>
          <p:cNvSpPr/>
          <p:nvPr/>
        </p:nvSpPr>
        <p:spPr>
          <a:xfrm>
            <a:off x="6492240" y="4114800"/>
            <a:ext cx="5166360" cy="21488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4251960"/>
            <a:ext cx="4800600" cy="18745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Three transports and the tests</a:t>
            </a:r>
          </a:p>
          <a:p>
            <a:pPr algn="l" marL="201168" indent="-182880">
              <a:spcAft>
                <a:spcPts val="400"/>
              </a:spcAft>
              <a:buFont typeface="Arial"/>
              <a:buChar char="•"/>
            </a:pPr>
            <a:r>
              <a:rPr sz="1300" b="0" i="0">
                <a:solidFill>
                  <a:srgbClr val="1F2933"/>
                </a:solidFill>
                <a:latin typeface="Calibri"/>
              </a:rPr>
              <a:t>ctypes 265 lines, cffi 438 lines, bridge 225 lines</a:t>
            </a:r>
          </a:p>
          <a:p>
            <a:pPr algn="l" marL="201168" indent="-182880">
              <a:spcAft>
                <a:spcPts val="400"/>
              </a:spcAft>
              <a:buFont typeface="Arial"/>
              <a:buChar char="•"/>
            </a:pPr>
            <a:r>
              <a:rPr sz="1300" b="0" i="0">
                <a:solidFill>
                  <a:srgbClr val="1F2933"/>
                </a:solidFill>
                <a:latin typeface="Calibri"/>
              </a:rPr>
              <a:t>All three sit behind the same API so they could be compared fairly</a:t>
            </a:r>
          </a:p>
          <a:p>
            <a:pPr algn="l" marL="201168" indent="-182880">
              <a:spcAft>
                <a:spcPts val="400"/>
              </a:spcAft>
              <a:buFont typeface="Arial"/>
              <a:buChar char="•"/>
            </a:pPr>
            <a:r>
              <a:rPr sz="1300" b="0" i="0">
                <a:solidFill>
                  <a:srgbClr val="1F2933"/>
                </a:solidFill>
                <a:latin typeface="Calibri"/>
              </a:rPr>
              <a:t>2,155 tests run on every transport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Demo and Validation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Quickstart script against the fake Signal Hub, then the full test run</a:t>
            </a:r>
          </a:p>
        </p:txBody>
      </p:sp>
      <p:pic>
        <p:nvPicPr>
          <p:cNvPr id="5" name="Picture 4" descr="term_quickstart.png"/>
          <p:cNvPicPr>
            <a:picLocks noChangeAspect="1"/>
          </p:cNvPicPr>
          <p:nvPr/>
        </p:nvPicPr>
        <p:blipFill>
          <a:blip r:embed="rId2"/>
          <a:stretch>
            <a:fillRect/>
          </a:stretch>
        </p:blipFill>
        <p:spPr>
          <a:xfrm>
            <a:off x="548640" y="1554480"/>
            <a:ext cx="7315200" cy="1828800"/>
          </a:xfrm>
          <a:prstGeom prst="rect">
            <a:avLst/>
          </a:prstGeom>
        </p:spPr>
      </p:pic>
      <p:pic>
        <p:nvPicPr>
          <p:cNvPr id="6" name="Picture 5" descr="term_tests.png"/>
          <p:cNvPicPr>
            <a:picLocks noChangeAspect="1"/>
          </p:cNvPicPr>
          <p:nvPr/>
        </p:nvPicPr>
        <p:blipFill>
          <a:blip r:embed="rId3"/>
          <a:stretch>
            <a:fillRect/>
          </a:stretch>
        </p:blipFill>
        <p:spPr>
          <a:xfrm>
            <a:off x="551977" y="3611880"/>
            <a:ext cx="4931084" cy="1783080"/>
          </a:xfrm>
          <a:prstGeom prst="rect">
            <a:avLst/>
          </a:prstGeom>
        </p:spPr>
      </p:pic>
      <p:sp>
        <p:nvSpPr>
          <p:cNvPr id="7" name="TextBox 6"/>
          <p:cNvSpPr txBox="1"/>
          <p:nvPr/>
        </p:nvSpPr>
        <p:spPr>
          <a:xfrm>
            <a:off x="5669280" y="3611880"/>
            <a:ext cx="2194560" cy="1783080"/>
          </a:xfrm>
          <a:prstGeom prst="rect">
            <a:avLst/>
          </a:prstGeom>
          <a:noFill/>
        </p:spPr>
        <p:txBody>
          <a:bodyPr wrap="square" anchor="ctr" lIns="0" rIns="0" tIns="0" bIns="0">
            <a:spAutoFit/>
          </a:bodyPr>
          <a:lstStyle/>
          <a:p>
            <a:pPr algn="l">
              <a:spcAft>
                <a:spcPts val="600"/>
              </a:spcAft>
            </a:pPr>
            <a:r>
              <a:rPr sz="1200" b="0" i="0">
                <a:solidFill>
                  <a:srgbClr val="5B6B7A"/>
                </a:solidFill>
                <a:latin typeface="Calibri"/>
              </a:rPr>
              <a:t>An engineer's script publishes, fetches history, reads an aligned view, and gets a normal Python exception for bad input.</a:t>
            </a:r>
          </a:p>
        </p:txBody>
      </p:sp>
      <p:sp>
        <p:nvSpPr>
          <p:cNvPr id="8" name="Rounded Rectangle 7"/>
          <p:cNvSpPr/>
          <p:nvPr/>
        </p:nvSpPr>
        <p:spPr>
          <a:xfrm>
            <a:off x="8183879" y="1554480"/>
            <a:ext cx="3474720" cy="117043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600200"/>
            <a:ext cx="1554480" cy="1078992"/>
          </a:xfrm>
          <a:prstGeom prst="rect">
            <a:avLst/>
          </a:prstGeom>
          <a:noFill/>
        </p:spPr>
        <p:txBody>
          <a:bodyPr wrap="square" anchor="ctr" lIns="0" rIns="0" tIns="0" bIns="0">
            <a:spAutoFit/>
          </a:bodyPr>
          <a:lstStyle/>
          <a:p>
            <a:pPr algn="l">
              <a:spcAft>
                <a:spcPts val="600"/>
              </a:spcAft>
            </a:pPr>
            <a:r>
              <a:rPr sz="3000" b="1" i="0">
                <a:solidFill>
                  <a:srgbClr val="1B2A41"/>
                </a:solidFill>
                <a:latin typeface="Cambria"/>
              </a:rPr>
              <a:t>2,155</a:t>
            </a:r>
          </a:p>
        </p:txBody>
      </p:sp>
      <p:sp>
        <p:nvSpPr>
          <p:cNvPr id="10" name="TextBox 9"/>
          <p:cNvSpPr txBox="1"/>
          <p:nvPr/>
        </p:nvSpPr>
        <p:spPr>
          <a:xfrm>
            <a:off x="9875520" y="1600200"/>
            <a:ext cx="1691640" cy="1078992"/>
          </a:xfrm>
          <a:prstGeom prst="rect">
            <a:avLst/>
          </a:prstGeom>
          <a:noFill/>
        </p:spPr>
        <p:txBody>
          <a:bodyPr wrap="square" anchor="ctr" lIns="0" rIns="0" tIns="0" bIns="0">
            <a:spAutoFit/>
          </a:bodyPr>
          <a:lstStyle/>
          <a:p>
            <a:pPr algn="l">
              <a:spcAft>
                <a:spcPts val="600"/>
              </a:spcAft>
            </a:pPr>
            <a:r>
              <a:rPr sz="1300" b="0" i="0">
                <a:solidFill>
                  <a:srgbClr val="1F2933"/>
                </a:solidFill>
                <a:latin typeface="Calibri"/>
              </a:rPr>
              <a:t>tests passing on every transport</a:t>
            </a:r>
          </a:p>
        </p:txBody>
      </p:sp>
      <p:sp>
        <p:nvSpPr>
          <p:cNvPr id="11" name="Rounded Rectangle 10"/>
          <p:cNvSpPr/>
          <p:nvPr/>
        </p:nvSpPr>
        <p:spPr>
          <a:xfrm>
            <a:off x="8183879" y="2852928"/>
            <a:ext cx="3474720" cy="117043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898648"/>
            <a:ext cx="1554480" cy="1078992"/>
          </a:xfrm>
          <a:prstGeom prst="rect">
            <a:avLst/>
          </a:prstGeom>
          <a:noFill/>
        </p:spPr>
        <p:txBody>
          <a:bodyPr wrap="square" anchor="ctr" lIns="0" rIns="0" tIns="0" bIns="0">
            <a:spAutoFit/>
          </a:bodyPr>
          <a:lstStyle/>
          <a:p>
            <a:pPr algn="l">
              <a:spcAft>
                <a:spcPts val="600"/>
              </a:spcAft>
            </a:pPr>
            <a:r>
              <a:rPr sz="3000" b="1" i="0">
                <a:solidFill>
                  <a:srgbClr val="1B2A41"/>
                </a:solidFill>
                <a:latin typeface="Cambria"/>
              </a:rPr>
              <a:t>17 M</a:t>
            </a:r>
          </a:p>
        </p:txBody>
      </p:sp>
      <p:sp>
        <p:nvSpPr>
          <p:cNvPr id="13" name="TextBox 12"/>
          <p:cNvSpPr txBox="1"/>
          <p:nvPr/>
        </p:nvSpPr>
        <p:spPr>
          <a:xfrm>
            <a:off x="9875520" y="2898648"/>
            <a:ext cx="1691640" cy="1078992"/>
          </a:xfrm>
          <a:prstGeom prst="rect">
            <a:avLst/>
          </a:prstGeom>
          <a:noFill/>
        </p:spPr>
        <p:txBody>
          <a:bodyPr wrap="square" anchor="ctr" lIns="0" rIns="0" tIns="0" bIns="0">
            <a:spAutoFit/>
          </a:bodyPr>
          <a:lstStyle/>
          <a:p>
            <a:pPr algn="l">
              <a:spcAft>
                <a:spcPts val="600"/>
              </a:spcAft>
            </a:pPr>
            <a:r>
              <a:rPr sz="1300" b="0" i="0">
                <a:solidFill>
                  <a:srgbClr val="1F2933"/>
                </a:solidFill>
                <a:latin typeface="Calibri"/>
              </a:rPr>
              <a:t>samples per second over the bridge</a:t>
            </a:r>
          </a:p>
        </p:txBody>
      </p:sp>
      <p:sp>
        <p:nvSpPr>
          <p:cNvPr id="14" name="Rounded Rectangle 13"/>
          <p:cNvSpPr/>
          <p:nvPr/>
        </p:nvSpPr>
        <p:spPr>
          <a:xfrm>
            <a:off x="8183879" y="4151376"/>
            <a:ext cx="3474720" cy="117043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4197096"/>
            <a:ext cx="1554480" cy="1078992"/>
          </a:xfrm>
          <a:prstGeom prst="rect">
            <a:avLst/>
          </a:prstGeom>
          <a:noFill/>
        </p:spPr>
        <p:txBody>
          <a:bodyPr wrap="square" anchor="ctr" lIns="0" rIns="0" tIns="0" bIns="0">
            <a:spAutoFit/>
          </a:bodyPr>
          <a:lstStyle/>
          <a:p>
            <a:pPr algn="l">
              <a:spcAft>
                <a:spcPts val="600"/>
              </a:spcAft>
            </a:pPr>
            <a:r>
              <a:rPr sz="3000" b="1" i="0">
                <a:solidFill>
                  <a:srgbClr val="1B2A41"/>
                </a:solidFill>
                <a:latin typeface="Cambria"/>
              </a:rPr>
              <a:t>3</a:t>
            </a:r>
          </a:p>
        </p:txBody>
      </p:sp>
      <p:sp>
        <p:nvSpPr>
          <p:cNvPr id="16" name="TextBox 15"/>
          <p:cNvSpPr txBox="1"/>
          <p:nvPr/>
        </p:nvSpPr>
        <p:spPr>
          <a:xfrm>
            <a:off x="9875520" y="4197096"/>
            <a:ext cx="1691640" cy="1078992"/>
          </a:xfrm>
          <a:prstGeom prst="rect">
            <a:avLst/>
          </a:prstGeom>
          <a:noFill/>
        </p:spPr>
        <p:txBody>
          <a:bodyPr wrap="square" anchor="ctr" lIns="0" rIns="0" tIns="0" bIns="0">
            <a:spAutoFit/>
          </a:bodyPr>
          <a:lstStyle/>
          <a:p>
            <a:pPr algn="l">
              <a:spcAft>
                <a:spcPts val="600"/>
              </a:spcAft>
            </a:pPr>
            <a:r>
              <a:rPr sz="1300" b="0" i="0">
                <a:solidFill>
                  <a:srgbClr val="1F2933"/>
                </a:solidFill>
                <a:latin typeface="Calibri"/>
              </a:rPr>
              <a:t>transports built and compared behind one API</a:t>
            </a:r>
          </a:p>
        </p:txBody>
      </p:sp>
      <p:sp>
        <p:nvSpPr>
          <p:cNvPr id="17" name="Rounded Rectangle 16"/>
          <p:cNvSpPr/>
          <p:nvPr/>
        </p:nvSpPr>
        <p:spPr>
          <a:xfrm>
            <a:off x="548640" y="5577840"/>
            <a:ext cx="11109960" cy="73152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96128"/>
            <a:ext cx="10698480" cy="694944"/>
          </a:xfrm>
          <a:prstGeom prst="rect">
            <a:avLst/>
          </a:prstGeom>
          <a:noFill/>
        </p:spPr>
        <p:txBody>
          <a:bodyPr wrap="square" anchor="ctr" lIns="0" rIns="0" tIns="0" bIns="0">
            <a:spAutoFit/>
          </a:bodyPr>
          <a:lstStyle/>
          <a:p>
            <a:pPr algn="l">
              <a:spcAft>
                <a:spcPts val="600"/>
              </a:spcAft>
            </a:pPr>
            <a:r>
              <a:rPr sz="1500" b="1" i="0">
                <a:solidFill>
                  <a:srgbClr val="F2A541"/>
                </a:solidFill>
                <a:latin typeface="Calibri"/>
              </a:rPr>
              <a:t>Client review  </a:t>
            </a:r>
            <a:r>
              <a:rPr sz="1400" b="0" i="0">
                <a:solidFill>
                  <a:srgbClr val="FFFFFF"/>
                </a:solidFill>
                <a:latin typeface="Calibri"/>
              </a:rPr>
              <a:t>Joe reviewed the test run and said it meets his preferences, and he agreed that moving to the C# client is the correct move.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4</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Kanban Overview and Team Contributions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Sprint 4 and 5 issues on the project board</a:t>
            </a:r>
          </a:p>
        </p:txBody>
      </p:sp>
      <p:pic>
        <p:nvPicPr>
          <p:cNvPr id="5" name="Picture 4" descr="kanban_crop.png"/>
          <p:cNvPicPr>
            <a:picLocks noChangeAspect="1"/>
          </p:cNvPicPr>
          <p:nvPr/>
        </p:nvPicPr>
        <p:blipFill>
          <a:blip r:embed="rId2"/>
          <a:stretch>
            <a:fillRect/>
          </a:stretch>
        </p:blipFill>
        <p:spPr>
          <a:xfrm>
            <a:off x="557648" y="1554480"/>
            <a:ext cx="7297182" cy="4114800"/>
          </a:xfrm>
          <a:prstGeom prst="rect">
            <a:avLst/>
          </a:prstGeom>
          <a:ln w="12700">
            <a:solidFill>
              <a:srgbClr val="C9D3DE"/>
            </a:solidFill>
          </a:ln>
        </p:spPr>
      </p:pic>
      <p:sp>
        <p:nvSpPr>
          <p:cNvPr id="6" name="TextBox 5"/>
          <p:cNvSpPr txBox="1"/>
          <p:nvPr/>
        </p:nvSpPr>
        <p:spPr>
          <a:xfrm>
            <a:off x="548640" y="5760720"/>
            <a:ext cx="7315200" cy="54864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All 11 Sprint 4 issues are closed and #36 moved to Sprint 5. Each issue has an owner, a priority, a story point estimate and label, and a comment splitting the points.</a:t>
            </a:r>
          </a:p>
        </p:txBody>
      </p:sp>
      <p:sp>
        <p:nvSpPr>
          <p:cNvPr id="7" name="Rounded Rectangle 6"/>
          <p:cNvSpPr/>
          <p:nvPr/>
        </p:nvSpPr>
        <p:spPr>
          <a:xfrm>
            <a:off x="8092440" y="155448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160934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Genevieve Kochel  </a:t>
            </a:r>
            <a:r>
              <a:rPr sz="1100" b="1" i="0">
                <a:solidFill>
                  <a:srgbClr val="324A5F"/>
                </a:solidFill>
                <a:latin typeface="Calibri"/>
              </a:rPr>
              <a:t>#30 #31 #32 #34</a:t>
            </a:r>
          </a:p>
          <a:p>
            <a:pPr algn="l">
              <a:spcAft>
                <a:spcPts val="600"/>
              </a:spcAft>
            </a:pPr>
            <a:r>
              <a:rPr sz="1150" b="0" i="0">
                <a:solidFill>
                  <a:srgbClr val="1F2933"/>
                </a:solidFill>
                <a:latin typeface="Calibri"/>
              </a:rPr>
              <a:t>Source access, Go client extraction, Python.NET research, meeting coordination, testing plan</a:t>
            </a:r>
          </a:p>
        </p:txBody>
      </p:sp>
      <p:sp>
        <p:nvSpPr>
          <p:cNvPr id="9" name="Rounded Rectangle 8"/>
          <p:cNvSpPr/>
          <p:nvPr/>
        </p:nvSpPr>
        <p:spPr>
          <a:xfrm>
            <a:off x="8092440" y="265176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270662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Caleb Hansen  </a:t>
            </a:r>
            <a:r>
              <a:rPr sz="1100" b="1" i="0">
                <a:solidFill>
                  <a:srgbClr val="324A5F"/>
                </a:solidFill>
                <a:latin typeface="Calibri"/>
              </a:rPr>
              <a:t>#27 #28 #29</a:t>
            </a:r>
          </a:p>
          <a:p>
            <a:pPr algn="l">
              <a:spcAft>
                <a:spcPts val="600"/>
              </a:spcAft>
            </a:pPr>
            <a:r>
              <a:rPr sz="1150" b="0" i="0">
                <a:solidFill>
                  <a:srgbClr val="1F2933"/>
                </a:solidFill>
                <a:latin typeface="Calibri"/>
              </a:rPr>
              <a:t>Private repo, Claude onboarding skills, CGo pitfalls, compatibility plan</a:t>
            </a:r>
          </a:p>
        </p:txBody>
      </p:sp>
      <p:sp>
        <p:nvSpPr>
          <p:cNvPr id="11" name="Rounded Rectangle 10"/>
          <p:cNvSpPr/>
          <p:nvPr/>
        </p:nvSpPr>
        <p:spPr>
          <a:xfrm>
            <a:off x="8092440" y="3749039"/>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3803903"/>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Lucas Phillips  </a:t>
            </a:r>
            <a:r>
              <a:rPr sz="1100" b="1" i="0">
                <a:solidFill>
                  <a:srgbClr val="324A5F"/>
                </a:solidFill>
                <a:latin typeface="Calibri"/>
              </a:rPr>
              <a:t>#25 #26 #32 #35</a:t>
            </a:r>
          </a:p>
          <a:p>
            <a:pPr algn="l">
              <a:spcAft>
                <a:spcPts val="600"/>
              </a:spcAft>
            </a:pPr>
            <a:r>
              <a:rPr sz="1150" b="0" i="0">
                <a:solidFill>
                  <a:srgbClr val="1F2933"/>
                </a:solidFill>
                <a:latin typeface="Calibri"/>
              </a:rPr>
              <a:t>Bridge prototype, test suite, architecture plan, MoMs, report</a:t>
            </a:r>
          </a:p>
        </p:txBody>
      </p:sp>
      <p:sp>
        <p:nvSpPr>
          <p:cNvPr id="13" name="Rounded Rectangle 12"/>
          <p:cNvSpPr/>
          <p:nvPr/>
        </p:nvSpPr>
        <p:spPr>
          <a:xfrm>
            <a:off x="8092440" y="4846320"/>
            <a:ext cx="3566160" cy="141731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901183"/>
            <a:ext cx="3337560" cy="134416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Darron Li  </a:t>
            </a:r>
            <a:r>
              <a:rPr sz="1100" b="1" i="0">
                <a:solidFill>
                  <a:srgbClr val="324A5F"/>
                </a:solidFill>
                <a:latin typeface="Calibri"/>
              </a:rPr>
              <a:t>#33</a:t>
            </a:r>
          </a:p>
          <a:p>
            <a:pPr algn="l">
              <a:spcAft>
                <a:spcPts val="600"/>
              </a:spcAft>
            </a:pPr>
            <a:r>
              <a:rPr sz="1150" b="0" i="0">
                <a:solidFill>
                  <a:srgbClr val="1F2933"/>
                </a:solidFill>
                <a:latin typeface="Calibri"/>
              </a:rPr>
              <a:t>[PLACEHOLDER, replace with actual contribution] Spearheaded cross-functional alignment on documentation strategy and drove stakeholder synergy across the extensibility roadmap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5</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Evidence of Client Meetings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MoMs are in Sprints/Sprint_4/MoM on GitHub</a:t>
            </a:r>
          </a:p>
        </p:txBody>
      </p:sp>
      <p:sp>
        <p:nvSpPr>
          <p:cNvPr id="5" name="Rounded Rectangle 4"/>
          <p:cNvSpPr/>
          <p:nvPr/>
        </p:nvSpPr>
        <p:spPr>
          <a:xfrm>
            <a:off x="548640" y="164592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14  |  Semester kickoff</a:t>
            </a:r>
          </a:p>
          <a:p>
            <a:pPr algn="l" marL="201168" indent="-182880">
              <a:spcAft>
                <a:spcPts val="400"/>
              </a:spcAft>
              <a:buFont typeface="Arial"/>
              <a:buChar char="•"/>
            </a:pPr>
            <a:r>
              <a:rPr sz="1300" b="0" i="0">
                <a:solidFill>
                  <a:srgbClr val="1F2933"/>
                </a:solidFill>
                <a:latin typeface="Calibri"/>
              </a:rPr>
              <a:t>Goal is to find out if a Python wrapper is worth maintaining</a:t>
            </a:r>
          </a:p>
          <a:p>
            <a:pPr algn="l" marL="201168" indent="-182880">
              <a:spcAft>
                <a:spcPts val="400"/>
              </a:spcAft>
              <a:buFont typeface="Arial"/>
              <a:buChar char="•"/>
            </a:pPr>
            <a:r>
              <a:rPr sz="1300" b="0" i="0">
                <a:solidFill>
                  <a:srgbClr val="1F2933"/>
                </a:solidFill>
                <a:latin typeface="Calibri"/>
              </a:rPr>
              <a:t>No double maintenance, docs are a major deliverable</a:t>
            </a:r>
          </a:p>
          <a:p>
            <a:pPr algn="l" marL="201168" indent="-182880">
              <a:spcAft>
                <a:spcPts val="400"/>
              </a:spcAft>
              <a:buFont typeface="Arial"/>
              <a:buChar char="•"/>
            </a:pPr>
            <a:r>
              <a:rPr sz="1300" b="0" i="0">
                <a:solidFill>
                  <a:srgbClr val="1F2933"/>
                </a:solidFill>
                <a:latin typeface="Calibri"/>
              </a:rPr>
              <a:t>Python 3.12 baseline, pub/sub is the main use case</a:t>
            </a:r>
          </a:p>
          <a:p>
            <a:pPr algn="l" marL="201168" indent="-182880">
              <a:spcAft>
                <a:spcPts val="400"/>
              </a:spcAft>
              <a:buFont typeface="Arial"/>
              <a:buChar char="•"/>
            </a:pPr>
            <a:r>
              <a:rPr sz="1300" b="0" i="0">
                <a:solidFill>
                  <a:srgbClr val="1F2933"/>
                </a:solidFill>
                <a:latin typeface="Calibri"/>
              </a:rPr>
              <a:t>AI tools are fine, SEL code stays off the internet</a:t>
            </a:r>
          </a:p>
        </p:txBody>
      </p:sp>
      <p:sp>
        <p:nvSpPr>
          <p:cNvPr id="7" name="Rounded Rectangle 6"/>
          <p:cNvSpPr/>
          <p:nvPr/>
        </p:nvSpPr>
        <p:spPr>
          <a:xfrm>
            <a:off x="548640" y="402336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16052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28  |  Go wrapping findings</a:t>
            </a:r>
          </a:p>
          <a:p>
            <a:pPr algn="l" marL="201168" indent="-182880">
              <a:spcAft>
                <a:spcPts val="400"/>
              </a:spcAft>
              <a:buFont typeface="Arial"/>
              <a:buChar char="•"/>
            </a:pPr>
            <a:r>
              <a:rPr sz="1300" b="0" i="0">
                <a:solidFill>
                  <a:srgbClr val="1F2933"/>
                </a:solidFill>
                <a:latin typeface="Calibri"/>
              </a:rPr>
              <a:t>CGo pitfalls and the three-transport prototype</a:t>
            </a:r>
          </a:p>
          <a:p>
            <a:pPr algn="l" marL="201168" indent="-182880">
              <a:spcAft>
                <a:spcPts val="400"/>
              </a:spcAft>
              <a:buFont typeface="Arial"/>
              <a:buChar char="•"/>
            </a:pPr>
            <a:r>
              <a:rPr sz="1300" b="0" i="0">
                <a:solidFill>
                  <a:srgbClr val="1F2933"/>
                </a:solidFill>
                <a:latin typeface="Calibri"/>
              </a:rPr>
              <a:t>Joe was very happy with the research</a:t>
            </a:r>
          </a:p>
          <a:p>
            <a:pPr algn="l" marL="201168" indent="-182880">
              <a:spcAft>
                <a:spcPts val="400"/>
              </a:spcAft>
              <a:buFont typeface="Arial"/>
              <a:buChar char="•"/>
            </a:pPr>
            <a:r>
              <a:rPr sz="1300" b="0" i="0">
                <a:solidFill>
                  <a:srgbClr val="1F2933"/>
                </a:solidFill>
                <a:latin typeface="Calibri"/>
              </a:rPr>
              <a:t>Agreed that moving to the C# client is the correct move</a:t>
            </a:r>
          </a:p>
          <a:p>
            <a:pPr algn="l" marL="201168" indent="-182880">
              <a:spcAft>
                <a:spcPts val="400"/>
              </a:spcAft>
              <a:buFont typeface="Arial"/>
              <a:buChar char="•"/>
            </a:pPr>
            <a:r>
              <a:rPr sz="1300" b="0" i="0">
                <a:solidFill>
                  <a:srgbClr val="1F2933"/>
                </a:solidFill>
                <a:latin typeface="Calibri"/>
              </a:rPr>
              <a:t>Go bridge stays as the fallback</a:t>
            </a:r>
          </a:p>
        </p:txBody>
      </p:sp>
      <p:pic>
        <p:nvPicPr>
          <p:cNvPr id="9" name="Picture 8" descr="mom_crop.png"/>
          <p:cNvPicPr>
            <a:picLocks noChangeAspect="1"/>
          </p:cNvPicPr>
          <p:nvPr/>
        </p:nvPicPr>
        <p:blipFill>
          <a:blip r:embed="rId2"/>
          <a:stretch>
            <a:fillRect/>
          </a:stretch>
        </p:blipFill>
        <p:spPr>
          <a:xfrm>
            <a:off x="7133748" y="1554480"/>
            <a:ext cx="3974782" cy="4754880"/>
          </a:xfrm>
          <a:prstGeom prst="rect">
            <a:avLst/>
          </a:prstGeom>
          <a:ln w="12700">
            <a:solidFill>
              <a:srgbClr val="C9D3D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6</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Documentation of Report</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What was added to the repo this sprint</a:t>
            </a:r>
          </a:p>
        </p:txBody>
      </p:sp>
      <p:pic>
        <p:nvPicPr>
          <p:cNvPr id="5" name="Picture 4" descr="report_crop.png"/>
          <p:cNvPicPr>
            <a:picLocks noChangeAspect="1"/>
          </p:cNvPicPr>
          <p:nvPr/>
        </p:nvPicPr>
        <p:blipFill>
          <a:blip r:embed="rId2"/>
          <a:stretch>
            <a:fillRect/>
          </a:stretch>
        </p:blipFill>
        <p:spPr>
          <a:xfrm>
            <a:off x="1258728" y="1554480"/>
            <a:ext cx="3974782" cy="4754880"/>
          </a:xfrm>
          <a:prstGeom prst="rect">
            <a:avLst/>
          </a:prstGeom>
          <a:ln w="12700">
            <a:solidFill>
              <a:srgbClr val="C9D3DE"/>
            </a:solidFill>
          </a:ln>
        </p:spPr>
      </p:pic>
      <p:sp>
        <p:nvSpPr>
          <p:cNvPr id="6" name="Rounded Rectangle 5"/>
          <p:cNvSpPr/>
          <p:nvPr/>
        </p:nvSpPr>
        <p:spPr>
          <a:xfrm>
            <a:off x="6217920" y="1645920"/>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355080" y="180136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1</a:t>
            </a:r>
          </a:p>
        </p:txBody>
      </p:sp>
      <p:sp>
        <p:nvSpPr>
          <p:cNvPr id="8" name="TextBox 7"/>
          <p:cNvSpPr txBox="1"/>
          <p:nvPr/>
        </p:nvSpPr>
        <p:spPr>
          <a:xfrm>
            <a:off x="6995160" y="1700784"/>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Sprint 4 report</a:t>
            </a:r>
          </a:p>
          <a:p>
            <a:pPr algn="l">
              <a:spcAft>
                <a:spcPts val="600"/>
              </a:spcAft>
            </a:pPr>
            <a:r>
              <a:rPr sz="1200" b="0" i="0">
                <a:solidFill>
                  <a:srgbClr val="1F2933"/>
                </a:solidFill>
                <a:latin typeface="Calibri"/>
              </a:rPr>
              <a:t>Sprints/Sprint_4/Sprint_Report.md, following the course template</a:t>
            </a:r>
          </a:p>
        </p:txBody>
      </p:sp>
      <p:sp>
        <p:nvSpPr>
          <p:cNvPr id="9" name="Rounded Rectangle 8"/>
          <p:cNvSpPr/>
          <p:nvPr/>
        </p:nvSpPr>
        <p:spPr>
          <a:xfrm>
            <a:off x="6217920" y="2578608"/>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2734056"/>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2</a:t>
            </a:r>
          </a:p>
        </p:txBody>
      </p:sp>
      <p:sp>
        <p:nvSpPr>
          <p:cNvPr id="11" name="TextBox 10"/>
          <p:cNvSpPr txBox="1"/>
          <p:nvPr/>
        </p:nvSpPr>
        <p:spPr>
          <a:xfrm>
            <a:off x="6995160" y="2633472"/>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Planning documents</a:t>
            </a:r>
          </a:p>
          <a:p>
            <a:pPr algn="l">
              <a:spcAft>
                <a:spcPts val="600"/>
              </a:spcAft>
            </a:pPr>
            <a:r>
              <a:rPr sz="1200" b="0" i="0">
                <a:solidFill>
                  <a:srgbClr val="1F2933"/>
                </a:solidFill>
                <a:latin typeface="Calibri"/>
              </a:rPr>
              <a:t>docs/Sprint4, one per Sprint 4 deliverable plus a prototype overview</a:t>
            </a:r>
          </a:p>
        </p:txBody>
      </p:sp>
      <p:sp>
        <p:nvSpPr>
          <p:cNvPr id="12" name="Rounded Rectangle 11"/>
          <p:cNvSpPr/>
          <p:nvPr/>
        </p:nvSpPr>
        <p:spPr>
          <a:xfrm>
            <a:off x="6217920" y="3511296"/>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3666744"/>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3</a:t>
            </a:r>
          </a:p>
        </p:txBody>
      </p:sp>
      <p:sp>
        <p:nvSpPr>
          <p:cNvPr id="14" name="TextBox 13"/>
          <p:cNvSpPr txBox="1"/>
          <p:nvPr/>
        </p:nvSpPr>
        <p:spPr>
          <a:xfrm>
            <a:off x="6995160" y="3566160"/>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Two MoMs</a:t>
            </a:r>
          </a:p>
          <a:p>
            <a:pPr algn="l">
              <a:spcAft>
                <a:spcPts val="600"/>
              </a:spcAft>
            </a:pPr>
            <a:r>
              <a:rPr sz="1200" b="0" i="0">
                <a:solidFill>
                  <a:srgbClr val="1F2933"/>
                </a:solidFill>
                <a:latin typeface="Calibri"/>
              </a:rPr>
              <a:t>Sprints/Sprint_4/MoM for September 14 and 28</a:t>
            </a:r>
          </a:p>
        </p:txBody>
      </p:sp>
      <p:sp>
        <p:nvSpPr>
          <p:cNvPr id="15" name="Rounded Rectangle 14"/>
          <p:cNvSpPr/>
          <p:nvPr/>
        </p:nvSpPr>
        <p:spPr>
          <a:xfrm>
            <a:off x="6217920" y="4443984"/>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55080" y="4599432"/>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4</a:t>
            </a:r>
          </a:p>
        </p:txBody>
      </p:sp>
      <p:sp>
        <p:nvSpPr>
          <p:cNvPr id="17" name="TextBox 16"/>
          <p:cNvSpPr txBox="1"/>
          <p:nvPr/>
        </p:nvSpPr>
        <p:spPr>
          <a:xfrm>
            <a:off x="6995160" y="4498848"/>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README update</a:t>
            </a:r>
          </a:p>
          <a:p>
            <a:pPr algn="l">
              <a:spcAft>
                <a:spcPts val="600"/>
              </a:spcAft>
            </a:pPr>
            <a:r>
              <a:rPr sz="1200" b="0" i="0">
                <a:solidFill>
                  <a:srgbClr val="1F2933"/>
                </a:solidFill>
                <a:latin typeface="Calibri"/>
              </a:rPr>
              <a:t>Rewritten to the README template with setup, usage, and known problems</a:t>
            </a:r>
          </a:p>
        </p:txBody>
      </p:sp>
      <p:sp>
        <p:nvSpPr>
          <p:cNvPr id="18" name="Rounded Rectangle 17"/>
          <p:cNvSpPr/>
          <p:nvPr/>
        </p:nvSpPr>
        <p:spPr>
          <a:xfrm>
            <a:off x="6217920" y="5376672"/>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55080" y="5532120"/>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5</a:t>
            </a:r>
          </a:p>
        </p:txBody>
      </p:sp>
      <p:sp>
        <p:nvSpPr>
          <p:cNvPr id="20" name="TextBox 19"/>
          <p:cNvSpPr txBox="1"/>
          <p:nvPr/>
        </p:nvSpPr>
        <p:spPr>
          <a:xfrm>
            <a:off x="6995160" y="5431536"/>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Prototype source</a:t>
            </a:r>
          </a:p>
          <a:p>
            <a:pPr algn="l">
              <a:spcAft>
                <a:spcPts val="600"/>
              </a:spcAft>
            </a:pPr>
            <a:r>
              <a:rPr sz="1200" b="0" i="0">
                <a:solidFill>
                  <a:srgbClr val="1F2933"/>
                </a:solidFill>
                <a:latin typeface="Calibri"/>
              </a:rPr>
              <a:t>Kept in SEL's private repo since it is built on the SEL Confidential client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7</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Responsible Use of AI</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Placeholders to be filled in by the team</a:t>
            </a:r>
          </a:p>
        </p:txBody>
      </p:sp>
      <p:sp>
        <p:nvSpPr>
          <p:cNvPr id="5" name="Rounded Rectangle 4"/>
          <p:cNvSpPr/>
          <p:nvPr/>
        </p:nvSpPr>
        <p:spPr>
          <a:xfrm>
            <a:off x="548640" y="1645920"/>
            <a:ext cx="54864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206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AI usage and impact</a:t>
            </a:r>
          </a:p>
          <a:p>
            <a:pPr algn="l" marL="201168" indent="-182880">
              <a:spcAft>
                <a:spcPts val="400"/>
              </a:spcAft>
              <a:buFont typeface="Arial"/>
              <a:buChar char="•"/>
            </a:pPr>
            <a:r>
              <a:rPr sz="1700" b="0" i="0">
                <a:solidFill>
                  <a:srgbClr val="1F2933"/>
                </a:solidFill>
                <a:latin typeface="Calibri"/>
              </a:rPr>
              <a:t>[PLACEHOLDER] Which tools each member used</a:t>
            </a:r>
          </a:p>
          <a:p>
            <a:pPr algn="l" marL="201168" indent="-182880">
              <a:spcAft>
                <a:spcPts val="400"/>
              </a:spcAft>
              <a:buFont typeface="Arial"/>
              <a:buChar char="•"/>
            </a:pPr>
            <a:r>
              <a:rPr sz="1700" b="0" i="0">
                <a:solidFill>
                  <a:srgbClr val="1F2933"/>
                </a:solidFill>
                <a:latin typeface="Calibri"/>
              </a:rPr>
              <a:t>[PLACEHOLDER] What they were used for (code, docs, research, meeting notes)</a:t>
            </a:r>
          </a:p>
          <a:p>
            <a:pPr algn="l" marL="201168" indent="-182880">
              <a:spcAft>
                <a:spcPts val="400"/>
              </a:spcAft>
              <a:buFont typeface="Arial"/>
              <a:buChar char="•"/>
            </a:pPr>
            <a:r>
              <a:rPr sz="1700" b="0" i="0">
                <a:solidFill>
                  <a:srgbClr val="1F2933"/>
                </a:solidFill>
                <a:latin typeface="Calibri"/>
              </a:rPr>
              <a:t>[PLACEHOLDER] What improved as a result</a:t>
            </a:r>
          </a:p>
        </p:txBody>
      </p:sp>
      <p:sp>
        <p:nvSpPr>
          <p:cNvPr id="7" name="Rounded Rectangle 6"/>
          <p:cNvSpPr/>
          <p:nvPr/>
        </p:nvSpPr>
        <p:spPr>
          <a:xfrm>
            <a:off x="6217920" y="1645920"/>
            <a:ext cx="544068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507492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Limitations and accountability</a:t>
            </a:r>
          </a:p>
          <a:p>
            <a:pPr algn="l" marL="201168" indent="-182880">
              <a:spcAft>
                <a:spcPts val="400"/>
              </a:spcAft>
              <a:buFont typeface="Arial"/>
              <a:buChar char="•"/>
            </a:pPr>
            <a:r>
              <a:rPr sz="1700" b="0" i="0">
                <a:solidFill>
                  <a:srgbClr val="1F2933"/>
                </a:solidFill>
                <a:latin typeface="Calibri"/>
              </a:rPr>
              <a:t>[PLACEHOLDER] Errors or limits seen in AI output</a:t>
            </a:r>
          </a:p>
          <a:p>
            <a:pPr algn="l" marL="201168" indent="-182880">
              <a:spcAft>
                <a:spcPts val="400"/>
              </a:spcAft>
              <a:buFont typeface="Arial"/>
              <a:buChar char="•"/>
            </a:pPr>
            <a:r>
              <a:rPr sz="1700" b="0" i="0">
                <a:solidFill>
                  <a:srgbClr val="1F2933"/>
                </a:solidFill>
                <a:latin typeface="Calibri"/>
              </a:rPr>
              <a:t>[PLACEHOLDER] How AI output was checked and corrected</a:t>
            </a:r>
          </a:p>
          <a:p>
            <a:pPr algn="l" marL="201168" indent="-182880">
              <a:spcAft>
                <a:spcPts val="400"/>
              </a:spcAft>
              <a:buFont typeface="Arial"/>
              <a:buChar char="•"/>
            </a:pPr>
            <a:r>
              <a:rPr sz="1700" b="0" i="0">
                <a:solidFill>
                  <a:srgbClr val="1F2933"/>
                </a:solidFill>
                <a:latin typeface="Calibri"/>
              </a:rPr>
              <a:t>[PLACEHOLDER] Confidentiality handling for SEL code</a:t>
            </a:r>
          </a:p>
          <a:p>
            <a:pPr algn="l" marL="201168" indent="-182880">
              <a:spcAft>
                <a:spcPts val="400"/>
              </a:spcAft>
              <a:buFont typeface="Arial"/>
              <a:buChar char="•"/>
            </a:pPr>
            <a:r>
              <a:rPr sz="1700" b="0" i="0">
                <a:solidFill>
                  <a:srgbClr val="1F2933"/>
                </a:solidFill>
                <a:latin typeface="Calibri"/>
              </a:rPr>
              <a:t>All final decisions and deliverables are the team's responsibility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8</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Achievements and Challenges</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Achievements</a:t>
            </a:r>
          </a:p>
          <a:p>
            <a:pPr algn="l" marL="201168" indent="-182880">
              <a:spcAft>
                <a:spcPts val="400"/>
              </a:spcAft>
              <a:buFont typeface="Arial"/>
              <a:buChar char="•"/>
            </a:pPr>
            <a:r>
              <a:rPr sz="1600" b="0" i="0">
                <a:solidFill>
                  <a:srgbClr val="1F2933"/>
                </a:solidFill>
                <a:latin typeface="Calibri"/>
              </a:rPr>
              <a:t>Access to the client code after two sprints of waiting</a:t>
            </a:r>
          </a:p>
          <a:p>
            <a:pPr algn="l" marL="201168" indent="-182880">
              <a:spcAft>
                <a:spcPts val="400"/>
              </a:spcAft>
              <a:buFont typeface="Arial"/>
              <a:buChar char="•"/>
            </a:pPr>
            <a:r>
              <a:rPr sz="1600" b="0" i="0">
                <a:solidFill>
                  <a:srgbClr val="1F2933"/>
                </a:solidFill>
                <a:latin typeface="Calibri"/>
              </a:rPr>
              <a:t>Three working transports behind one Python API</a:t>
            </a:r>
          </a:p>
          <a:p>
            <a:pPr algn="l" marL="201168" indent="-182880">
              <a:spcAft>
                <a:spcPts val="400"/>
              </a:spcAft>
              <a:buFont typeface="Arial"/>
              <a:buChar char="•"/>
            </a:pPr>
            <a:r>
              <a:rPr sz="1600" b="0" i="0">
                <a:solidFill>
                  <a:srgbClr val="1F2933"/>
                </a:solidFill>
                <a:latin typeface="Calibri"/>
              </a:rPr>
              <a:t>2,155 passing tests and a fake Signal Hub we can keep</a:t>
            </a:r>
          </a:p>
          <a:p>
            <a:pPr algn="l" marL="201168" indent="-182880">
              <a:spcAft>
                <a:spcPts val="400"/>
              </a:spcAft>
              <a:buFont typeface="Arial"/>
              <a:buChar char="•"/>
            </a:pPr>
            <a:r>
              <a:rPr sz="1600" b="0" i="0">
                <a:solidFill>
                  <a:srgbClr val="1F2933"/>
                </a:solidFill>
                <a:latin typeface="Calibri"/>
              </a:rPr>
              <a:t>All four planned documents finished</a:t>
            </a:r>
          </a:p>
          <a:p>
            <a:pPr algn="l" marL="201168" indent="-182880">
              <a:spcAft>
                <a:spcPts val="400"/>
              </a:spcAft>
              <a:buFont typeface="Arial"/>
              <a:buChar char="•"/>
            </a:pPr>
            <a:r>
              <a:rPr sz="1600" b="0" i="0">
                <a:solidFill>
                  <a:srgbClr val="1F2933"/>
                </a:solidFill>
                <a:latin typeface="Calibri"/>
              </a:rPr>
              <a:t>Joe agreed on the move to C#</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Challenges and solutions</a:t>
            </a:r>
          </a:p>
          <a:p>
            <a:pPr algn="l" marL="201168" indent="-182880">
              <a:spcAft>
                <a:spcPts val="400"/>
              </a:spcAft>
              <a:buFont typeface="Arial"/>
              <a:buChar char="•"/>
            </a:pPr>
            <a:r>
              <a:rPr sz="1600" b="0" i="0">
                <a:solidFill>
                  <a:srgbClr val="1F2933"/>
                </a:solidFill>
                <a:latin typeface="Calibri"/>
              </a:rPr>
              <a:t>The CGo export plan did not work. It was replaced with a shared facade and tested against two other transports.</a:t>
            </a:r>
          </a:p>
          <a:p>
            <a:pPr algn="l" marL="201168" indent="-182880">
              <a:spcAft>
                <a:spcPts val="400"/>
              </a:spcAft>
              <a:buFont typeface="Arial"/>
              <a:buChar char="•"/>
            </a:pPr>
            <a:r>
              <a:rPr sz="1600" b="0" i="0">
                <a:solidFill>
                  <a:srgbClr val="1F2933"/>
                </a:solidFill>
                <a:latin typeface="Calibri"/>
              </a:rPr>
              <a:t>The client is SEL Confidential. Public docs are sanitized and code stays in a private repo.</a:t>
            </a:r>
          </a:p>
          <a:p>
            <a:pPr algn="l" marL="201168" indent="-182880">
              <a:spcAft>
                <a:spcPts val="400"/>
              </a:spcAft>
              <a:buFont typeface="Arial"/>
              <a:buChar char="•"/>
            </a:pPr>
            <a:r>
              <a:rPr sz="1600" b="0" i="0">
                <a:solidFill>
                  <a:srgbClr val="1F2933"/>
                </a:solidFill>
                <a:latin typeface="Calibri"/>
              </a:rPr>
              <a:t>No real Signal Hub outside SEL. A fake one was built for testing.</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Progress from Sprint 3</a:t>
            </a:r>
          </a:p>
          <a:p>
            <a:pPr algn="l" marL="201168" indent="-182880">
              <a:spcAft>
                <a:spcPts val="400"/>
              </a:spcAft>
              <a:buFont typeface="Arial"/>
              <a:buChar char="•"/>
            </a:pPr>
            <a:r>
              <a:rPr sz="1600" b="0" i="0">
                <a:solidFill>
                  <a:srgbClr val="1F2933"/>
                </a:solidFill>
                <a:latin typeface="Calibri"/>
              </a:rPr>
              <a:t>Sprint 3 wrapped our own COMTRADE code with CGo and subprocess</a:t>
            </a:r>
          </a:p>
          <a:p>
            <a:pPr algn="l" marL="201168" indent="-182880">
              <a:spcAft>
                <a:spcPts val="400"/>
              </a:spcAft>
              <a:buFont typeface="Arial"/>
              <a:buChar char="•"/>
            </a:pPr>
            <a:r>
              <a:rPr sz="1600" b="0" i="0">
                <a:solidFill>
                  <a:srgbClr val="1F2933"/>
                </a:solidFill>
                <a:latin typeface="Calibri"/>
              </a:rPr>
              <a:t>Sprint 4 repeated that comparison on the real client, which is much harder to wrap</a:t>
            </a:r>
          </a:p>
          <a:p>
            <a:pPr algn="l" marL="201168" indent="-182880">
              <a:spcAft>
                <a:spcPts val="400"/>
              </a:spcAft>
              <a:buFont typeface="Arial"/>
              <a:buChar char="•"/>
            </a:pPr>
            <a:r>
              <a:rPr sz="1600" b="0" i="0">
                <a:solidFill>
                  <a:srgbClr val="1F2933"/>
                </a:solidFill>
                <a:latin typeface="Calibri"/>
              </a:rPr>
              <a:t>The access blocker from Sprints 2 and 3 is gone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9</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Next Steps and Sprint Retrospective</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Sprint 5 plan</a:t>
            </a:r>
          </a:p>
          <a:p>
            <a:pPr algn="l" marL="201168" indent="-182880">
              <a:spcAft>
                <a:spcPts val="400"/>
              </a:spcAft>
              <a:buFont typeface="Arial"/>
              <a:buChar char="•"/>
            </a:pPr>
            <a:r>
              <a:rPr sz="1600" b="0" i="0">
                <a:solidFill>
                  <a:srgbClr val="1F2933"/>
                </a:solidFill>
                <a:latin typeface="Calibri"/>
              </a:rPr>
              <a:t>Move the SDK onto the C# client in week one (#36)</a:t>
            </a:r>
          </a:p>
          <a:p>
            <a:pPr algn="l" marL="201168" indent="-182880">
              <a:spcAft>
                <a:spcPts val="400"/>
              </a:spcAft>
              <a:buFont typeface="Arial"/>
              <a:buChar char="•"/>
            </a:pPr>
            <a:r>
              <a:rPr sz="1600" b="0" i="0">
                <a:solidFill>
                  <a:srgbClr val="1F2933"/>
                </a:solidFill>
                <a:latin typeface="Calibri"/>
              </a:rPr>
              <a:t>Build the Python bindings on the C# client</a:t>
            </a:r>
          </a:p>
          <a:p>
            <a:pPr algn="l" marL="201168" indent="-182880">
              <a:spcAft>
                <a:spcPts val="400"/>
              </a:spcAft>
              <a:buFont typeface="Arial"/>
              <a:buChar char="•"/>
            </a:pPr>
            <a:r>
              <a:rPr sz="1600" b="0" i="0">
                <a:solidFill>
                  <a:srgbClr val="1F2933"/>
                </a:solidFill>
                <a:latin typeface="Calibri"/>
              </a:rPr>
              <a:t>Automated test harness in CI</a:t>
            </a:r>
          </a:p>
          <a:p>
            <a:pPr algn="l" marL="201168" indent="-182880">
              <a:spcAft>
                <a:spcPts val="400"/>
              </a:spcAft>
              <a:buFont typeface="Arial"/>
              <a:buChar char="•"/>
            </a:pPr>
            <a:r>
              <a:rPr sz="1600" b="0" i="0">
                <a:solidFill>
                  <a:srgbClr val="1F2933"/>
                </a:solidFill>
                <a:latin typeface="Calibri"/>
              </a:rPr>
              <a:t>Cross-platform checks on Linux and Windows</a:t>
            </a:r>
          </a:p>
          <a:p>
            <a:pPr algn="l" marL="201168" indent="-182880">
              <a:spcAft>
                <a:spcPts val="400"/>
              </a:spcAft>
              <a:buFont typeface="Arial"/>
              <a:buChar char="•"/>
            </a:pPr>
            <a:r>
              <a:rPr sz="1600" b="0" i="0">
                <a:solidFill>
                  <a:srgbClr val="1F2933"/>
                </a:solidFill>
                <a:latin typeface="Calibri"/>
              </a:rPr>
              <a:t>First user docs and examples</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Retrospective</a:t>
            </a:r>
          </a:p>
          <a:p>
            <a:pPr algn="l">
              <a:spcAft>
                <a:spcPts val="200"/>
              </a:spcAft>
            </a:pPr>
            <a:r>
              <a:rPr sz="1600" b="1" i="0">
                <a:solidFill>
                  <a:srgbClr val="324A5F"/>
                </a:solidFill>
                <a:latin typeface="Calibri"/>
              </a:rPr>
              <a:t>Went well</a:t>
            </a:r>
          </a:p>
          <a:p>
            <a:pPr algn="l" marL="201168" indent="-182880">
              <a:spcAft>
                <a:spcPts val="400"/>
              </a:spcAft>
              <a:buFont typeface="Arial"/>
              <a:buChar char="•"/>
            </a:pPr>
            <a:r>
              <a:rPr sz="1600" b="0" i="0">
                <a:solidFill>
                  <a:srgbClr val="1F2933"/>
                </a:solidFill>
                <a:latin typeface="Calibri"/>
              </a:rPr>
              <a:t>Access came through and unblocked the team</a:t>
            </a:r>
          </a:p>
          <a:p>
            <a:pPr algn="l" marL="201168" indent="-182880">
              <a:spcAft>
                <a:spcPts val="400"/>
              </a:spcAft>
              <a:buFont typeface="Arial"/>
              <a:buChar char="•"/>
            </a:pPr>
            <a:r>
              <a:rPr sz="1600" b="0" i="0">
                <a:solidFill>
                  <a:srgbClr val="1F2933"/>
                </a:solidFill>
                <a:latin typeface="Calibri"/>
              </a:rPr>
              <a:t>Test results answered Joe's question</a:t>
            </a:r>
          </a:p>
          <a:p>
            <a:pPr algn="l">
              <a:spcAft>
                <a:spcPts val="200"/>
              </a:spcAft>
            </a:pPr>
            <a:r>
              <a:rPr sz="1600" b="1" i="0">
                <a:solidFill>
                  <a:srgbClr val="324A5F"/>
                </a:solidFill>
                <a:latin typeface="Calibri"/>
              </a:rPr>
              <a:t>To improve</a:t>
            </a:r>
          </a:p>
          <a:p>
            <a:pPr algn="l" marL="201168" indent="-182880">
              <a:spcAft>
                <a:spcPts val="400"/>
              </a:spcAft>
              <a:buFont typeface="Arial"/>
              <a:buChar char="•"/>
            </a:pPr>
            <a:r>
              <a:rPr sz="1600" b="0" i="0">
                <a:solidFill>
                  <a:srgbClr val="1F2933"/>
                </a:solidFill>
                <a:latin typeface="Calibri"/>
              </a:rPr>
              <a:t>Test risky assumptions like CGo earlier</a:t>
            </a:r>
          </a:p>
          <a:p>
            <a:pPr algn="l" marL="201168" indent="-182880">
              <a:spcAft>
                <a:spcPts val="400"/>
              </a:spcAft>
              <a:buFont typeface="Arial"/>
              <a:buChar char="•"/>
            </a:pPr>
            <a:r>
              <a:rPr sz="1600" b="0" i="0">
                <a:solidFill>
                  <a:srgbClr val="1F2933"/>
                </a:solidFill>
                <a:latin typeface="Calibri"/>
              </a:rPr>
              <a:t>Push prototype work as it happens</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Acting on client feedback</a:t>
            </a:r>
          </a:p>
          <a:p>
            <a:pPr algn="l" marL="201168" indent="-182880">
              <a:spcAft>
                <a:spcPts val="400"/>
              </a:spcAft>
              <a:buFont typeface="Arial"/>
              <a:buChar char="•"/>
            </a:pPr>
            <a:r>
              <a:rPr sz="1600" b="0" i="0">
                <a:solidFill>
                  <a:srgbClr val="1F2933"/>
                </a:solidFill>
                <a:latin typeface="Calibri"/>
              </a:rPr>
              <a:t>No double maintenance drove the wrap-not-port design</a:t>
            </a:r>
          </a:p>
          <a:p>
            <a:pPr algn="l" marL="201168" indent="-182880">
              <a:spcAft>
                <a:spcPts val="400"/>
              </a:spcAft>
              <a:buFont typeface="Arial"/>
              <a:buChar char="•"/>
            </a:pPr>
            <a:r>
              <a:rPr sz="1600" b="0" i="0">
                <a:solidFill>
                  <a:srgbClr val="1F2933"/>
                </a:solidFill>
                <a:latin typeface="Calibri"/>
              </a:rPr>
              <a:t>Pub/sub was built and tested first</a:t>
            </a:r>
          </a:p>
          <a:p>
            <a:pPr algn="l" marL="201168" indent="-182880">
              <a:spcAft>
                <a:spcPts val="400"/>
              </a:spcAft>
              <a:buFont typeface="Arial"/>
              <a:buChar char="•"/>
            </a:pPr>
            <a:r>
              <a:rPr sz="1600" b="0" i="0">
                <a:solidFill>
                  <a:srgbClr val="1F2933"/>
                </a:solidFill>
                <a:latin typeface="Calibri"/>
              </a:rPr>
              <a:t>Python 3.12 is the tested baseline</a:t>
            </a:r>
          </a:p>
          <a:p>
            <a:pPr algn="l" marL="201168" indent="-182880">
              <a:spcAft>
                <a:spcPts val="400"/>
              </a:spcAft>
              <a:buFont typeface="Arial"/>
              <a:buChar char="•"/>
            </a:pPr>
            <a:r>
              <a:rPr sz="1600" b="0" i="0">
                <a:solidFill>
                  <a:srgbClr val="1F2933"/>
                </a:solidFill>
                <a:latin typeface="Calibri"/>
              </a:rPr>
              <a:t>SEL code kept off the public repo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1463040" y="329184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822960"/>
            <a:ext cx="2926080" cy="29260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212080"/>
            <a:ext cx="731520" cy="7315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a:solidFill>
                  <a:srgbClr val="1B2A41"/>
                </a:solidFill>
                <a:latin typeface="Cambria"/>
              </a:rPr>
              <a:t>10</a:t>
            </a:r>
          </a:p>
        </p:txBody>
      </p:sp>
      <p:sp>
        <p:nvSpPr>
          <p:cNvPr id="5" name="TextBox 4"/>
          <p:cNvSpPr txBox="1"/>
          <p:nvPr/>
        </p:nvSpPr>
        <p:spPr>
          <a:xfrm>
            <a:off x="822960" y="822960"/>
            <a:ext cx="10058400" cy="822960"/>
          </a:xfrm>
          <a:prstGeom prst="rect">
            <a:avLst/>
          </a:prstGeom>
          <a:noFill/>
        </p:spPr>
        <p:txBody>
          <a:bodyPr wrap="square" anchor="t" lIns="0" rIns="0" tIns="0" bIns="0">
            <a:spAutoFit/>
          </a:bodyPr>
          <a:lstStyle/>
          <a:p>
            <a:pPr algn="l">
              <a:spcAft>
                <a:spcPts val="600"/>
              </a:spcAft>
            </a:pPr>
            <a:r>
              <a:rPr sz="4000" b="1" i="0">
                <a:solidFill>
                  <a:srgbClr val="FFFFFF"/>
                </a:solidFill>
                <a:latin typeface="Cambria"/>
              </a:rPr>
              <a:t>Conclusion</a:t>
            </a:r>
          </a:p>
        </p:txBody>
      </p:sp>
      <p:sp>
        <p:nvSpPr>
          <p:cNvPr id="6" name="TextBox 5"/>
          <p:cNvSpPr txBox="1"/>
          <p:nvPr/>
        </p:nvSpPr>
        <p:spPr>
          <a:xfrm>
            <a:off x="822960" y="1828800"/>
            <a:ext cx="9601200" cy="2926080"/>
          </a:xfrm>
          <a:prstGeom prst="rect">
            <a:avLst/>
          </a:prstGeom>
          <a:noFill/>
        </p:spPr>
        <p:txBody>
          <a:bodyPr wrap="square" anchor="t" lIns="0" rIns="0" tIns="0" bIns="0">
            <a:spAutoFit/>
          </a:bodyPr>
          <a:lstStyle/>
          <a:p>
            <a:pPr algn="l" marL="201168" indent="-182880">
              <a:spcAft>
                <a:spcPts val="1000"/>
              </a:spcAft>
              <a:buFont typeface="Arial"/>
              <a:buChar char="•"/>
            </a:pPr>
            <a:r>
              <a:rPr sz="2000" b="0" i="0">
                <a:solidFill>
                  <a:srgbClr val="FFFFFF"/>
                </a:solidFill>
                <a:latin typeface="Calibri"/>
              </a:rPr>
              <a:t>Wrapping the Go client works, but only safely out of process, and most of the effort is glue code.</a:t>
            </a:r>
          </a:p>
          <a:p>
            <a:pPr algn="l" marL="201168" indent="-182880">
              <a:spcAft>
                <a:spcPts val="1000"/>
              </a:spcAft>
              <a:buFont typeface="Arial"/>
              <a:buChar char="•"/>
            </a:pPr>
            <a:r>
              <a:rPr sz="2000" b="0" i="0">
                <a:solidFill>
                  <a:srgbClr val="FFFFFF"/>
                </a:solidFill>
                <a:latin typeface="Calibri"/>
              </a:rPr>
              <a:t>The bridge prototype, test suite, and plans are ready to carry into Sprint 5.</a:t>
            </a:r>
          </a:p>
          <a:p>
            <a:pPr algn="l" marL="201168" indent="-182880">
              <a:spcAft>
                <a:spcPts val="1000"/>
              </a:spcAft>
              <a:buFont typeface="Arial"/>
              <a:buChar char="•"/>
            </a:pPr>
            <a:r>
              <a:rPr sz="2000" b="0" i="0">
                <a:solidFill>
                  <a:srgbClr val="FFFFFF"/>
                </a:solidFill>
                <a:latin typeface="Calibri"/>
              </a:rPr>
              <a:t>Joe agreed the SDK should move to the C# client, so that is the first job in Sprint 5.</a:t>
            </a:r>
          </a:p>
        </p:txBody>
      </p:sp>
      <p:sp>
        <p:nvSpPr>
          <p:cNvPr id="7" name="TextBox 6"/>
          <p:cNvSpPr txBox="1"/>
          <p:nvPr/>
        </p:nvSpPr>
        <p:spPr>
          <a:xfrm>
            <a:off x="822960" y="4937760"/>
            <a:ext cx="9144000" cy="1097280"/>
          </a:xfrm>
          <a:prstGeom prst="rect">
            <a:avLst/>
          </a:prstGeom>
          <a:noFill/>
        </p:spPr>
        <p:txBody>
          <a:bodyPr wrap="square" anchor="t" lIns="0" rIns="0" tIns="0" bIns="0">
            <a:spAutoFit/>
          </a:bodyPr>
          <a:lstStyle/>
          <a:p>
            <a:pPr algn="l">
              <a:spcAft>
                <a:spcPts val="400"/>
              </a:spcAft>
            </a:pPr>
            <a:r>
              <a:rPr sz="2000" b="1" i="0">
                <a:solidFill>
                  <a:srgbClr val="F2A541"/>
                </a:solidFill>
                <a:latin typeface="Calibri"/>
              </a:rPr>
              <a:t>Thank you to Joe Stanley and SEL, and to the course staff.</a:t>
            </a:r>
          </a:p>
          <a:p>
            <a:pPr algn="l">
              <a:spcAft>
                <a:spcPts val="600"/>
              </a:spcAft>
            </a:pPr>
            <a:r>
              <a:rPr sz="1600" b="0" i="0">
                <a:solidFill>
                  <a:srgbClr val="C9D3DE"/>
                </a:solidFill>
                <a:latin typeface="Calibri"/>
              </a:rPr>
              <a:t>Questions and feedback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