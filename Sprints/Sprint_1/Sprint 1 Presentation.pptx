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45" r:id="rId4"/>
    <p:sldMasterId id="214748374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Barlow ExtraLight"/>
      <p:regular r:id="rId28"/>
      <p:bold r:id="rId29"/>
      <p:italic r:id="rId30"/>
      <p:boldItalic r:id="rId31"/>
    </p:embeddedFont>
    <p:embeddedFont>
      <p:font typeface="Hepta Slab Medium"/>
      <p:regular r:id="rId32"/>
      <p:bold r:id="rId33"/>
    </p:embeddedFont>
    <p:embeddedFont>
      <p:font typeface="Hepta Slab Light"/>
      <p:regular r:id="rId34"/>
      <p:bold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Hepta Slab"/>
      <p:regular r:id="rId40"/>
      <p:bold r:id="rId41"/>
    </p:embeddedFont>
    <p:embeddedFont>
      <p:font typeface="Urbanist Medium"/>
      <p:regular r:id="rId42"/>
      <p:bold r:id="rId43"/>
      <p:italic r:id="rId44"/>
      <p:boldItalic r:id="rId45"/>
    </p:embeddedFont>
    <p:embeddedFont>
      <p:font typeface="Urbanist"/>
      <p:regular r:id="rId46"/>
      <p:bold r:id="rId47"/>
      <p:italic r:id="rId48"/>
      <p:boldItalic r:id="rId49"/>
    </p:embeddedFont>
    <p:embeddedFont>
      <p:font typeface="Barlow Medium"/>
      <p:regular r:id="rId50"/>
      <p:bold r:id="rId51"/>
      <p:italic r:id="rId52"/>
      <p:boldItalic r:id="rId53"/>
    </p:embeddedFont>
    <p:embeddedFont>
      <p:font typeface="Poppins SemiBold"/>
      <p:regular r:id="rId54"/>
      <p:bold r:id="rId55"/>
      <p:italic r:id="rId56"/>
      <p:boldItalic r:id="rId57"/>
    </p:embeddedFont>
    <p:embeddedFont>
      <p:font typeface="Barlow Light"/>
      <p:regular r:id="rId58"/>
      <p:bold r:id="rId59"/>
      <p:italic r:id="rId60"/>
      <p:boldItalic r:id="rId61"/>
    </p:embeddedFont>
    <p:embeddedFont>
      <p:font typeface="Barlow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ptaSlab-regular.fntdata"/><Relationship Id="rId42" Type="http://schemas.openxmlformats.org/officeDocument/2006/relationships/font" Target="fonts/UrbanistMedium-regular.fntdata"/><Relationship Id="rId41" Type="http://schemas.openxmlformats.org/officeDocument/2006/relationships/font" Target="fonts/HeptaSlab-bold.fntdata"/><Relationship Id="rId44" Type="http://schemas.openxmlformats.org/officeDocument/2006/relationships/font" Target="fonts/UrbanistMedium-italic.fntdata"/><Relationship Id="rId43" Type="http://schemas.openxmlformats.org/officeDocument/2006/relationships/font" Target="fonts/UrbanistMedium-bold.fntdata"/><Relationship Id="rId46" Type="http://schemas.openxmlformats.org/officeDocument/2006/relationships/font" Target="fonts/Urbanist-regular.fntdata"/><Relationship Id="rId45" Type="http://schemas.openxmlformats.org/officeDocument/2006/relationships/font" Target="fonts/Urbanis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Urbanist-italic.fntdata"/><Relationship Id="rId47" Type="http://schemas.openxmlformats.org/officeDocument/2006/relationships/font" Target="fonts/Urbanist-bold.fntdata"/><Relationship Id="rId49" Type="http://schemas.openxmlformats.org/officeDocument/2006/relationships/font" Target="fonts/Urbanis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BarlowExtraLight-boldItalic.fntdata"/><Relationship Id="rId30" Type="http://schemas.openxmlformats.org/officeDocument/2006/relationships/font" Target="fonts/BarlowExtraLight-italic.fntdata"/><Relationship Id="rId33" Type="http://schemas.openxmlformats.org/officeDocument/2006/relationships/font" Target="fonts/HeptaSlabMedium-bold.fntdata"/><Relationship Id="rId32" Type="http://schemas.openxmlformats.org/officeDocument/2006/relationships/font" Target="fonts/HeptaSlabMedium-regular.fntdata"/><Relationship Id="rId35" Type="http://schemas.openxmlformats.org/officeDocument/2006/relationships/font" Target="fonts/HeptaSlabLight-bold.fntdata"/><Relationship Id="rId34" Type="http://schemas.openxmlformats.org/officeDocument/2006/relationships/font" Target="fonts/HeptaSlabLight-regular.fntdata"/><Relationship Id="rId37" Type="http://schemas.openxmlformats.org/officeDocument/2006/relationships/font" Target="fonts/Poppins-bold.fntdata"/><Relationship Id="rId36" Type="http://schemas.openxmlformats.org/officeDocument/2006/relationships/font" Target="fonts/Poppins-regular.fntdata"/><Relationship Id="rId39" Type="http://schemas.openxmlformats.org/officeDocument/2006/relationships/font" Target="fonts/Poppins-boldItalic.fntdata"/><Relationship Id="rId38" Type="http://schemas.openxmlformats.org/officeDocument/2006/relationships/font" Target="fonts/Poppins-italic.fntdata"/><Relationship Id="rId62" Type="http://schemas.openxmlformats.org/officeDocument/2006/relationships/font" Target="fonts/Barlow-regular.fntdata"/><Relationship Id="rId61" Type="http://schemas.openxmlformats.org/officeDocument/2006/relationships/font" Target="fonts/BarlowLight-boldItalic.fntdata"/><Relationship Id="rId20" Type="http://schemas.openxmlformats.org/officeDocument/2006/relationships/slide" Target="slides/slide14.xml"/><Relationship Id="rId64" Type="http://schemas.openxmlformats.org/officeDocument/2006/relationships/font" Target="fonts/Barlow-italic.fntdata"/><Relationship Id="rId63" Type="http://schemas.openxmlformats.org/officeDocument/2006/relationships/font" Target="fonts/Barlow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Barlow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BarlowLight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BarlowExtraLight-regular.fntdata"/><Relationship Id="rId27" Type="http://schemas.openxmlformats.org/officeDocument/2006/relationships/slide" Target="slides/slide21.xml"/><Relationship Id="rId29" Type="http://schemas.openxmlformats.org/officeDocument/2006/relationships/font" Target="fonts/BarlowExtraLight-bold.fntdata"/><Relationship Id="rId51" Type="http://schemas.openxmlformats.org/officeDocument/2006/relationships/font" Target="fonts/BarlowMedium-bold.fntdata"/><Relationship Id="rId50" Type="http://schemas.openxmlformats.org/officeDocument/2006/relationships/font" Target="fonts/BarlowMedium-regular.fntdata"/><Relationship Id="rId53" Type="http://schemas.openxmlformats.org/officeDocument/2006/relationships/font" Target="fonts/BarlowMedium-boldItalic.fntdata"/><Relationship Id="rId52" Type="http://schemas.openxmlformats.org/officeDocument/2006/relationships/font" Target="fonts/BarlowMedium-italic.fntdata"/><Relationship Id="rId11" Type="http://schemas.openxmlformats.org/officeDocument/2006/relationships/slide" Target="slides/slide5.xml"/><Relationship Id="rId55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54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57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56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59" Type="http://schemas.openxmlformats.org/officeDocument/2006/relationships/font" Target="fonts/BarlowLight-bold.fntdata"/><Relationship Id="rId14" Type="http://schemas.openxmlformats.org/officeDocument/2006/relationships/slide" Target="slides/slide8.xml"/><Relationship Id="rId58" Type="http://schemas.openxmlformats.org/officeDocument/2006/relationships/font" Target="fonts/BarlowLigh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3bf49966681_0_2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3bf49966681_0_2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3bf49966681_0_2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3bf49966681_0_2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bf49966681_0_3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0" name="Google Shape;900;g3bf49966681_0_3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3bf49966681_0_3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7" name="Google Shape;907;g3bf49966681_0_3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bf49966681_0_3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3bf49966681_0_3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bf49966681_0_3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bf49966681_0_3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bf49966681_0_3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bf49966681_0_3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3bf49966681_0_3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3bf49966681_0_3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3bf49966681_0_3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3bf49966681_0_3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bf49966681_0_3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bf49966681_0_3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bf49966681_0_3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bf49966681_0_3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bf49966681_0_3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bf49966681_0_3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bf49966681_0_3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bf49966681_0_3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bf49966681_0_3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bf49966681_0_3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3bf49966681_0_3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3bf49966681_0_3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bf49966681_0_3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bf49966681_0_3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g3bf49966681_0_3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5" name="Google Shape;995;g3bf49966681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g3bf49966681_0_3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2" name="Google Shape;1002;g3bf49966681_0_3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bf49966681_0_3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bf49966681_0_3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3bf49966681_0_3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3bf49966681_0_3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bf49966681_0_3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bf49966681_0_3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75" name="Google Shape;575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6" name="Google Shape;57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9" name="Google Shape;579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2" name="Google Shape;582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583" name="Google Shape;58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6" name="Google Shape;586;p5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7" name="Google Shape;587;p5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88" name="Google Shape;588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1" name="Google Shape;59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94" name="Google Shape;594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95" name="Google Shape;595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98" name="Google Shape;59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2" name="Google Shape;602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3" name="Google Shape;603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4" name="Google Shape;604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6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607" name="Google Shape;607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0" name="Google Shape;610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11" name="Google Shape;611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6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7" name="Google Shape;617;p66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8" name="Google Shape;618;p66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19" name="Google Shape;619;p66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0" name="Google Shape;620;p66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1" name="Google Shape;621;p66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22" name="Google Shape;622;p66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67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26" name="Google Shape;626;p67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7" name="Google Shape;62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0" name="Google Shape;630;p6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1" name="Google Shape;631;p68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32" name="Google Shape;632;p68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33" name="Google Shape;633;p68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4" name="Google Shape;634;p68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7" name="Google Shape;637;p69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38" name="Google Shape;638;p69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39" name="Google Shape;639;p69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0" name="Google Shape;640;p6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41" name="Google Shape;641;p69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2" name="Google Shape;642;p69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43" name="Google Shape;643;p69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70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7" name="Google Shape;647;p70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8" name="Google Shape;648;p70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9" name="Google Shape;649;p70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50" name="Google Shape;650;p70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51" name="Google Shape;651;p70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2" name="Google Shape;652;p70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3" name="Google Shape;653;p70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4" name="Google Shape;654;p70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7" name="Google Shape;657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8" name="Google Shape;658;p71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72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1" name="Google Shape;661;p72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62" name="Google Shape;662;p72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663" name="Google Shape;663;p72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4" name="Google Shape;664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5" name="Google Shape;665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72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67" name="Google Shape;667;p72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73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0" name="Google Shape;670;p73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71" name="Google Shape;671;p73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72" name="Google Shape;672;p73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3" name="Google Shape;673;p73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674" name="Google Shape;674;p73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5" name="Google Shape;675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7" name="Google Shape;677;p73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8" name="Google Shape;678;p73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79" name="Google Shape;679;p73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4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682" name="Google Shape;682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5" name="Google Shape;685;p75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86" name="Google Shape;686;p75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87" name="Google Shape;687;p75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88" name="Google Shape;688;p75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89" name="Google Shape;689;p75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0" name="Google Shape;690;p75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1" name="Google Shape;691;p75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2" name="Google Shape;692;p75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3" name="Google Shape;693;p75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94" name="Google Shape;694;p75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7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697" name="Google Shape;697;p7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698" name="Google Shape;698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77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1" name="Google Shape;701;p77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02" name="Google Shape;702;p77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03" name="Google Shape;70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78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06" name="Google Shape;706;p78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07" name="Google Shape;707;p78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08" name="Google Shape;708;p78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09" name="Google Shape;709;p78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10" name="Google Shape;710;p78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11" name="Google Shape;711;p78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12" name="Google Shape;712;p78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13" name="Google Shape;713;p78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14" name="Google Shape;714;p78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15" name="Google Shape;715;p78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16" name="Google Shape;716;p78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17" name="Google Shape;717;p78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18" name="Google Shape;718;p78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19" name="Google Shape;719;p78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20" name="Google Shape;720;p78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21" name="Google Shape;721;p78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22" name="Google Shape;722;p78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23" name="Google Shape;723;p78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24" name="Google Shape;724;p7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79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28" name="Google Shape;728;p79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29" name="Google Shape;729;p79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30" name="Google Shape;730;p79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731" name="Google Shape;731;p7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0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80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735" name="Google Shape;735;p80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6" name="Google Shape;736;p80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7" name="Google Shape;737;p8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81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0" name="Google Shape;740;p81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81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81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81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744" name="Google Shape;744;p81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45" name="Google Shape;745;p81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46" name="Google Shape;746;p81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47" name="Google Shape;747;p81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48" name="Google Shape;748;p81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49" name="Google Shape;749;p81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50" name="Google Shape;750;p81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51" name="Google Shape;751;p81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52" name="Google Shape;752;p81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53" name="Google Shape;753;p8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82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56" name="Google Shape;756;p82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757" name="Google Shape;757;p8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83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60" name="Google Shape;760;p83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761" name="Google Shape;761;p83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62" name="Google Shape;762;p8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84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65" name="Google Shape;765;p84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66" name="Google Shape;766;p84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67" name="Google Shape;767;p84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68" name="Google Shape;768;p84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69" name="Google Shape;769;p84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70" name="Google Shape;770;p8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85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73" name="Google Shape;773;p85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74" name="Google Shape;774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86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777" name="Google Shape;777;p86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78" name="Google Shape;778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87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87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782" name="Google Shape;782;p87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3" name="Google Shape;783;p8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4" name="Google Shape;784;p87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87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8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788" name="Google Shape;788;p88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789" name="Google Shape;789;p88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790" name="Google Shape;790;p88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791" name="Google Shape;791;p88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92" name="Google Shape;792;p88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793" name="Google Shape;793;p8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9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796" name="Google Shape;796;p89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797" name="Google Shape;797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90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90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801" name="Google Shape;801;p90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2" name="Google Shape;802;p9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5" name="Google Shape;805;p91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06" name="Google Shape;806;p91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807" name="Google Shape;807;p91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08" name="Google Shape;808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92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11" name="Google Shape;811;p92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12" name="Google Shape;812;p92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13" name="Google Shape;813;p9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93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16" name="Google Shape;816;p93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17" name="Google Shape;817;p93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18" name="Google Shape;818;p93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19" name="Google Shape;819;p93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20" name="Google Shape;820;p93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821" name="Google Shape;821;p93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93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3" name="Google Shape;823;p93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4" name="Google Shape;824;p93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5" name="Google Shape;825;p93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6" name="Google Shape;826;p93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27" name="Google Shape;827;p93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28" name="Google Shape;828;p93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829" name="Google Shape;829;p93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30" name="Google Shape;830;p93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31" name="Google Shape;831;p93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32" name="Google Shape;832;p93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33" name="Google Shape;833;p9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94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36" name="Google Shape;836;p94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837" name="Google Shape;837;p9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9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840" name="Google Shape;840;p9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41" name="Google Shape;841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96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44" name="Google Shape;844;p96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45" name="Google Shape;845;p96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46" name="Google Shape;846;p96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47" name="Google Shape;847;p96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48" name="Google Shape;848;p96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49" name="Google Shape;849;p96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50" name="Google Shape;850;p96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51" name="Google Shape;851;p96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852" name="Google Shape;852;p96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853" name="Google Shape;853;p96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854" name="Google Shape;854;p96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55" name="Google Shape;855;p96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56" name="Google Shape;856;p96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57" name="Google Shape;857;p9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97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60" name="Google Shape;860;p97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861" name="Google Shape;861;p97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97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3" name="Google Shape;863;p97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4" name="Google Shape;864;p97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5" name="Google Shape;865;p97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6" name="Google Shape;866;p97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67" name="Google Shape;867;p97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68" name="Google Shape;868;p97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869" name="Google Shape;869;p97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0" name="Google Shape;870;p97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1" name="Google Shape;871;p97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2" name="Google Shape;872;p97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3" name="Google Shape;873;p97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4" name="Google Shape;874;p97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5" name="Google Shape;875;p97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6" name="Google Shape;876;p97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77" name="Google Shape;877;p9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98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80" name="Google Shape;880;p98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881" name="Google Shape;881;p9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9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84" name="Google Shape;884;p99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885" name="Google Shape;885;p9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2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2.xml"/><Relationship Id="rId42" Type="http://schemas.openxmlformats.org/officeDocument/2006/relationships/slideLayout" Target="../slideLayouts/slideLayout94.xml"/><Relationship Id="rId41" Type="http://schemas.openxmlformats.org/officeDocument/2006/relationships/slideLayout" Target="../slideLayouts/slideLayout93.xml"/><Relationship Id="rId44" Type="http://schemas.openxmlformats.org/officeDocument/2006/relationships/slideLayout" Target="../slideLayouts/slideLayout96.xml"/><Relationship Id="rId43" Type="http://schemas.openxmlformats.org/officeDocument/2006/relationships/slideLayout" Target="../slideLayouts/slideLayout95.xml"/><Relationship Id="rId46" Type="http://schemas.openxmlformats.org/officeDocument/2006/relationships/theme" Target="../theme/theme3.xml"/><Relationship Id="rId45" Type="http://schemas.openxmlformats.org/officeDocument/2006/relationships/slideLayout" Target="../slideLayouts/slideLayout97.xml"/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2.xml"/><Relationship Id="rId33" Type="http://schemas.openxmlformats.org/officeDocument/2006/relationships/slideLayout" Target="../slideLayouts/slideLayout85.xml"/><Relationship Id="rId32" Type="http://schemas.openxmlformats.org/officeDocument/2006/relationships/slideLayout" Target="../slideLayouts/slideLayout84.xml"/><Relationship Id="rId35" Type="http://schemas.openxmlformats.org/officeDocument/2006/relationships/slideLayout" Target="../slideLayouts/slideLayout87.xml"/><Relationship Id="rId34" Type="http://schemas.openxmlformats.org/officeDocument/2006/relationships/slideLayout" Target="../slideLayouts/slideLayout86.xml"/><Relationship Id="rId37" Type="http://schemas.openxmlformats.org/officeDocument/2006/relationships/slideLayout" Target="../slideLayouts/slideLayout89.xml"/><Relationship Id="rId36" Type="http://schemas.openxmlformats.org/officeDocument/2006/relationships/slideLayout" Target="../slideLayouts/slideLayout88.xml"/><Relationship Id="rId39" Type="http://schemas.openxmlformats.org/officeDocument/2006/relationships/slideLayout" Target="../slideLayouts/slideLayout91.xml"/><Relationship Id="rId38" Type="http://schemas.openxmlformats.org/officeDocument/2006/relationships/slideLayout" Target="../slideLayouts/slideLayout90.xml"/><Relationship Id="rId20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4.xml"/><Relationship Id="rId21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6.xml"/><Relationship Id="rId23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78.xml"/><Relationship Id="rId25" Type="http://schemas.openxmlformats.org/officeDocument/2006/relationships/slideLayout" Target="../slideLayouts/slideLayout77.xml"/><Relationship Id="rId28" Type="http://schemas.openxmlformats.org/officeDocument/2006/relationships/slideLayout" Target="../slideLayouts/slideLayout80.xml"/><Relationship Id="rId27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4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71" name="Google Shape;571;p54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72" name="Google Shape;57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  <p:sldLayoutId id="2147483741" r:id="rId42"/>
    <p:sldLayoutId id="2147483742" r:id="rId43"/>
    <p:sldLayoutId id="2147483743" r:id="rId44"/>
    <p:sldLayoutId id="2147483744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document/d/1jn55gCFu4wpZitNWfPhAz6XTImmWWTWcXC_IuDJw874/edit?usp=sharing" TargetMode="External"/><Relationship Id="rId4" Type="http://schemas.openxmlformats.org/officeDocument/2006/relationships/hyperlink" Target="https://docs.google.com/document/d/1vNIO9jNA18AkktPuvSEnWVt20zawMksBdGD_Iv-KC0U/edit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9zT__3KotG3wvQxFD8Lidyn6pKYZkgcS1JCMSBLCIuk/edit?usp=sharin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00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SEL Blueframe Python SDK</a:t>
            </a:r>
            <a:endParaRPr/>
          </a:p>
        </p:txBody>
      </p:sp>
      <p:sp>
        <p:nvSpPr>
          <p:cNvPr id="891" name="Google Shape;891;p100"/>
          <p:cNvSpPr txBox="1"/>
          <p:nvPr>
            <p:ph idx="1" type="body"/>
          </p:nvPr>
        </p:nvSpPr>
        <p:spPr>
          <a:xfrm>
            <a:off x="4046100" y="4236450"/>
            <a:ext cx="1051800" cy="1692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CptS 421</a:t>
            </a:r>
            <a:endParaRPr/>
          </a:p>
        </p:txBody>
      </p:sp>
      <p:sp>
        <p:nvSpPr>
          <p:cNvPr id="892" name="Google Shape;892;p100"/>
          <p:cNvSpPr txBox="1"/>
          <p:nvPr>
            <p:ph idx="2" type="subTitle"/>
          </p:nvPr>
        </p:nvSpPr>
        <p:spPr>
          <a:xfrm>
            <a:off x="226975" y="2902000"/>
            <a:ext cx="8709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Caleb Hansen, Genevieve Kochel, Darron Li, Lucas Phillips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01"/>
          <p:cNvSpPr txBox="1"/>
          <p:nvPr>
            <p:ph type="title"/>
          </p:nvPr>
        </p:nvSpPr>
        <p:spPr>
          <a:xfrm>
            <a:off x="638550" y="2133450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02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Blueframe is a hardened OS suited for real-time monitoring at edge locations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Based on stripped-down Linux kernel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Not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designed for ease of use: our project aims to address this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To do this, we’ll abstract away low-level Blueframe system API calls via a Python library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Our first sprint has been focused on understanding where our project fits in to the ecosystem, and what our deliverables are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3" name="Google Shape;903;p102"/>
          <p:cNvSpPr txBox="1"/>
          <p:nvPr/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INTRODUCTION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04" name="Google Shape;904;p10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103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Gain an understanding of the Blueframe platform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This involved meetings with automation engineers, senior Blueframe engineers, and system designers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Narrow down the scope of our project to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something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attainable within the context of a capstone project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 evaluated the most valuable functionality by examining current workflow of users, and what would provide the most benefit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Determine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state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of previous work on this project, and get set up with repository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Become familiar with codebase in order to begin architecting solutions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0" name="Google Shape;910;p103"/>
          <p:cNvSpPr txBox="1"/>
          <p:nvPr/>
        </p:nvSpPr>
        <p:spPr>
          <a:xfrm>
            <a:off x="480420" y="290626"/>
            <a:ext cx="359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SPRINT 1 GOALS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11" name="Google Shape;911;p10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104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 had several meetings. These included: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Initial setup meeting and walkthrough of Blueframe platform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Discussion of Blueframe documentation and SDK workflow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Blueframe OS setup requirements for local development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SignalHub info discussion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Intro to SignalHub Go repository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Through these meetings, we narrowed down our focus to specifically the SignalHub platform, which essentially acts as a message bus for all Blueframe services. It works by sending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binary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blobs over raw TCP, so a high-level abstraction layer will be extremely useful for engineers not familiar with the in-depth API specifics.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7" name="Google Shape;917;p104"/>
          <p:cNvSpPr txBox="1"/>
          <p:nvPr/>
        </p:nvSpPr>
        <p:spPr>
          <a:xfrm>
            <a:off x="480429" y="290625"/>
            <a:ext cx="649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REQUIREMENTS GATHERING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18" name="Google Shape;918;p10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05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Signal Hub Meeting #1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600"/>
              <a:buFont typeface="Barlow"/>
              <a:buChar char="○"/>
            </a:pPr>
            <a:r>
              <a:rPr lang="en" sz="1600" u="sng">
                <a:solidFill>
                  <a:srgbClr val="4A86E8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https://docs.google.com/document/d/1jn55gCFu4wpZitNWfPhAz6XTImmWWTWcXC_IuDJw874/edit?usp=sharing</a:t>
            </a:r>
            <a:endParaRPr sz="1600">
              <a:solidFill>
                <a:srgbClr val="4A86E8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Signal Hub Meeting #2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1600"/>
              <a:buFont typeface="Barlow"/>
              <a:buChar char="○"/>
            </a:pPr>
            <a:r>
              <a:rPr lang="en" sz="1600" u="sng">
                <a:solidFill>
                  <a:srgbClr val="4A86E8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https://docs.google.com/document/d/1vNIO9jNA18AkktPuvSEnWVt20zawMksBdGD_Iv-KC0U/edit?usp=sharing</a:t>
            </a:r>
            <a:endParaRPr sz="1600">
              <a:solidFill>
                <a:srgbClr val="4A86E8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A86E8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24" name="Google Shape;924;p105"/>
          <p:cNvSpPr txBox="1"/>
          <p:nvPr/>
        </p:nvSpPr>
        <p:spPr>
          <a:xfrm>
            <a:off x="480429" y="290625"/>
            <a:ext cx="649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MEETING MINUTES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25" name="Google Shape;925;p10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106"/>
          <p:cNvSpPr txBox="1"/>
          <p:nvPr>
            <p:ph type="title"/>
          </p:nvPr>
        </p:nvSpPr>
        <p:spPr>
          <a:xfrm>
            <a:off x="638550" y="2133450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07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As an engineer, I want to subscribe to a device signal using a high-level method, so that I can receive real-time data.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As an engineer, I want to publish device data to a SignalHub channel using a high-level method, so that other systems can consume the data.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As an engineer, I want to authenticate and establish a secure session with SignalHub, so that I can interact with device signals.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36" name="Google Shape;936;p107"/>
          <p:cNvSpPr txBox="1"/>
          <p:nvPr/>
        </p:nvSpPr>
        <p:spPr>
          <a:xfrm>
            <a:off x="480429" y="290625"/>
            <a:ext cx="649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USER STORIES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37" name="Google Shape;937;p10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8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43" name="Google Shape;943;p108"/>
          <p:cNvSpPr txBox="1"/>
          <p:nvPr/>
        </p:nvSpPr>
        <p:spPr>
          <a:xfrm>
            <a:off x="480429" y="290625"/>
            <a:ext cx="649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USE CASE DIAGRAMS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44" name="Google Shape;944;p10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45" name="Google Shape;945;p108" title="Screenshot 2026-02-22 at 11.41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425" y="806425"/>
            <a:ext cx="3629229" cy="4168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46" name="Google Shape;946;p108" title="Screenshot 2026-02-22 at 11.58.33 AM.png"/>
          <p:cNvPicPr preferRelativeResize="0"/>
          <p:nvPr/>
        </p:nvPicPr>
        <p:blipFill rotWithShape="1">
          <a:blip r:embed="rId4">
            <a:alphaModFix/>
          </a:blip>
          <a:srcRect b="0" l="1616" r="1616" t="0"/>
          <a:stretch/>
        </p:blipFill>
        <p:spPr>
          <a:xfrm>
            <a:off x="4171475" y="404650"/>
            <a:ext cx="4377502" cy="45707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09"/>
          <p:cNvSpPr txBox="1"/>
          <p:nvPr>
            <p:ph type="title"/>
          </p:nvPr>
        </p:nvSpPr>
        <p:spPr>
          <a:xfrm>
            <a:off x="638550" y="2133450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of Existing Solution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10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Blueframe is a proprietary operating system, and each image is specially signed by SEL for use with approved devices only. We cannot run Blueframe directly.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There is a Docker solution for container-based development, which we have set up. However, this code is strictly proprietary, and cannot be shared outside of SEL. We are unable to show any of it.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Currently, a Go repository handles SignalHub very well, and is still under active development. Our Python library will likely need to interface with that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repository;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this is still being explored.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7" name="Google Shape;957;p110"/>
          <p:cNvSpPr txBox="1"/>
          <p:nvPr/>
        </p:nvSpPr>
        <p:spPr>
          <a:xfrm>
            <a:off x="480429" y="290625"/>
            <a:ext cx="649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SETUP OF EXISTING SOLUTION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58" name="Google Shape;958;p11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11"/>
          <p:cNvSpPr txBox="1"/>
          <p:nvPr>
            <p:ph type="title"/>
          </p:nvPr>
        </p:nvSpPr>
        <p:spPr>
          <a:xfrm>
            <a:off x="638550" y="2133450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Contributions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12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69" name="Google Shape;969;p112"/>
          <p:cNvSpPr txBox="1"/>
          <p:nvPr/>
        </p:nvSpPr>
        <p:spPr>
          <a:xfrm>
            <a:off x="480429" y="290625"/>
            <a:ext cx="649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TEAM CONTRIBUTIONS: KANBAN BOARD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70" name="Google Shape;970;p11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1" name="Google Shape;971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24374"/>
            <a:ext cx="9144001" cy="1694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13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Because we are still in the requirements gathering stage, there are no completed features. However, we have made tremendous progress on documentation: in particular, a </a:t>
            </a:r>
            <a:r>
              <a:rPr lang="en" sz="1600" u="sng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SignalHub spec document</a:t>
            </a:r>
            <a:endParaRPr sz="16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77" name="Google Shape;977;p113"/>
          <p:cNvSpPr txBox="1"/>
          <p:nvPr/>
        </p:nvSpPr>
        <p:spPr>
          <a:xfrm>
            <a:off x="480424" y="290625"/>
            <a:ext cx="7466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TEAM CONTRIBUTIONS: COMPLETED WORK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78" name="Google Shape;978;p11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14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Darron</a:t>
            </a: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about Helm, Tilt, Kubernetes, and K3s for production level software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about how each containers interacted with each othr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Lucas: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about Helm, Kubernetes, and Blueframe-specific topics like SignalHub and IEDs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Gained insights into the practical applications of Electrical Engineering and the specific software needs of automation engineers to optimize their workflows. 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Caleb: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about Blueframe and SignalHub; gained experience narrowing down scope of a project and learning a system quickly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about automation engineer workflows, and what matters to them (experience tailoring a project to particular use cases)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●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Genevieve: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to quickly source documents and ask good questions/review documents quickly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○"/>
            </a:pP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</a:t>
            </a: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about</a:t>
            </a: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Docker, Tilt, and many SEL-specific concepts like power grids and how engineers interact with Blueframe to </a:t>
            </a: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gather</a:t>
            </a:r>
            <a:r>
              <a:rPr lang="en"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data about the power grid</a:t>
            </a:r>
            <a:endParaRPr sz="15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84" name="Google Shape;984;p114"/>
          <p:cNvSpPr txBox="1"/>
          <p:nvPr/>
        </p:nvSpPr>
        <p:spPr>
          <a:xfrm>
            <a:off x="480424" y="290625"/>
            <a:ext cx="7466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TEAM CONTRIBUTIONS: SKILLS LEARNED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85" name="Google Shape;985;p11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115"/>
          <p:cNvSpPr txBox="1"/>
          <p:nvPr/>
        </p:nvSpPr>
        <p:spPr>
          <a:xfrm>
            <a:off x="480425" y="682900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Achievements: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Learned extensively about how Blueframe operates, core OS concepts, Signal Hub technical details and how to gather these details from complex documents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Created detailed documentation on the inner technical details of Signal Hub, and proposed our project specification to our supervisor for review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Asking good questions to narrow down our project scope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Challenges: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Finding the correct people to talk to, to answer our questions - Reached out to many people at SEL daily, which guided us towards the right people eventually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Since our project was dropped by our original clients, we struggled to find another project. We leveraged our current connections at our internships to successfully find a sponsor.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1" name="Google Shape;991;p115"/>
          <p:cNvSpPr txBox="1"/>
          <p:nvPr/>
        </p:nvSpPr>
        <p:spPr>
          <a:xfrm>
            <a:off x="480424" y="290625"/>
            <a:ext cx="7466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SPRINT ACHIEVEMENTS AND CHALLENGES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92" name="Google Shape;992;p11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116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 used AI for summarizing/understanding meetings, drafting some documents, and identifying potential use cases to propose to our stakeholders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Limitations: 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Since our project contains SEL specific information, AI is often not able to answer questions about the specific technologies and implementations. Thus , we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sought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out other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documentation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to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answer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more specific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technical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questions.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 used the SEL specific GitHub Copiolot to process SEL-confidential information to ensure security of SEL information. This is necessary because typical non-company AI tools do not fit within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security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regulations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for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SEL. 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98" name="Google Shape;998;p116"/>
          <p:cNvSpPr txBox="1"/>
          <p:nvPr/>
        </p:nvSpPr>
        <p:spPr>
          <a:xfrm>
            <a:off x="480424" y="290625"/>
            <a:ext cx="7466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RESPONSIBLE USE OF AI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999" name="Google Shape;999;p11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17"/>
          <p:cNvSpPr txBox="1"/>
          <p:nvPr>
            <p:ph type="title"/>
          </p:nvPr>
        </p:nvSpPr>
        <p:spPr>
          <a:xfrm>
            <a:off x="638550" y="2133450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Retrospective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18"/>
          <p:cNvSpPr txBox="1"/>
          <p:nvPr/>
        </p:nvSpPr>
        <p:spPr>
          <a:xfrm>
            <a:off x="480425" y="70937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Next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steps: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Get Blueframe environment set up outside of SEL for code development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Look into the Go repository to see what functionalities need to be implemented from scratch/what is already implemented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What went well: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were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able to connect with many engineers to gather information in a timely manner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We communicated clearly with each other and kept everyone in the loop of the project progress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Improvements: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○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Get access to more documents and code for non-SEL intern group </a:t>
            </a: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members for more balanced sharing of information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10" name="Google Shape;1010;p118"/>
          <p:cNvSpPr txBox="1"/>
          <p:nvPr/>
        </p:nvSpPr>
        <p:spPr>
          <a:xfrm>
            <a:off x="480424" y="290625"/>
            <a:ext cx="7466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NEXT STEPS AND SPRINT RETROSPECTIVE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1011" name="Google Shape;1011;p11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19"/>
          <p:cNvSpPr txBox="1"/>
          <p:nvPr/>
        </p:nvSpPr>
        <p:spPr>
          <a:xfrm>
            <a:off x="480425" y="806425"/>
            <a:ext cx="8358900" cy="40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Barlow"/>
              <a:buChar char="●"/>
            </a:pPr>
            <a:r>
              <a:rPr lang="en" sz="1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Overall, the first sprint has been a success, and we’ve enjoyed learning about Blueframe and SignalHub. We’re very grateful for this opportunity, and excited to continue development on this project!</a:t>
            </a:r>
            <a:endParaRPr sz="1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17" name="Google Shape;1017;p119"/>
          <p:cNvSpPr txBox="1"/>
          <p:nvPr/>
        </p:nvSpPr>
        <p:spPr>
          <a:xfrm>
            <a:off x="480424" y="290625"/>
            <a:ext cx="7466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rPr>
              <a:t>CONCLUSION</a:t>
            </a:r>
            <a:endParaRPr sz="2000">
              <a:solidFill>
                <a:schemeClr val="accent3"/>
              </a:solidFill>
              <a:latin typeface="Hepta Slab Medium"/>
              <a:ea typeface="Hepta Slab Medium"/>
              <a:cs typeface="Hepta Slab Medium"/>
              <a:sym typeface="Hepta Slab Medium"/>
            </a:endParaRPr>
          </a:p>
        </p:txBody>
      </p:sp>
      <p:sp>
        <p:nvSpPr>
          <p:cNvPr id="1018" name="Google Shape;1018;p11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20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